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8447488584474878"/>
          <c:w val="1"/>
          <c:h val="0.8196347031963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Weekly active users</c:v>
                </c:pt>
              </c:strCache>
            </c:strRef>
          </c:tx>
          <c:spPr>
            <a:solidFill>
              <a:srgbClr val="A1A9B3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15</c:v>
                </c:pt>
                <c:pt idx="2">
                  <c:v>24</c:v>
                </c:pt>
                <c:pt idx="3">
                  <c:v>32</c:v>
                </c:pt>
                <c:pt idx="4">
                  <c:v>38</c:v>
                </c:pt>
                <c:pt idx="5">
                  <c:v>42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Tasks handled end to end</c:v>
                </c:pt>
              </c:strCache>
            </c:strRef>
          </c:tx>
          <c:spPr>
            <a:solidFill>
              <a:srgbClr val="AC571F"/>
            </a:solidFill>
            <a:ln w="28575" cap="flat">
              <a:solidFill>
                <a:srgbClr val="AC571F"/>
              </a:solidFill>
              <a:prstDash val="solid"/>
              <a:round/>
            </a:ln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C571F"/>
              </a:solidFill>
              <a:ln w="9525" cap="flat">
                <a:solidFill>
                  <a:srgbClr val="AC57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12</c:v>
                </c:pt>
                <c:pt idx="2">
                  <c:v>20</c:v>
                </c:pt>
                <c:pt idx="3">
                  <c:v>28</c:v>
                </c:pt>
                <c:pt idx="4">
                  <c:v>33</c:v>
                </c:pt>
                <c:pt idx="5">
                  <c:v>36</c:v>
                </c:pt>
              </c:numCache>
            </c:numRef>
          </c:val>
          <c:smooth val="0"/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.36363636363636"/>
          <c:min val="0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valAx>
        <c:axId val="2094734553"/>
        <c:scaling>
          <c:orientation val="minMax"/>
          <c:max val="48.4"/>
          <c:min val="-75.6"/>
        </c:scaling>
        <c:delete val="0"/>
        <c:axPos val="r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  <c:majorUnit val="20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Photo: Two Loves (Unsplash) — Ehud Neuhaus paramir — Wikimedia Commons — CC0 — https://commons.wikimedia.org/wiki/File:Two_Loves_(Unsplash).jpg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rarely the bottleneck. The work in the middle is where an embedded engineer changes the outcome.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typical starting point, not a measured assessment — rate your own organisation before the pilot.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are planning assumptions; set your own with the business owner in week one.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Planning figures for a typical enterprise; replace with your own rates.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workflow, budget and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2" name="Image 0" descr="A laptop screen showing code, seen close up on a desk">    </p:cNvPr>
          <p:cNvPicPr>
            <a:picLocks noChangeAspect="1"/>
          </p:cNvPicPr>
          <p:nvPr/>
        </p:nvPicPr>
        <p:blipFill>
          <a:blip r:embed="rId1"/>
          <a:srcRect l="0" r="64390" t="0" b="0"/>
          <a:stretch/>
        </p:blipFill>
        <p:spPr>
          <a:xfrm>
            <a:off x="8531352" y="0"/>
            <a:ext cx="366034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31352" y="6583680"/>
            <a:ext cx="3660343" cy="27432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sc:cover/imageCredit"/>
          <p:cNvSpPr txBox="1"/>
          <p:nvPr/>
        </p:nvSpPr>
        <p:spPr>
          <a:xfrm>
            <a:off x="8641080" y="6583680"/>
            <a:ext cx="3440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Ehud Neuhaus paramir / Wikimedia Commons, CC0</a:t>
            </a:r>
            <a:endParaRPr lang="en-US" sz="8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 · SECOND EDITION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cover/subtitle"/>
          <p:cNvSpPr txBox="1"/>
          <p:nvPr/>
        </p:nvSpPr>
        <p:spPr>
          <a:xfrm>
            <a:off x="822960" y="3931920"/>
            <a:ext cx="405923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where it creates value, what has to change around it, and a pilot to start</a:t>
            </a:r>
            <a:endParaRPr lang="en-US" sz="16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9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46275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value-chai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middle of the AI value chain, where most pilots stall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value-chai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FITS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774375" y="1682496"/>
            <a:ext cx="868680" cy="3639312"/>
          </a:xfrm>
          <a:custGeom>
            <a:avLst/>
            <a:gdLst/>
            <a:ahLst/>
            <a:cxnLst/>
            <a:rect l="l" t="t" r="r" b="b"/>
            <a:pathLst>
              <a:path w="868680" h="3639312">
                <a:moveTo>
                  <a:pt x="0" y="0"/>
                </a:moveTo>
                <a:lnTo>
                  <a:pt x="868680" y="1819656"/>
                </a:lnTo>
                <a:lnTo>
                  <a:pt x="0" y="3639312"/>
                </a:lnTo>
                <a:close/>
              </a:path>
            </a:pathLst>
          </a:custGeom>
          <a:solidFill>
            <a:srgbClr val="F3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10951" y="3364992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35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000" b="1" dirty="0" kern="400000">
              <a:solidFill>
                <a:srgbClr val="A353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682496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c:value-chain/support/0/name"/>
          <p:cNvSpPr txBox="1"/>
          <p:nvPr/>
        </p:nvSpPr>
        <p:spPr>
          <a:xfrm>
            <a:off x="713232" y="168249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PLATFORM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value-chain/support/0/point"/>
          <p:cNvSpPr txBox="1"/>
          <p:nvPr/>
        </p:nvSpPr>
        <p:spPr>
          <a:xfrm>
            <a:off x="2651760" y="1682496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 or built once; the same for every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57984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0" name="sc:value-chain/support/1/name"/>
          <p:cNvSpPr txBox="1"/>
          <p:nvPr/>
        </p:nvSpPr>
        <p:spPr>
          <a:xfrm>
            <a:off x="713232" y="215798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COMPLIANCE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value-chain/support/1/point"/>
          <p:cNvSpPr txBox="1"/>
          <p:nvPr/>
        </p:nvSpPr>
        <p:spPr>
          <a:xfrm>
            <a:off x="2651760" y="2157984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data access and model behaviour before launch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33472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3" name="sc:value-chain/support/2/name"/>
          <p:cNvSpPr txBox="1"/>
          <p:nvPr/>
        </p:nvSpPr>
        <p:spPr>
          <a:xfrm>
            <a:off x="713232" y="263347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INCENTIVES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value-chain/support/2/point"/>
          <p:cNvSpPr txBox="1"/>
          <p:nvPr/>
        </p:nvSpPr>
        <p:spPr>
          <a:xfrm>
            <a:off x="2651760" y="2633472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whether teams adopt the tool or route around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6" name="sc:value-chain/primary/0/name"/>
          <p:cNvSpPr txBox="1"/>
          <p:nvPr/>
        </p:nvSpPr>
        <p:spPr>
          <a:xfrm>
            <a:off x="694944" y="3255264"/>
            <a:ext cx="188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use case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value-chain/primary/0/points"/>
          <p:cNvSpPr txBox="1"/>
          <p:nvPr/>
        </p:nvSpPr>
        <p:spPr>
          <a:xfrm>
            <a:off x="58521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and metric agreed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2697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9" name="sc:value-chain/primary/1/name"/>
          <p:cNvSpPr txBox="1"/>
          <p:nvPr/>
        </p:nvSpPr>
        <p:spPr>
          <a:xfrm>
            <a:off x="2837017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99273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1" name="sc:value-chain/primary/1/points"/>
          <p:cNvSpPr txBox="1"/>
          <p:nvPr/>
        </p:nvSpPr>
        <p:spPr>
          <a:xfrm>
            <a:off x="2599273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 reaches the model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400"/>
              </a:spcBef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per role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6755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3" name="sc:value-chain/primary/2/name"/>
          <p:cNvSpPr txBox="1"/>
          <p:nvPr/>
        </p:nvSpPr>
        <p:spPr>
          <a:xfrm>
            <a:off x="4851075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integrate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613331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5" name="sc:value-chain/primary/2/points"/>
          <p:cNvSpPr txBox="1"/>
          <p:nvPr/>
        </p:nvSpPr>
        <p:spPr>
          <a:xfrm>
            <a:off x="4613331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tools people already use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590812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7" name="sc:value-chain/primary/3/name"/>
          <p:cNvSpPr txBox="1"/>
          <p:nvPr/>
        </p:nvSpPr>
        <p:spPr>
          <a:xfrm>
            <a:off x="6865132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evaluate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627388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9" name="sc:value-chain/primary/3/points"/>
          <p:cNvSpPr txBox="1"/>
          <p:nvPr/>
        </p:nvSpPr>
        <p:spPr>
          <a:xfrm>
            <a:off x="6627388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Evaluations and guardrails in production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0487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31" name="sc:value-chain/primary/4/name"/>
          <p:cNvSpPr txBox="1"/>
          <p:nvPr/>
        </p:nvSpPr>
        <p:spPr>
          <a:xfrm>
            <a:off x="8879190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sc:value-chain/primary/4/points"/>
          <p:cNvSpPr txBox="1"/>
          <p:nvPr/>
        </p:nvSpPr>
        <p:spPr>
          <a:xfrm>
            <a:off x="864144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use measured with the owner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solidFill>
            <a:srgbClr val="F3E7E0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5504688"/>
            <a:ext cx="54864" cy="56692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35" name="sc:value-chain/takeaway"/>
          <p:cNvSpPr txBox="1"/>
          <p:nvPr/>
        </p:nvSpPr>
        <p:spPr>
          <a:xfrm>
            <a:off x="822960" y="550468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stall in data access, integration and evaluation — the FDE's job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value-chai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28956" y="57912"/>
                </a:moveTo>
                <a:cubicBezTo>
                  <a:pt x="28956" y="89896"/>
                  <a:pt x="54884" y="115824"/>
                  <a:pt x="86868" y="115824"/>
                </a:cubicBezTo>
                <a:cubicBezTo>
                  <a:pt x="118852" y="115824"/>
                  <a:pt x="144780" y="89896"/>
                  <a:pt x="144780" y="57912"/>
                </a:cubicBezTo>
                <a:cubicBezTo>
                  <a:pt x="144780" y="25928"/>
                  <a:pt x="118852" y="0"/>
                  <a:pt x="86868" y="0"/>
                </a:cubicBezTo>
                <a:cubicBezTo>
                  <a:pt x="54884" y="0"/>
                  <a:pt x="28956" y="25928"/>
                  <a:pt x="28956" y="57912"/>
                </a:cubicBezTo>
                <a:moveTo>
                  <a:pt x="0" y="260604"/>
                </a:moveTo>
                <a:lnTo>
                  <a:pt x="0" y="231648"/>
                </a:lnTo>
                <a:cubicBezTo>
                  <a:pt x="0" y="199664"/>
                  <a:pt x="25928" y="173736"/>
                  <a:pt x="57912" y="173736"/>
                </a:cubicBezTo>
                <a:lnTo>
                  <a:pt x="115824" y="173736"/>
                </a:lnTo>
                <a:cubicBezTo>
                  <a:pt x="147808" y="173736"/>
                  <a:pt x="173736" y="199664"/>
                  <a:pt x="173736" y="231648"/>
                </a:cubicBezTo>
                <a:lnTo>
                  <a:pt x="173736" y="260604"/>
                </a:lnTo>
                <a:moveTo>
                  <a:pt x="188214" y="1882"/>
                </a:moveTo>
                <a:cubicBezTo>
                  <a:pt x="213839" y="8443"/>
                  <a:pt x="231762" y="31533"/>
                  <a:pt x="231762" y="57984"/>
                </a:cubicBezTo>
                <a:cubicBezTo>
                  <a:pt x="231762" y="84436"/>
                  <a:pt x="213839" y="107526"/>
                  <a:pt x="188214" y="114087"/>
                </a:cubicBezTo>
                <a:moveTo>
                  <a:pt x="260604" y="260604"/>
                </a:moveTo>
                <a:lnTo>
                  <a:pt x="260604" y="231648"/>
                </a:lnTo>
                <a:cubicBezTo>
                  <a:pt x="260453" y="205364"/>
                  <a:pt x="242620" y="182478"/>
                  <a:pt x="217170" y="175908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7" name="sc:cycle/steps/0/body"/>
          <p:cNvSpPr txBox="1"/>
          <p:nvPr/>
        </p:nvSpPr>
        <p:spPr>
          <a:xfrm>
            <a:off x="594360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9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ycle/steps/1/icon"/>
          <p:cNvSpPr/>
          <p:nvPr/>
        </p:nvSpPr>
        <p:spPr>
          <a:xfrm>
            <a:off x="2823759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115824" y="130302"/>
                </a:moveTo>
                <a:cubicBezTo>
                  <a:pt x="115824" y="138298"/>
                  <a:pt x="122306" y="144780"/>
                  <a:pt x="130302" y="144780"/>
                </a:cubicBezTo>
                <a:cubicBezTo>
                  <a:pt x="138298" y="144780"/>
                  <a:pt x="144780" y="138298"/>
                  <a:pt x="144780" y="130302"/>
                </a:cubicBezTo>
                <a:cubicBezTo>
                  <a:pt x="144780" y="122306"/>
                  <a:pt x="138298" y="115824"/>
                  <a:pt x="130302" y="115824"/>
                </a:cubicBezTo>
                <a:cubicBezTo>
                  <a:pt x="122306" y="115824"/>
                  <a:pt x="115824" y="122306"/>
                  <a:pt x="115824" y="130302"/>
                </a:cubicBezTo>
                <a:moveTo>
                  <a:pt x="57912" y="130302"/>
                </a:moveTo>
                <a:cubicBezTo>
                  <a:pt x="57912" y="170282"/>
                  <a:pt x="90322" y="202692"/>
                  <a:pt x="130302" y="202692"/>
                </a:cubicBezTo>
                <a:cubicBezTo>
                  <a:pt x="170282" y="202692"/>
                  <a:pt x="202692" y="170282"/>
                  <a:pt x="202692" y="130302"/>
                </a:cubicBezTo>
                <a:cubicBezTo>
                  <a:pt x="202692" y="90322"/>
                  <a:pt x="170282" y="57912"/>
                  <a:pt x="130302" y="57912"/>
                </a:cubicBezTo>
                <a:cubicBezTo>
                  <a:pt x="90322" y="57912"/>
                  <a:pt x="57912" y="90322"/>
                  <a:pt x="57912" y="130302"/>
                </a:cubicBezTo>
                <a:moveTo>
                  <a:pt x="0" y="130302"/>
                </a:moveTo>
                <a:cubicBezTo>
                  <a:pt x="0" y="202266"/>
                  <a:pt x="58338" y="260604"/>
                  <a:pt x="130302" y="260604"/>
                </a:cubicBezTo>
                <a:cubicBezTo>
                  <a:pt x="202266" y="260604"/>
                  <a:pt x="260604" y="202266"/>
                  <a:pt x="260604" y="130302"/>
                </a:cubicBezTo>
                <a:cubicBezTo>
                  <a:pt x="260604" y="58338"/>
                  <a:pt x="202266" y="0"/>
                  <a:pt x="130302" y="0"/>
                </a:cubicBezTo>
                <a:cubicBezTo>
                  <a:pt x="58338" y="0"/>
                  <a:pt x="0" y="58338"/>
                  <a:pt x="0" y="130302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1" name="sc:cycle/steps/1/body"/>
          <p:cNvSpPr txBox="1"/>
          <p:nvPr/>
        </p:nvSpPr>
        <p:spPr>
          <a:xfrm>
            <a:off x="2780325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3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cycle/steps/2/icon"/>
          <p:cNvSpPr/>
          <p:nvPr/>
        </p:nvSpPr>
        <p:spPr>
          <a:xfrm>
            <a:off x="5009723" y="2709672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5" name="sc:cycle/steps/2/body"/>
          <p:cNvSpPr txBox="1"/>
          <p:nvPr/>
        </p:nvSpPr>
        <p:spPr>
          <a:xfrm>
            <a:off x="496628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7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3/icon"/>
          <p:cNvSpPr/>
          <p:nvPr/>
        </p:nvSpPr>
        <p:spPr>
          <a:xfrm>
            <a:off x="7210166" y="2738628"/>
            <a:ext cx="231648" cy="188214"/>
          </a:xfrm>
          <a:custGeom>
            <a:avLst/>
            <a:gdLst/>
            <a:ahLst/>
            <a:cxnLst/>
            <a:rect l="l" t="t" r="r" b="b"/>
            <a:pathLst>
              <a:path w="231648" h="188214">
                <a:moveTo>
                  <a:pt x="0" y="188214"/>
                </a:moveTo>
                <a:lnTo>
                  <a:pt x="231648" y="188214"/>
                </a:lnTo>
                <a:moveTo>
                  <a:pt x="0" y="130302"/>
                </a:moveTo>
                <a:lnTo>
                  <a:pt x="57912" y="43434"/>
                </a:lnTo>
                <a:lnTo>
                  <a:pt x="115824" y="72390"/>
                </a:lnTo>
                <a:lnTo>
                  <a:pt x="173736" y="0"/>
                </a:lnTo>
                <a:lnTo>
                  <a:pt x="231648" y="57912"/>
                </a:lnTo>
              </a:path>
            </a:pathLst>
          </a:custGeom>
          <a:ln w="28956">
            <a:solidFill>
              <a:srgbClr val="AC571F"/>
            </a:solidFill>
            <a:prstDash val="solid"/>
          </a:ln>
        </p:spPr>
      </p:sp>
      <p:sp>
        <p:nvSpPr>
          <p:cNvPr id="19" name="sc:cycle/steps/3/body"/>
          <p:cNvSpPr txBox="1"/>
          <p:nvPr/>
        </p:nvSpPr>
        <p:spPr>
          <a:xfrm>
            <a:off x="7152254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21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cycle/steps/4/icon"/>
          <p:cNvSpPr/>
          <p:nvPr/>
        </p:nvSpPr>
        <p:spPr>
          <a:xfrm>
            <a:off x="9396131" y="2704086"/>
            <a:ext cx="231648" cy="242820"/>
          </a:xfrm>
          <a:custGeom>
            <a:avLst/>
            <a:gdLst/>
            <a:ahLst/>
            <a:cxnLst/>
            <a:rect l="l" t="t" r="r" b="b"/>
            <a:pathLst>
              <a:path w="231648" h="242820">
                <a:moveTo>
                  <a:pt x="231648" y="106932"/>
                </a:moveTo>
                <a:cubicBezTo>
                  <a:pt x="224370" y="54558"/>
                  <a:pt x="182942" y="13533"/>
                  <a:pt x="130500" y="6767"/>
                </a:cubicBezTo>
                <a:cubicBezTo>
                  <a:pt x="78058" y="0"/>
                  <a:pt x="27573" y="29165"/>
                  <a:pt x="7239" y="77976"/>
                </a:cubicBezTo>
                <a:moveTo>
                  <a:pt x="0" y="20064"/>
                </a:moveTo>
                <a:lnTo>
                  <a:pt x="0" y="77976"/>
                </a:lnTo>
                <a:lnTo>
                  <a:pt x="57912" y="77976"/>
                </a:lnTo>
                <a:moveTo>
                  <a:pt x="0" y="135888"/>
                </a:moveTo>
                <a:cubicBezTo>
                  <a:pt x="7278" y="188262"/>
                  <a:pt x="48706" y="229287"/>
                  <a:pt x="101148" y="236053"/>
                </a:cubicBezTo>
                <a:cubicBezTo>
                  <a:pt x="153590" y="242820"/>
                  <a:pt x="204075" y="213655"/>
                  <a:pt x="224409" y="164844"/>
                </a:cubicBezTo>
                <a:moveTo>
                  <a:pt x="231648" y="222756"/>
                </a:moveTo>
                <a:lnTo>
                  <a:pt x="231648" y="164844"/>
                </a:lnTo>
                <a:lnTo>
                  <a:pt x="173736" y="164844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23" name="sc:cycle/steps/4/body"/>
          <p:cNvSpPr txBox="1"/>
          <p:nvPr/>
        </p:nvSpPr>
        <p:spPr>
          <a:xfrm>
            <a:off x="933821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5" name="sc:profile/points/0/icon"/>
          <p:cNvSpPr/>
          <p:nvPr/>
        </p:nvSpPr>
        <p:spPr>
          <a:xfrm>
            <a:off x="596646" y="2020824"/>
            <a:ext cx="288036" cy="256032"/>
          </a:xfrm>
          <a:custGeom>
            <a:avLst/>
            <a:gdLst/>
            <a:ahLst/>
            <a:cxnLst/>
            <a:rect l="l" t="t" r="r" b="b"/>
            <a:pathLst>
              <a:path w="288036" h="256032">
                <a:moveTo>
                  <a:pt x="0" y="48006"/>
                </a:move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  <a:cubicBezTo>
                  <a:pt x="266543" y="0"/>
                  <a:pt x="288036" y="21493"/>
                  <a:pt x="288036" y="48006"/>
                </a:cubicBezTo>
                <a:lnTo>
                  <a:pt x="288036" y="80010"/>
                </a:lnTo>
                <a:cubicBezTo>
                  <a:pt x="288036" y="106523"/>
                  <a:pt x="266543" y="128016"/>
                  <a:pt x="240030" y="128016"/>
                </a:cubicBezTo>
                <a:lnTo>
                  <a:pt x="48006" y="128016"/>
                </a:lnTo>
                <a:cubicBezTo>
                  <a:pt x="21493" y="128016"/>
                  <a:pt x="0" y="106523"/>
                  <a:pt x="0" y="80010"/>
                </a:cubicBezTo>
                <a:lnTo>
                  <a:pt x="0" y="48006"/>
                </a:lnTo>
                <a:moveTo>
                  <a:pt x="0" y="176022"/>
                </a:moveTo>
                <a:cubicBezTo>
                  <a:pt x="0" y="149509"/>
                  <a:pt x="21493" y="128016"/>
                  <a:pt x="48006" y="128016"/>
                </a:cubicBezTo>
                <a:lnTo>
                  <a:pt x="240030" y="128016"/>
                </a:lnTo>
                <a:cubicBezTo>
                  <a:pt x="266543" y="128016"/>
                  <a:pt x="288036" y="149509"/>
                  <a:pt x="288036" y="176022"/>
                </a:cubicBezTo>
                <a:lnTo>
                  <a:pt x="288036" y="208026"/>
                </a:lnTo>
                <a:cubicBezTo>
                  <a:pt x="288036" y="234539"/>
                  <a:pt x="266543" y="256032"/>
                  <a:pt x="240030" y="256032"/>
                </a:cubicBezTo>
                <a:lnTo>
                  <a:pt x="48006" y="256032"/>
                </a:lnTo>
                <a:cubicBezTo>
                  <a:pt x="21493" y="256032"/>
                  <a:pt x="0" y="234539"/>
                  <a:pt x="0" y="208026"/>
                </a:cubicBezTo>
                <a:lnTo>
                  <a:pt x="0" y="176022"/>
                </a:lnTo>
                <a:moveTo>
                  <a:pt x="64008" y="64008"/>
                </a:moveTo>
                <a:lnTo>
                  <a:pt x="64008" y="64168"/>
                </a:lnTo>
                <a:moveTo>
                  <a:pt x="64008" y="192024"/>
                </a:moveTo>
                <a:lnTo>
                  <a:pt x="64008" y="192184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6" name="sc:profil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8" name="sc:profile/points/1/icon"/>
          <p:cNvSpPr/>
          <p:nvPr/>
        </p:nvSpPr>
        <p:spPr>
          <a:xfrm>
            <a:off x="4462424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9" name="sc:profil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11" name="sc:profile/points/2/icon"/>
          <p:cNvSpPr/>
          <p:nvPr/>
        </p:nvSpPr>
        <p:spPr>
          <a:xfrm>
            <a:off x="8322662" y="2016719"/>
            <a:ext cx="298828" cy="260137"/>
          </a:xfrm>
          <a:custGeom>
            <a:avLst/>
            <a:gdLst/>
            <a:ahLst/>
            <a:cxnLst/>
            <a:rect l="l" t="t" r="r" b="b"/>
            <a:pathLst>
              <a:path w="298828" h="260137">
                <a:moveTo>
                  <a:pt x="269574" y="141274"/>
                </a:moveTo>
                <a:lnTo>
                  <a:pt x="149559" y="260137"/>
                </a:lnTo>
                <a:lnTo>
                  <a:pt x="29544" y="141274"/>
                </a:lnTo>
                <a:cubicBezTo>
                  <a:pt x="7962" y="120273"/>
                  <a:pt x="0" y="88932"/>
                  <a:pt x="8941" y="60177"/>
                </a:cubicBezTo>
                <a:cubicBezTo>
                  <a:pt x="17882" y="31421"/>
                  <a:pt x="42212" y="10121"/>
                  <a:pt x="71898" y="5061"/>
                </a:cubicBezTo>
                <a:cubicBezTo>
                  <a:pt x="101583" y="0"/>
                  <a:pt x="131596" y="12036"/>
                  <a:pt x="149559" y="36205"/>
                </a:cubicBezTo>
                <a:cubicBezTo>
                  <a:pt x="167598" y="12215"/>
                  <a:pt x="197546" y="339"/>
                  <a:pt x="227124" y="5446"/>
                </a:cubicBezTo>
                <a:cubicBezTo>
                  <a:pt x="256702" y="10554"/>
                  <a:pt x="280933" y="31787"/>
                  <a:pt x="289880" y="60438"/>
                </a:cubicBezTo>
                <a:cubicBezTo>
                  <a:pt x="298828" y="89089"/>
                  <a:pt x="290988" y="120337"/>
                  <a:pt x="269574" y="141370"/>
                </a:cubicBezTo>
                <a:moveTo>
                  <a:pt x="149559" y="36109"/>
                </a:moveTo>
                <a:lnTo>
                  <a:pt x="96864" y="88804"/>
                </a:lnTo>
                <a:cubicBezTo>
                  <a:pt x="90618" y="95053"/>
                  <a:pt x="90618" y="105182"/>
                  <a:pt x="96864" y="111431"/>
                </a:cubicBezTo>
                <a:lnTo>
                  <a:pt x="105554" y="120120"/>
                </a:lnTo>
                <a:cubicBezTo>
                  <a:pt x="116595" y="131161"/>
                  <a:pt x="134517" y="131161"/>
                  <a:pt x="145559" y="120120"/>
                </a:cubicBezTo>
                <a:lnTo>
                  <a:pt x="161561" y="104118"/>
                </a:lnTo>
                <a:cubicBezTo>
                  <a:pt x="181445" y="84233"/>
                  <a:pt x="213685" y="84233"/>
                  <a:pt x="233570" y="104118"/>
                </a:cubicBezTo>
                <a:lnTo>
                  <a:pt x="269574" y="140122"/>
                </a:lnTo>
                <a:moveTo>
                  <a:pt x="157560" y="188128"/>
                </a:moveTo>
                <a:lnTo>
                  <a:pt x="189564" y="220132"/>
                </a:lnTo>
                <a:moveTo>
                  <a:pt x="197565" y="148123"/>
                </a:moveTo>
                <a:lnTo>
                  <a:pt x="229569" y="1801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12" name="sc:profil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points/0/body"/>
          <p:cNvSpPr txBox="1"/>
          <p:nvPr/>
        </p:nvSpPr>
        <p:spPr>
          <a:xfrm>
            <a:off x="548640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profile/points/1/body"/>
          <p:cNvSpPr txBox="1"/>
          <p:nvPr/>
        </p:nvSpPr>
        <p:spPr>
          <a:xfrm>
            <a:off x="4414418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file/points/2/body"/>
          <p:cNvSpPr txBox="1"/>
          <p:nvPr/>
        </p:nvSpPr>
        <p:spPr>
          <a:xfrm>
            <a:off x="8280197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organisa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platform are usually ready; staff placement and skills are not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organisa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TO CHANGE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874701" y="2257460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74701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6994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6095848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8316994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095848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874701" y="4902292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6095848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057400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874701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057400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65941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12245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277037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19" name="sc:organisation/strategy/status"/>
          <p:cNvSpPr txBox="1"/>
          <p:nvPr/>
        </p:nvSpPr>
        <p:spPr>
          <a:xfrm>
            <a:off x="4277037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organisation/strategy/points"/>
          <p:cNvSpPr txBox="1"/>
          <p:nvPr/>
        </p:nvSpPr>
        <p:spPr>
          <a:xfrm>
            <a:off x="2512245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among the top company priorities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08234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54538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19330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4" name="sc:organisation/structure/status"/>
          <p:cNvSpPr txBox="1"/>
          <p:nvPr/>
        </p:nvSpPr>
        <p:spPr>
          <a:xfrm>
            <a:off x="8719330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organisation/structure/points"/>
          <p:cNvSpPr txBox="1"/>
          <p:nvPr/>
        </p:nvSpPr>
        <p:spPr>
          <a:xfrm>
            <a:off x="6954538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team sits in IT, far from the business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625535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1839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536631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9" name="sc:organisation/systems/status"/>
          <p:cNvSpPr txBox="1"/>
          <p:nvPr/>
        </p:nvSpPr>
        <p:spPr>
          <a:xfrm>
            <a:off x="10536631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c:organisation/systems/points"/>
          <p:cNvSpPr txBox="1"/>
          <p:nvPr/>
        </p:nvSpPr>
        <p:spPr>
          <a:xfrm>
            <a:off x="8771839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platform and model access in place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808234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538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719330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34" name="sc:organisation/style/status"/>
          <p:cNvSpPr txBox="1"/>
          <p:nvPr/>
        </p:nvSpPr>
        <p:spPr>
          <a:xfrm>
            <a:off x="8719330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organisation/style/points"/>
          <p:cNvSpPr txBox="1"/>
          <p:nvPr/>
        </p:nvSpPr>
        <p:spPr>
          <a:xfrm>
            <a:off x="6954538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sponsor AI but rarely use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65941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12245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277037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39" name="sc:organisation/staff/status"/>
          <p:cNvSpPr txBox="1"/>
          <p:nvPr/>
        </p:nvSpPr>
        <p:spPr>
          <a:xfrm>
            <a:off x="4277037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0" name="sc:organisation/staff/points"/>
          <p:cNvSpPr txBox="1"/>
          <p:nvPr/>
        </p:nvSpPr>
        <p:spPr>
          <a:xfrm>
            <a:off x="2512245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engineers placed with business teams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48640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4944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459736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44" name="sc:organisation/skills/status"/>
          <p:cNvSpPr txBox="1"/>
          <p:nvPr/>
        </p:nvSpPr>
        <p:spPr>
          <a:xfrm>
            <a:off x="2459736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5" name="sc:organisation/skills/points"/>
          <p:cNvSpPr txBox="1"/>
          <p:nvPr/>
        </p:nvSpPr>
        <p:spPr>
          <a:xfrm>
            <a:off x="694944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people can scope and evaluate a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587088" y="3004912"/>
            <a:ext cx="3017520" cy="1149927"/>
          </a:xfrm>
          <a:prstGeom prst="rect">
            <a:avLst/>
          </a:prstGeom>
          <a:solidFill>
            <a:srgbClr val="F3E7E0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733392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VALUES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498184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49" name="sc:organisation/sharedValues/status"/>
          <p:cNvSpPr txBox="1"/>
          <p:nvPr/>
        </p:nvSpPr>
        <p:spPr>
          <a:xfrm>
            <a:off x="6498184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organisation/sharedValues/points"/>
          <p:cNvSpPr txBox="1"/>
          <p:nvPr/>
        </p:nvSpPr>
        <p:spPr>
          <a:xfrm>
            <a:off x="4733392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are celebrated; production use is not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c:organisation/takeaway"/>
          <p:cNvSpPr txBox="1"/>
          <p:nvPr/>
        </p:nvSpPr>
        <p:spPr>
          <a:xfrm>
            <a:off x="548640" y="561441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staff and skills first — that is exactly what an FDE pilot tests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2" name="sc:organisa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ilot-pla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 targets 40 weekly users and a third of tasks automated by week 12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ilot-pla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pilot-pla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users, and share of tasks handled end to end, %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Weekly active users — Week 2 8, Week 4 15, Week 6 24, Week 8 32, Week 10 38, Week 12 42; Tasks handled end to end — Week 2 5, Week 4 12, Week 6 20, Week 8 28, Week 10 33, Week 12 36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4938" y="5096779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846238" y="4795865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3057537" y="4408976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4268837" y="4065074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480137" y="3807148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91437" y="3635197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97090" y="3279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908390" y="30941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3119689" y="2882395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4330989" y="2670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5542289" y="253824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6753589" y="24588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2139696"/>
            <a:ext cx="128016" cy="128016"/>
          </a:xfrm>
          <a:prstGeom prst="rect">
            <a:avLst/>
          </a:prstGeom>
          <a:solidFill>
            <a:srgbClr val="A1A9B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2093976"/>
            <a:ext cx="1467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610612" y="2203704"/>
            <a:ext cx="201168" cy="0"/>
          </a:xfrm>
          <a:custGeom>
            <a:avLst/>
            <a:gdLst/>
            <a:ahLst/>
            <a:cxnLst/>
            <a:rect l="0" t="0" r="r" b="b"/>
            <a:pathLst>
              <a:path w="201168" h="0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8575">
            <a:solidFill>
              <a:srgbClr val="AC571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66644" y="209397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handled end to end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23" name="Shape 20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24" name="sc:pilot-pla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numbers decide whether to scale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pilot-pla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show adoption; automation shows value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both with the business owner every week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pilot-pla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udg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one-quarter pilot costs about $206k, two-thirds of it the engineer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udg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721272"/>
                <a:gridCol w="2093286"/>
                <a:gridCol w="2093286"/>
                <a:gridCol w="2093286"/>
                <a:gridCol w="209328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2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platform usage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owner time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and security review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budg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one FDE on your highest-value AI workflow for one quarter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one-quarter pilot, about $206k, with one Forward Deployed Engineer on one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users and automation weekly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0.7.2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