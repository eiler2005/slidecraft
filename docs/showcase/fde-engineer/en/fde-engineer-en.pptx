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for the whole deck — the gap in enterprise AI is deployment, and this role closes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growth figures differ by dataset; all of them show a several-fold rise. The point is the cause — pilots that never reach production.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Postings for this AI job are up 800% — Fast Company, citing Financial Times data — 2025 — https://www.fastcompany.com/91435680/postings-for-this-ai-job-are-up-800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question — is this a rebranded solutions engineer? No — the FDE is accountable for production use, not for closing the deal.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four is where most pilots stop; the FDE is measured on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Hire for production engineering first; applied AI can be learned faster than customer judgement.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decision — a one-quarter pilot with a named workflow and metric.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7403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Engineers turn AI pilots into working products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934317" y="960048"/>
            <a:ext cx="207342" cy="74354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34317" y="960048"/>
            <a:ext cx="801434" cy="39566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0141659" y="1355716"/>
            <a:ext cx="594092" cy="3478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158795" y="1703593"/>
            <a:ext cx="982864" cy="351935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58795" y="2055528"/>
            <a:ext cx="742075" cy="93517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0735751" y="1355716"/>
            <a:ext cx="753338" cy="80936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0141659" y="1703593"/>
            <a:ext cx="1347430" cy="46148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00870" y="2990705"/>
            <a:ext cx="697356" cy="28623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900870" y="2990705"/>
            <a:ext cx="377790" cy="99835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>
            <a:off x="10278660" y="3276938"/>
            <a:ext cx="319566" cy="71212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91718" y="4256295"/>
            <a:ext cx="616618" cy="471264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191718" y="3989059"/>
            <a:ext cx="1086942" cy="26723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278660" y="3989059"/>
            <a:ext cx="552474" cy="43942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 flipV="1">
            <a:off x="10598226" y="3276938"/>
            <a:ext cx="232908" cy="756063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0831134" y="4005793"/>
            <a:ext cx="835401" cy="27208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11412124" y="4005793"/>
            <a:ext cx="254411" cy="85034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08336" y="4727559"/>
            <a:ext cx="116905" cy="68843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08336" y="4727559"/>
            <a:ext cx="738292" cy="19427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9925241" y="4921829"/>
            <a:ext cx="621388" cy="49416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412124" y="4856140"/>
            <a:ext cx="157444" cy="607776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10546628" y="4856140"/>
            <a:ext cx="865495" cy="65689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031361" y="5415995"/>
            <a:ext cx="893880" cy="27472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9031361" y="4727559"/>
            <a:ext cx="776975" cy="963157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925241" y="5415995"/>
            <a:ext cx="727781" cy="585661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0653022" y="5463916"/>
            <a:ext cx="916545" cy="537740"/>
          </a:xfrm>
          <a:prstGeom prst="line">
            <a:avLst/>
          </a:prstGeom>
          <a:noFill/>
          <a:ln w="15875">
            <a:solidFill>
              <a:srgbClr val="84A7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58331" y="884063"/>
            <a:ext cx="151971" cy="15197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52609" y="1272574"/>
            <a:ext cx="166284" cy="16628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9073384" y="1970117"/>
            <a:ext cx="170822" cy="170822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10093815" y="1655749"/>
            <a:ext cx="95688" cy="9568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11399279" y="2075272"/>
            <a:ext cx="179619" cy="17961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9836311" y="2926146"/>
            <a:ext cx="129117" cy="129117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87330" y="2966042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42778" y="312149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9107408" y="4171985"/>
            <a:ext cx="168619" cy="168619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7" name="Shape 35"/>
          <p:cNvSpPr/>
          <p:nvPr/>
        </p:nvSpPr>
        <p:spPr>
          <a:xfrm>
            <a:off x="10219001" y="3929400"/>
            <a:ext cx="119318" cy="119318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8" name="Shape 36"/>
          <p:cNvSpPr/>
          <p:nvPr/>
        </p:nvSpPr>
        <p:spPr>
          <a:xfrm>
            <a:off x="10721202" y="3923069"/>
            <a:ext cx="219863" cy="21986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39" name="Shape 37"/>
          <p:cNvSpPr/>
          <p:nvPr/>
        </p:nvSpPr>
        <p:spPr>
          <a:xfrm>
            <a:off x="11577213" y="3916471"/>
            <a:ext cx="178644" cy="17864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0" name="Shape 38"/>
          <p:cNvSpPr/>
          <p:nvPr/>
        </p:nvSpPr>
        <p:spPr>
          <a:xfrm>
            <a:off x="9707900" y="4627123"/>
            <a:ext cx="200873" cy="200873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1" name="Shape 39"/>
          <p:cNvSpPr/>
          <p:nvPr/>
        </p:nvSpPr>
        <p:spPr>
          <a:xfrm>
            <a:off x="10473847" y="4849047"/>
            <a:ext cx="145564" cy="145564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2" name="Shape 40"/>
          <p:cNvSpPr/>
          <p:nvPr/>
        </p:nvSpPr>
        <p:spPr>
          <a:xfrm>
            <a:off x="11101228" y="4545244"/>
            <a:ext cx="621792" cy="621792"/>
          </a:xfrm>
          <a:prstGeom prst="ellipse">
            <a:avLst/>
          </a:prstGeom>
          <a:ln w="15875">
            <a:solidFill>
              <a:srgbClr val="BCCF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256676" y="470069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8946288" y="5605643"/>
            <a:ext cx="170145" cy="17014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5" name="Shape 43"/>
          <p:cNvSpPr/>
          <p:nvPr/>
        </p:nvSpPr>
        <p:spPr>
          <a:xfrm>
            <a:off x="9842240" y="5332995"/>
            <a:ext cx="166001" cy="166001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6" name="Shape 44"/>
          <p:cNvSpPr/>
          <p:nvPr/>
        </p:nvSpPr>
        <p:spPr>
          <a:xfrm>
            <a:off x="10606379" y="5955014"/>
            <a:ext cx="93285" cy="93285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7" name="Shape 45"/>
          <p:cNvSpPr/>
          <p:nvPr/>
        </p:nvSpPr>
        <p:spPr>
          <a:xfrm>
            <a:off x="11476282" y="5370631"/>
            <a:ext cx="186570" cy="186570"/>
          </a:xfrm>
          <a:prstGeom prst="ellipse">
            <a:avLst/>
          </a:prstGeom>
          <a:solidFill>
            <a:srgbClr val="A5BFE5"/>
          </a:solidFill>
          <a:ln/>
        </p:spPr>
      </p:sp>
      <p:sp>
        <p:nvSpPr>
          <p:cNvPr id="4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· 2026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is, why AI companies are hiring for it, and how to start with one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5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companies hire FDEs because most AI pilots stall before production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FDE job postings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pilots with no measurable P&amp;L impact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Decade the role was created at Palantir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2025</a:t>
            </a:r>
            <a:endParaRPr lang="en-US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Times data reported by Fast Company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B6B7F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study</a:t>
            </a:r>
            <a:endParaRPr lang="en-US" sz="14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2010s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placed with government and enterprise customers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defini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FDE ships production software inside the customer's workflow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defini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7267799" cy="914400"/>
        </p:xfrm>
        <a:graphic>
          <a:graphicData uri="http://schemas.openxmlformats.org/drawingml/2006/table">
            <a:tbl>
              <a:tblPr/>
              <a:tblGrid>
                <a:gridCol w="1906308"/>
                <a:gridCol w="1668019"/>
                <a:gridCol w="1906308"/>
                <a:gridCol w="1787164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Delivers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Judged by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the customer's team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Working software in production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 and business value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9"/>
                    </a:solidFill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Software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product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Features for many customers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Releases and quality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Solutions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the sales cycle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Demos and proofs of concept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Deals closed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936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to the client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Analysis and recommendations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Decisions taken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" name="Shape 3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7" name="sc:definitio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owns the outcome, not the demo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definitio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production code, not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Stays until the workflow runs without them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Brings repeated needs back to the product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defini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cycle runs from the user's desk to the core product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body"/>
          <p:cNvSpPr txBox="1"/>
          <p:nvPr/>
        </p:nvSpPr>
        <p:spPr>
          <a:xfrm>
            <a:off x="594360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 with the people who do the work and map the workflow and its data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8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job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cycle/steps/1/body"/>
          <p:cNvSpPr txBox="1"/>
          <p:nvPr/>
        </p:nvSpPr>
        <p:spPr>
          <a:xfrm>
            <a:off x="2780325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step where AI changes cost, time or quality the most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1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cycle/steps/2/body"/>
          <p:cNvSpPr txBox="1"/>
          <p:nvPr/>
        </p:nvSpPr>
        <p:spPr>
          <a:xfrm>
            <a:off x="496628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data, prompts, evaluations and guardrails on the platform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14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measure</a:t>
            </a:r>
            <a:endParaRPr lang="en-US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cycle/steps/3/body"/>
          <p:cNvSpPr txBox="1"/>
          <p:nvPr/>
        </p:nvSpPr>
        <p:spPr>
          <a:xfrm>
            <a:off x="7152254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production and track adoption and the business metric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7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the product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4/body"/>
          <p:cNvSpPr txBox="1"/>
          <p:nvPr/>
        </p:nvSpPr>
        <p:spPr>
          <a:xfrm>
            <a:off x="9338219" y="2651760"/>
            <a:ext cx="2039661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custom work that repeats into product features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6420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combines production engineering, applied AI and customer judgement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TO HIRE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profile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engineering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profile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profile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judgement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profile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and data skills; integrates with legacy systems and owns reliability after go-live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profile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model APIs, retrieval, evaluations and guardrails — and knows when not to use a model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profile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 problems with domain experts, explains trade-offs and says no to low-value requests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FDE on your highest-value AI use case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one Forward Deployed Engineer for one quarter on a single production workflow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workflow with a measurable business metric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AI · Month 1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hire one engineer with production and AI experience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Month 1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the engineer with the team that owns the workflow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· Month 1–2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to production and review the metric every week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Month 2–3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scale, turn into product, or stop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team · End of quarter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Forward Deployed Engineers turn AI pilots into working products</dc:title>
  <dc:subject>Generated by SlideCraft 0.7.3</dc:subject>
  <dc:creator>SlideCraft example</dc:creator>
  <cp:lastModifiedBy>SlideCraft example</cp:lastModifiedBy>
  <cp:revision>1</cp:revision>
  <dcterms:created xsi:type="dcterms:W3CDTF">2026-01-01T00:00:00Z</dcterms:created>
  <dcterms:modified xsi:type="dcterms:W3CDTF">2026-01-01T00:00:00Z</dcterms:modified>
</cp:coreProperties>
</file>