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message for the whole deck — the gap in enterprise AI is deployment, and this role closes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growth figures differ by dataset; all of them show a several-fold rise. The point is the cause — pilots that never reach production.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Postings for this AI job are up 800% — Fast Company, citing Financial Times data — 2025 — https://www.fastcompany.com/91435680/postings-for-this-ai-job-are-up-800</a:t>
            </a:r>
            <a:endParaRPr lang="en-US" dirty="0"/>
          </a:p>
          <a:p>
            <a:r>
              <a:rPr lang="en-US" dirty="0"/>
              <a:t>- The GenAI Divide: State of AI in Business 2025 — MIT NANDA — Aug 2025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Typical question — is this a rebranded solutions engineer? No — the FDE is accountable for production use, not for closing the deal.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four is where most pilots stop; the FDE is measured on it.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Hire for production engineering first; applied AI can be learned faster than customer judgement.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one decision — a one-quarter pilot with a named workflow and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astcompany.com/91435680/postings-for-this-ai-job-are-up-800" TargetMode="External"/><Relationship Id="rId2" Type="http://schemas.openxmlformats.org/officeDocument/2006/relationships/hyperlink" Target="https://www.paraform.com/blog/forward-deployed-ai-engineer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7403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Engineers turn AI pilots into working products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934317" y="960048"/>
            <a:ext cx="207342" cy="74354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34317" y="960048"/>
            <a:ext cx="801434" cy="39566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0141659" y="1355716"/>
            <a:ext cx="594092" cy="34787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158795" y="1703593"/>
            <a:ext cx="982864" cy="35193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58795" y="2055528"/>
            <a:ext cx="742075" cy="93517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0735751" y="1355716"/>
            <a:ext cx="753338" cy="80936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0141659" y="1703593"/>
            <a:ext cx="1347430" cy="46148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00870" y="2990705"/>
            <a:ext cx="697356" cy="28623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00870" y="2990705"/>
            <a:ext cx="377790" cy="99835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0278660" y="3276938"/>
            <a:ext cx="319566" cy="71212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91718" y="4256295"/>
            <a:ext cx="616618" cy="47126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191718" y="3989059"/>
            <a:ext cx="1086942" cy="26723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78660" y="3989059"/>
            <a:ext cx="552474" cy="4394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10598226" y="3276938"/>
            <a:ext cx="232908" cy="75606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10831134" y="4005793"/>
            <a:ext cx="835401" cy="2720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1412124" y="4005793"/>
            <a:ext cx="254411" cy="85034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08336" y="4727559"/>
            <a:ext cx="116905" cy="68843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08336" y="4727559"/>
            <a:ext cx="738292" cy="19427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9925241" y="4921829"/>
            <a:ext cx="621388" cy="49416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412124" y="4856140"/>
            <a:ext cx="157444" cy="60777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10546628" y="4856140"/>
            <a:ext cx="865495" cy="6568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031361" y="5415995"/>
            <a:ext cx="893880" cy="27472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9031361" y="4727559"/>
            <a:ext cx="776975" cy="96315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925241" y="5415995"/>
            <a:ext cx="727781" cy="58566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0653022" y="5463916"/>
            <a:ext cx="916545" cy="53774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58331" y="884063"/>
            <a:ext cx="151971" cy="15197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52609" y="1272574"/>
            <a:ext cx="166284" cy="16628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9073384" y="1970117"/>
            <a:ext cx="170822" cy="17082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10093815" y="1655749"/>
            <a:ext cx="95688" cy="9568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99279" y="2075272"/>
            <a:ext cx="179619" cy="17961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9836311" y="2926146"/>
            <a:ext cx="129117" cy="12911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4" name="Shape 32"/>
          <p:cNvSpPr/>
          <p:nvPr/>
        </p:nvSpPr>
        <p:spPr>
          <a:xfrm>
            <a:off x="10287330" y="2966042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42778" y="312149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107408" y="4171985"/>
            <a:ext cx="168619" cy="16861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7" name="Shape 35"/>
          <p:cNvSpPr/>
          <p:nvPr/>
        </p:nvSpPr>
        <p:spPr>
          <a:xfrm>
            <a:off x="10219001" y="3929400"/>
            <a:ext cx="119318" cy="11931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8" name="Shape 36"/>
          <p:cNvSpPr/>
          <p:nvPr/>
        </p:nvSpPr>
        <p:spPr>
          <a:xfrm>
            <a:off x="10721202" y="3923069"/>
            <a:ext cx="219863" cy="21986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9" name="Shape 37"/>
          <p:cNvSpPr/>
          <p:nvPr/>
        </p:nvSpPr>
        <p:spPr>
          <a:xfrm>
            <a:off x="11577213" y="3916471"/>
            <a:ext cx="178644" cy="17864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0" name="Shape 38"/>
          <p:cNvSpPr/>
          <p:nvPr/>
        </p:nvSpPr>
        <p:spPr>
          <a:xfrm>
            <a:off x="9707900" y="4627123"/>
            <a:ext cx="200873" cy="20087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473847" y="4849047"/>
            <a:ext cx="145564" cy="14556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2" name="Shape 40"/>
          <p:cNvSpPr/>
          <p:nvPr/>
        </p:nvSpPr>
        <p:spPr>
          <a:xfrm>
            <a:off x="11101228" y="4545244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256676" y="470069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Shape 42"/>
          <p:cNvSpPr/>
          <p:nvPr/>
        </p:nvSpPr>
        <p:spPr>
          <a:xfrm>
            <a:off x="8946288" y="5605643"/>
            <a:ext cx="170145" cy="17014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5" name="Shape 43"/>
          <p:cNvSpPr/>
          <p:nvPr/>
        </p:nvSpPr>
        <p:spPr>
          <a:xfrm>
            <a:off x="9842240" y="5332995"/>
            <a:ext cx="166001" cy="16600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6" name="Shape 44"/>
          <p:cNvSpPr/>
          <p:nvPr/>
        </p:nvSpPr>
        <p:spPr>
          <a:xfrm>
            <a:off x="10606379" y="5955014"/>
            <a:ext cx="93285" cy="9328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7" name="Shape 45"/>
          <p:cNvSpPr/>
          <p:nvPr/>
        </p:nvSpPr>
        <p:spPr>
          <a:xfrm>
            <a:off x="11476282" y="5370631"/>
            <a:ext cx="186570" cy="18657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· 2026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is, why AI companies are hiring for it, and how to start with one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5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y-n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companies hire FDEs because most AI pilots stall before production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y-n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3515258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c:why-now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in FDE job postings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why-now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pilots with no measurable P&amp;L impact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why-now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Decade the role was created at Palantir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why-now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800%+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378714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137160"/>
                </a:moveTo>
                <a:lnTo>
                  <a:pt x="137160" y="137160"/>
                </a:lnTo>
                <a:lnTo>
                  <a:pt x="68580" y="0"/>
                </a:lnTo>
                <a:close/>
              </a:path>
            </a:pathLst>
          </a:custGeom>
          <a:solidFill>
            <a:srgbClr val="2E7D5B"/>
          </a:solidFill>
          <a:ln/>
        </p:spPr>
      </p:sp>
      <p:sp>
        <p:nvSpPr>
          <p:cNvPr id="13" name="sc:why-now/tiles/0/delta"/>
          <p:cNvSpPr txBox="1"/>
          <p:nvPr/>
        </p:nvSpPr>
        <p:spPr>
          <a:xfrm>
            <a:off x="1051560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Jan–Sep 2025</a:t>
            </a:r>
            <a:endParaRPr lang="en-US" sz="1400" b="1" dirty="0" kern="400000">
              <a:solidFill>
                <a:srgbClr val="2E7D5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why-now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Times data reported by Fast Company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y-now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2538" y="3842004"/>
            <a:ext cx="137160" cy="27432"/>
          </a:xfrm>
          <a:prstGeom prst="rect">
            <a:avLst/>
          </a:prstGeom>
          <a:solidFill>
            <a:srgbClr val="5B6B7F"/>
          </a:solidFill>
          <a:ln/>
        </p:spPr>
      </p:sp>
      <p:sp>
        <p:nvSpPr>
          <p:cNvPr id="18" name="sc:why-now/tiles/1/delta"/>
          <p:cNvSpPr txBox="1"/>
          <p:nvPr/>
        </p:nvSpPr>
        <p:spPr>
          <a:xfrm>
            <a:off x="4841138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study</a:t>
            </a:r>
            <a:endParaRPr lang="en-US" sz="14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0" name="sc:why-now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NANDA, The GenAI Divide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why-now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2010s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3" name="sc:why-now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placed with government and enterprise customers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why-now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fastcompany.com/91435680/postings-for-this-ai-job-are-up-80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Postings for this AI job are up 800% (2025)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defini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FDE ships production software inside the customer's workflow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defini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267799" cy="914400"/>
        </p:xfrm>
        <a:graphic>
          <a:graphicData uri="http://schemas.openxmlformats.org/drawingml/2006/table">
            <a:tbl>
              <a:tblPr/>
              <a:tblGrid>
                <a:gridCol w="1906308"/>
                <a:gridCol w="1668019"/>
                <a:gridCol w="1906308"/>
                <a:gridCol w="178716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Delivers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Judged by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Deployed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 the customer's team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software in production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Adoption and business value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the product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Features for many customers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Releases and quality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Solutions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the sales cycle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Demos and proofs of concept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Deals closed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to the client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and recommendations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Decisions taken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" name="Shape 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7" name="sc:definitio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owns the outcome, not the demo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definition/takeaway/points"/>
          <p:cNvSpPr txBox="1"/>
          <p:nvPr/>
        </p:nvSpPr>
        <p:spPr>
          <a:xfrm>
            <a:off x="8456519" y="2642616"/>
            <a:ext cx="2957937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production code, not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until the workflow runs without them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Brings repeated needs back to the product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defini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yc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cycle runs from the user's desk to the core product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yc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cycle/steps/0/title"/>
          <p:cNvSpPr txBox="1"/>
          <p:nvPr/>
        </p:nvSpPr>
        <p:spPr>
          <a:xfrm>
            <a:off x="713232" y="1682496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cycle/steps/0/body"/>
          <p:cNvSpPr txBox="1"/>
          <p:nvPr/>
        </p:nvSpPr>
        <p:spPr>
          <a:xfrm>
            <a:off x="594360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 with the people who do the work and map the workflow and its data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34605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8" name="sc:cycle/steps/1/title"/>
          <p:cNvSpPr txBox="1"/>
          <p:nvPr/>
        </p:nvSpPr>
        <p:spPr>
          <a:xfrm>
            <a:off x="3063789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job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cycle/steps/1/body"/>
          <p:cNvSpPr txBox="1"/>
          <p:nvPr/>
        </p:nvSpPr>
        <p:spPr>
          <a:xfrm>
            <a:off x="2780325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step where AI changes cost, time or quality the most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92056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1" name="sc:cycle/steps/2/title"/>
          <p:cNvSpPr txBox="1"/>
          <p:nvPr/>
        </p:nvSpPr>
        <p:spPr>
          <a:xfrm>
            <a:off x="524975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cycle/steps/2/body"/>
          <p:cNvSpPr txBox="1"/>
          <p:nvPr/>
        </p:nvSpPr>
        <p:spPr>
          <a:xfrm>
            <a:off x="496628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data, prompts, evaluations and guardrails on the platform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106534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14" name="sc:cycle/steps/3/title"/>
          <p:cNvSpPr txBox="1"/>
          <p:nvPr/>
        </p:nvSpPr>
        <p:spPr>
          <a:xfrm>
            <a:off x="7435718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and measure</a:t>
            </a:r>
            <a:endParaRPr lang="en-US" sz="15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cycle/steps/3/body"/>
          <p:cNvSpPr txBox="1"/>
          <p:nvPr/>
        </p:nvSpPr>
        <p:spPr>
          <a:xfrm>
            <a:off x="7152254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in production and track adoption and the business metric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29249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cycle/steps/4/title"/>
          <p:cNvSpPr txBox="1"/>
          <p:nvPr/>
        </p:nvSpPr>
        <p:spPr>
          <a:xfrm>
            <a:off x="962168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the product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ycle/steps/4/body"/>
          <p:cNvSpPr txBox="1"/>
          <p:nvPr/>
        </p:nvSpPr>
        <p:spPr>
          <a:xfrm>
            <a:off x="933821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custom work that repeats into product features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cyc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fi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64209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profile combines production engineering, applied AI and customer judgement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fi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TO HIRE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profile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engineering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profile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AI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profile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judgement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profile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and data skills; integrates with legacy systems and owns reliability after go-live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profile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model APIs, retrieval, evaluations and guardrails — and knows when not to use a model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profile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 problems with domain experts, explains trade-offs and says no to low-value requests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profi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FDE on your highest-value AI use case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one Forward Deployed Engineer for one quarter on a single production workflow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886712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workflow with a measurable business metric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36648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AI · Month 1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60320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60320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764536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or hire one engineer with production and AI experience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14472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Month 1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438144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438144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64236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the engineer with the team that owns the workflow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89229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owner · Month 1–2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315968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315968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ask/steps/3/action"/>
          <p:cNvSpPr txBox="1"/>
          <p:nvPr/>
        </p:nvSpPr>
        <p:spPr>
          <a:xfrm>
            <a:off x="5642342" y="4520184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to production and review the metric every week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ask/steps/3/owner"/>
          <p:cNvSpPr txBox="1"/>
          <p:nvPr/>
        </p:nvSpPr>
        <p:spPr>
          <a:xfrm>
            <a:off x="5642342" y="4770120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· Month 2–3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193792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982" y="5193792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ask/steps/4/action"/>
          <p:cNvSpPr txBox="1"/>
          <p:nvPr/>
        </p:nvSpPr>
        <p:spPr>
          <a:xfrm>
            <a:off x="5642342" y="5398008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scale, turn into product, or stop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ask/steps/4/owner"/>
          <p:cNvSpPr txBox="1"/>
          <p:nvPr/>
        </p:nvSpPr>
        <p:spPr>
          <a:xfrm>
            <a:off x="5642342" y="5647944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team · End of quarter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047982" y="607161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Forward Deployed Engineers turn AI pilots into working products</dc:title>
  <dc:subject>Generated by SlideCraft 0.7.3</dc:subject>
  <dc:creator>SlideCraft example</dc:creator>
  <cp:lastModifiedBy>SlideCraft example</cp:lastModifiedBy>
  <cp:revision>1</cp:revision>
  <dcterms:created xsi:type="dcterms:W3CDTF">2026-01-01T00:00:00Z</dcterms:created>
  <dcterms:modified xsi:type="dcterms:W3CDTF">2026-01-01T00:00:00Z</dcterms:modified>
</cp:coreProperties>
</file>