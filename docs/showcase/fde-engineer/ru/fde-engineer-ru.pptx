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 мысль на всю презентацию — узкое место корпоративного ИИ во внедрении, и эта роль его закрывает.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Оценки роста различаются в зависимости от источника данных; все показывают многократный рост. Главное — причина: пилоты не доходят до эксплуатации.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Postings for this AI job are up 800% — Fast Company, по данным Financial Times — 2025 — https://www.fastcompany.com/91435680/postings-for-this-ai-job-are-up-800</a:t>
            </a:r>
            <a:endParaRPr lang="ru-RU" dirty="0"/>
          </a:p>
          <a:p>
            <a:r>
              <a:rPr lang="ru-RU" dirty="0"/>
              <a:t>- The GenAI Divide: State of AI in Business 2025 — MIT NANDA — Aug 2025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Частый вопрос — не переименованный ли это пресейл? Нет — FDE отвечает за использование в продакшне, а не за закрытие сделки.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шаге 4 останавливается большинство пилотов; FDE оценивают именно по нему.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ищите сильного продакшн-инженера; прикладному ИИ научиться быстрее, чем пониманию заказчика.</a:t>
            </a:r>
            <a:endParaRPr lang="ru-RU" dirty="0"/>
          </a:p>
          <a:p>
            <a:endParaRPr lang="ru-RU" dirty="0"/>
          </a:p>
          <a:p>
            <a:r>
              <a:rPr lang="ru-RU" dirty="0"/>
              <a:t>[Sources]</a:t>
            </a:r>
            <a:endParaRPr lang="ru-RU" dirty="0"/>
          </a:p>
          <a:p>
            <a:r>
              <a:rPr lang="ru-RU" dirty="0"/>
              <a:t>- What is a Forward Deployed AI Engineer? — Paraform — 2026 — https://www.paraform.com/blog/forward-deployed-ai-engineer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Просим одного решения — пилот на квартал с названным процессом и метрикой.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 · Брифинг 2026</a:t>
            </a:r>
            <a:endParaRPr lang="ru-RU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1003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 · Брифинг 2026</a:t>
            </a:r>
            <a:endParaRPr lang="ru-RU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1004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/>
              <a:t>null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628014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ru-RU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FDE-инженеры превращают ИИ-пилоты в работающие продукты</a:t>
            </a:r>
            <a:endParaRPr lang="ru-RU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10999081" y="925596"/>
            <a:ext cx="465178" cy="77136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9779943" y="925596"/>
            <a:ext cx="1219138" cy="92231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79943" y="1847913"/>
            <a:ext cx="140941" cy="112850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9233507" y="1847913"/>
            <a:ext cx="546436" cy="138298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11393956" y="1696959"/>
            <a:ext cx="70303" cy="139119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233507" y="2976416"/>
            <a:ext cx="687377" cy="25448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33507" y="3230900"/>
            <a:ext cx="309194" cy="68207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9542701" y="2976416"/>
            <a:ext cx="378183" cy="93656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93956" y="3088153"/>
            <a:ext cx="1740" cy="62219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452256" y="3088153"/>
            <a:ext cx="941700" cy="96863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42701" y="3912977"/>
            <a:ext cx="244157" cy="3222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786858" y="4056792"/>
            <a:ext cx="665398" cy="1784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52256" y="4056792"/>
            <a:ext cx="138323" cy="77326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10452256" y="3710351"/>
            <a:ext cx="943440" cy="34644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4576" y="5137323"/>
            <a:ext cx="29470" cy="4352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054576" y="4830060"/>
            <a:ext cx="536003" cy="30726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0544517" y="4830060"/>
            <a:ext cx="46063" cy="7576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1528300" y="4863392"/>
            <a:ext cx="29089" cy="93735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10590580" y="4830060"/>
            <a:ext cx="966809" cy="333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69708" y="5425190"/>
            <a:ext cx="914339" cy="1473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169708" y="5137323"/>
            <a:ext cx="884869" cy="2878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84046" y="5572523"/>
            <a:ext cx="460471" cy="151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054576" y="5137323"/>
            <a:ext cx="489940" cy="4503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10544517" y="5587660"/>
            <a:ext cx="983783" cy="21308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51816" y="878331"/>
            <a:ext cx="94531" cy="9453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2578" y="1740548"/>
            <a:ext cx="214730" cy="2147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86009" y="1618708"/>
            <a:ext cx="156500" cy="15650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9173640" y="3171033"/>
            <a:ext cx="119734" cy="11973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9873411" y="2928942"/>
            <a:ext cx="94947" cy="9494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83060" y="2777257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238508" y="2932705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491260" y="3861537"/>
            <a:ext cx="102881" cy="10288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5" name="Shape 33"/>
          <p:cNvSpPr/>
          <p:nvPr/>
        </p:nvSpPr>
        <p:spPr>
          <a:xfrm>
            <a:off x="9717299" y="4165665"/>
            <a:ext cx="139118" cy="13911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40242" y="3944778"/>
            <a:ext cx="224029" cy="22402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1299236" y="3613890"/>
            <a:ext cx="192922" cy="1929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936365" y="5019112"/>
            <a:ext cx="236422" cy="2364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279684" y="4519164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35132" y="467461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2218" y="4778221"/>
            <a:ext cx="170343" cy="17034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105442" y="5360925"/>
            <a:ext cx="128530" cy="1285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973778" y="5462255"/>
            <a:ext cx="220535" cy="22053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73763" y="5516906"/>
            <a:ext cx="141508" cy="14150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11635" y="5684080"/>
            <a:ext cx="233330" cy="2333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БРИФИНГ · 2026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8" name="sc:cover/subtitle"/>
          <p:cNvSpPr txBox="1"/>
          <p:nvPr/>
        </p:nvSpPr>
        <p:spPr>
          <a:xfrm>
            <a:off x="822960" y="3931920"/>
            <a:ext cx="4619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за роль, почему ИИ-компании нанимают таких инженеров и как начать с одного</a:t>
            </a:r>
            <a:endParaRPr lang="ru-RU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0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Октябрь 2026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74580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ИИ-компании нанимают FDE, потому что большинство пилотов не доходит до продакшна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числа вакансий FDE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Пилотов GenAI без измеримого влияния на P&amp;L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Десятилетие, когда роль появилась в Palantir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ru-RU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янв.–сент. 2025</a:t>
            </a:r>
            <a:endParaRPr lang="ru-RU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Financial Times, по сообщению Fast Company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ru-RU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B6B7F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2025</a:t>
            </a:r>
            <a:endParaRPr lang="ru-RU" sz="14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2010-е</a:t>
            </a:r>
            <a:endParaRPr lang="ru-RU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работали непосредственно у государственных и корпоративных заказчиков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2</a:t>
            </a:fld>
            <a:endParaRPr b="0" lang="ru-RU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defin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выпускает рабочий софт прямо в процессах заказчика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defin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 ЗА РОЛЬ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1906308"/>
                <a:gridCol w="1668019"/>
                <a:gridCol w="1906308"/>
                <a:gridCol w="17871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Роль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Где работает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поставляет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 измеряется</a:t>
                      </a:r>
                      <a:endParaRPr lang="ru-RU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182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команде заказчика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Рабочий софт в продакшне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Использованием и эффектом для бизнеса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Продуктовый разработчик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продуктовой команде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Функции для многих клиентов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Релизами и качеством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Пресейл-инженер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цикле продаж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Демо и пилоты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Закрытыми сделками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Консультант</a:t>
                      </a:r>
                      <a:endParaRPr lang="ru-RU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Рядом с клиентом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Анализ и рекомендации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ru-RU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Принятыми решениями</a:t>
                      </a:r>
                      <a:endParaRPr lang="ru-RU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7" name="sc:defini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отвечает за результат, а не за демо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definitio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код для продакшна, а не слайды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Остаётся, пока процесс не заработает без него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Возвращает повторяющиеся потребности в продукт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defini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3</a:t>
            </a:fld>
            <a:endParaRPr b="0" lang="ru-RU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 FDE идёт от рабочего места пользователя до ядра продукта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ДЕЛАЕТ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Погружение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body"/>
          <p:cNvSpPr txBox="1"/>
          <p:nvPr/>
        </p:nvSpPr>
        <p:spPr>
          <a:xfrm>
            <a:off x="594360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рядом с теми, кто делает работу, и описывает процесс и данные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8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задачи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ycle/steps/1/body"/>
          <p:cNvSpPr txBox="1"/>
          <p:nvPr/>
        </p:nvSpPr>
        <p:spPr>
          <a:xfrm>
            <a:off x="2780325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Находит шаг, где ИИ сильнее всего меняет затраты, время или качество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1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cycle/steps/2/body"/>
          <p:cNvSpPr txBox="1"/>
          <p:nvPr/>
        </p:nvSpPr>
        <p:spPr>
          <a:xfrm>
            <a:off x="496628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Подключает данные, промпты, оценки качества и ограничения на платформе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14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и замер</a:t>
            </a:r>
            <a:endParaRPr lang="ru-RU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ycle/steps/3/body"/>
          <p:cNvSpPr txBox="1"/>
          <p:nvPr/>
        </p:nvSpPr>
        <p:spPr>
          <a:xfrm>
            <a:off x="7152254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Запускает в продакшн и отслеживает использование и бизнес-метрику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Вклад в продукт</a:t>
            </a:r>
            <a:endParaRPr lang="ru-RU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4/body"/>
          <p:cNvSpPr txBox="1"/>
          <p:nvPr/>
        </p:nvSpPr>
        <p:spPr>
          <a:xfrm>
            <a:off x="933821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Превращает повторяющиеся доработки в функции продукта</a:t>
            </a:r>
            <a:endParaRPr lang="ru-RU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4</a:t>
            </a:fld>
            <a:endParaRPr b="0" lang="ru-RU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3499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сочетает продакшн-разработку, прикладной ИИ и понимание заказчика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КОГО НАНИМАТЬ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profile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Продакшн-разработка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profile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Прикладной ИИ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profile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заказчика</a:t>
            </a:r>
            <a:endParaRPr lang="ru-RU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file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и работа с данными; интеграция с унаследованными системами и ответственность за надёжность после запуска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file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моделей, поиск по данным, оценка качества и ограничения — и понимание, когда модель не нужна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file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Формулирует задачу с экспертами предметной области, объясняет компромиссы и отказывается от малоценных запросов</a:t>
            </a:r>
            <a:endParaRPr lang="ru-RU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</a:t>
            </a:r>
            <a:pPr algn="l" indent="0" marL="0">
              <a:lnSpc>
                <a:spcPct val="100000"/>
              </a:lnSpc>
              <a:buNone/>
            </a:pPr>
            <a:r>
              <a:rPr lang="ru-RU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ru-RU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5</a:t>
            </a:fld>
            <a:endParaRPr b="0" lang="ru-RU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ru-RU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Начните с одного FDE на самом ценном ИИ-сценарии</a:t>
            </a:r>
            <a:endParaRPr lang="ru-RU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ДЕЛАТЬ</a:t>
            </a:r>
            <a:endParaRPr lang="ru-RU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ТРЕБУЕТСЯ РЕШЕНИЕ</a:t>
            </a:r>
            <a:endParaRPr lang="ru-RU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ru-RU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пилот с одним FDE-инженером на один квартал на одном процессе в продакшне</a:t>
            </a:r>
            <a:endParaRPr lang="ru-RU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один процесс с измеримой бизнес-метрикой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по ИИ · Месяц 1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Назначить или нанять инженера с опытом продакшна и ИИ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Месяц 1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Встроить инженера в команду — владельца процесса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Владелец процесса · Месяцы 1–2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Запустить в продакшн и еженедельно проверять метрику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Месяцы 2–3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ru-RU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Решить: масштабировать, встроить в продукт или остановить</a:t>
            </a:r>
            <a:endParaRPr lang="ru-RU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ru-RU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Руководство · Конец квартала</a:t>
            </a:r>
            <a:endParaRPr lang="ru-RU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ru-RU" kern="400000"/>
              <a:t>6</a:t>
            </a:fld>
            <a:endParaRPr b="0" lang="ru-RU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FDE-инженеры превращают ИИ-пилоты в работающие продукты</dc:title>
  <dc:subject>Generated by SlideCraft 0.7.3</dc:subject>
  <dc:creator>Пример SlideCraft</dc:creator>
  <cp:lastModifiedBy>Пример SlideCraft</cp:lastModifiedBy>
  <cp:revision>1</cp:revision>
  <dcterms:created xsi:type="dcterms:W3CDTF">2026-01-01T00:00:00Z</dcterms:created>
  <dcterms:modified xsi:type="dcterms:W3CDTF">2026-01-01T00:00:00Z</dcterms:modified>
</cp:coreProperties>
</file>