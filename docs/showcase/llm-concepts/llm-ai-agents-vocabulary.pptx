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Vaswani et al. — Attention Is All You Need — arXiv — https://arxiv.org/abs/1706.03762</a:t>
            </a:r>
            <a:endParaRPr lang="en-US" dirty="0"/>
          </a:p>
          <a:p>
            <a:r>
              <a:rPr lang="en-US" dirty="0"/>
              <a:t>- OpenAI — Fine-tuning guide — OpenAI — https://platform.openai.com/docs/guides/fine-tuning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Prompt engineering — OpenAI — https://platform.openai.com/docs/guides/prompt-engineering</a:t>
            </a:r>
            <a:endParaRPr lang="en-US" dirty="0"/>
          </a:p>
          <a:p>
            <a:r>
              <a:rPr lang="en-US" dirty="0"/>
              <a:t>- OpenAI — Fine-tuning guide — OpenAI — https://platform.openai.com/docs/guides/fine-tuning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Lewis et al. — Retrieval-Augmented Generation for Knowledge-Intensive NLP Tasks — arXiv — https://arxiv.org/abs/2005.11401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Function calling guide — OpenAI — https://platform.openai.com/docs/guides/function-calling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Anthropic — Building effective agents — Anthropic — https://www.anthropic.com/engineering/building-effective-agents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Evaluation best practices — OpenAI — https://platform.openai.com/docs/guides/evals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Latency optimization — OpenAI — https://platform.openai.com/docs/guides/latency-optimization</a:t>
            </a:r>
            <a:endParaRPr lang="en-US" dirty="0"/>
          </a:p>
          <a:p>
            <a:r>
              <a:rPr lang="en-US" dirty="0"/>
              <a:t>- OpenAI — Tokens and tokenization — OpenAI — https://platform.openai.com/docs/concepts/tokens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OpenAI — Evaluation best practices — OpenAI — https://platform.openai.com/docs/guides/evals</a:t>
            </a:r>
            <a:endParaRPr lang="en-US" dirty="0"/>
          </a:p>
          <a:p>
            <a:r>
              <a:rPr lang="en-US" dirty="0"/>
              <a:t>- NIST — AI Risk Management Framework — NIST — https://www.nist.gov/itl/ai-risk-management-framework</a:t>
            </a:r>
            <a:endParaRPr lang="en-US" dirty="0"/>
          </a:p>
          <a:p>
            <a:r>
              <a:rPr lang="en-US" dirty="0"/>
              <a:t>- OpenAI — Latency optimization — OpenAI — https://platform.openai.com/docs/guides/latency-optimization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 · Shared vocabulary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 · Shared vocabulary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concepts/tokens" TargetMode="External"/><Relationship Id="rId2" Type="http://schemas.openxmlformats.org/officeDocument/2006/relationships/hyperlink" Target="https://arxiv.org/abs/2005.11401" TargetMode="External"/><Relationship Id="rId3" Type="http://schemas.openxmlformats.org/officeDocument/2006/relationships/hyperlink" Target="https://platform.openai.com/docs/guides/function-calling" TargetMode="External"/><Relationship Id="rId4" Type="http://schemas.openxmlformats.org/officeDocument/2006/relationships/hyperlink" Target="https://www.nist.gov/itl/ai-risk-management-framework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concepts/tokens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706.03762" TargetMode="External"/><Relationship Id="rId2" Type="http://schemas.openxmlformats.org/officeDocument/2006/relationships/hyperlink" Target="https://platform.openai.com/docs/guides/fine-tuning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005.11401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prompt-engineering" TargetMode="External"/><Relationship Id="rId2" Type="http://schemas.openxmlformats.org/officeDocument/2006/relationships/hyperlink" Target="https://platform.openai.com/docs/guides/fine-tuning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2005.11401" TargetMode="External"/><Relationship Id="rId2" Type="http://schemas.openxmlformats.org/officeDocument/2006/relationships/hyperlink" Target="https://platform.openai.com/docs/guides/function-calling" TargetMode="External"/><Relationship Id="rId3" Type="http://schemas.openxmlformats.org/officeDocument/2006/relationships/hyperlink" Target="https://www.nist.gov/itl/ai-risk-management-framework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function-calling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nthropic.com/engineering/building-effective-agent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eval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latency-optimization" TargetMode="External"/><Relationship Id="rId2" Type="http://schemas.openxmlformats.org/officeDocument/2006/relationships/hyperlink" Target="https://platform.openai.com/docs/concepts/tokens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latform.openai.com/docs/guides/evals" TargetMode="External"/><Relationship Id="rId2" Type="http://schemas.openxmlformats.org/officeDocument/2006/relationships/hyperlink" Target="https://www.nist.gov/itl/ai-risk-management-framework" TargetMode="External"/><Relationship Id="rId3" Type="http://schemas.openxmlformats.org/officeDocument/2006/relationships/hyperlink" Target="https://platform.openai.com/docs/guides/latency-optimization" TargetMode="External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0067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vocabulary turns AI ambition into sound project choices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479937" y="877616"/>
            <a:ext cx="644560" cy="45271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79937" y="877616"/>
            <a:ext cx="1254466" cy="881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124497" y="965783"/>
            <a:ext cx="609906" cy="3645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4403" y="965783"/>
            <a:ext cx="262040" cy="115893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859388" y="1330331"/>
            <a:ext cx="265109" cy="77256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9499079" y="2102896"/>
            <a:ext cx="360309" cy="81197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96444" y="2124717"/>
            <a:ext cx="490017" cy="9244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0663366" y="2124717"/>
            <a:ext cx="333078" cy="51932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1341532" y="2217158"/>
            <a:ext cx="144929" cy="88534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9165714" y="2914871"/>
            <a:ext cx="333365" cy="65247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499079" y="2914871"/>
            <a:ext cx="696397" cy="31560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0195476" y="2644040"/>
            <a:ext cx="467890" cy="58643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9869897" y="3230472"/>
            <a:ext cx="325579" cy="67663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341532" y="3102498"/>
            <a:ext cx="356678" cy="66401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 flipV="1">
            <a:off x="10663366" y="2644040"/>
            <a:ext cx="678166" cy="45845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65714" y="3567345"/>
            <a:ext cx="704183" cy="33976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9570430" y="3907109"/>
            <a:ext cx="299467" cy="57940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10282123" y="3925358"/>
            <a:ext cx="490849" cy="69813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9869897" y="3907109"/>
            <a:ext cx="903075" cy="1824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11357754" y="3766513"/>
            <a:ext cx="340455" cy="86550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570430" y="4486512"/>
            <a:ext cx="711693" cy="1369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9869897" y="3907109"/>
            <a:ext cx="412226" cy="71638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0772972" y="3925358"/>
            <a:ext cx="584783" cy="70665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15941" y="5826793"/>
            <a:ext cx="785534" cy="9742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15941" y="5826793"/>
            <a:ext cx="1390910" cy="16331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901475" y="5924214"/>
            <a:ext cx="605376" cy="6589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0506851" y="5801703"/>
            <a:ext cx="763961" cy="18840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1270812" y="4632013"/>
            <a:ext cx="86942" cy="116969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68848" y="766527"/>
            <a:ext cx="222179" cy="22217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0042909" y="1248742"/>
            <a:ext cx="163177" cy="16317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10423507" y="654887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578955" y="810335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9803001" y="2046508"/>
            <a:ext cx="112776" cy="112776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6" name="Shape 34"/>
          <p:cNvSpPr/>
          <p:nvPr/>
        </p:nvSpPr>
        <p:spPr>
          <a:xfrm>
            <a:off x="10914449" y="2042723"/>
            <a:ext cx="163989" cy="16398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1367739" y="2098436"/>
            <a:ext cx="237443" cy="23744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9438064" y="2853856"/>
            <a:ext cx="122030" cy="1220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0118759" y="3153754"/>
            <a:ext cx="153435" cy="15343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67004" y="2547677"/>
            <a:ext cx="192725" cy="19272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1292708" y="3053674"/>
            <a:ext cx="97648" cy="9764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9051818" y="3453449"/>
            <a:ext cx="227793" cy="22779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3" name="Shape 41"/>
          <p:cNvSpPr/>
          <p:nvPr/>
        </p:nvSpPr>
        <p:spPr>
          <a:xfrm>
            <a:off x="9776194" y="3813406"/>
            <a:ext cx="187405" cy="18740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4" name="Shape 42"/>
          <p:cNvSpPr/>
          <p:nvPr/>
        </p:nvSpPr>
        <p:spPr>
          <a:xfrm>
            <a:off x="10675786" y="3828172"/>
            <a:ext cx="194372" cy="19437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11648464" y="3716767"/>
            <a:ext cx="99492" cy="9949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hape 44"/>
          <p:cNvSpPr/>
          <p:nvPr/>
        </p:nvSpPr>
        <p:spPr>
          <a:xfrm>
            <a:off x="9259534" y="4175616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14982" y="4331064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10204313" y="4545678"/>
            <a:ext cx="155621" cy="15562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9" name="Shape 47"/>
          <p:cNvSpPr/>
          <p:nvPr/>
        </p:nvSpPr>
        <p:spPr>
          <a:xfrm>
            <a:off x="11259025" y="4533283"/>
            <a:ext cx="197459" cy="19745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0" name="Shape 48"/>
          <p:cNvSpPr/>
          <p:nvPr/>
        </p:nvSpPr>
        <p:spPr>
          <a:xfrm>
            <a:off x="9045881" y="5756733"/>
            <a:ext cx="140120" cy="14012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1" name="Shape 49"/>
          <p:cNvSpPr/>
          <p:nvPr/>
        </p:nvSpPr>
        <p:spPr>
          <a:xfrm>
            <a:off x="9821959" y="5844698"/>
            <a:ext cx="159033" cy="15903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10407897" y="5891155"/>
            <a:ext cx="197907" cy="19790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11170547" y="5701438"/>
            <a:ext cx="200530" cy="20053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54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PROJECT ONBOARDING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6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concepts for understanding LLMs and AI agents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7" name="Shape 55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8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engineering enablement   ·   October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yst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successful AI project designs the full system, not only the model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ystem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WHOLE SYSTEM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ystem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this vocabulary to frame scope, owners, evidence, and trade-offs before selecting a solution.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ystem/messages/0/headline"/>
          <p:cNvSpPr txBox="1"/>
          <p:nvPr/>
        </p:nvSpPr>
        <p:spPr>
          <a:xfrm>
            <a:off x="1188720" y="1792224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capability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system/messages/0/detail"/>
          <p:cNvSpPr txBox="1"/>
          <p:nvPr/>
        </p:nvSpPr>
        <p:spPr>
          <a:xfrm>
            <a:off x="6246841" y="1792224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 model and define what it can see in each interaction.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560615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6886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ystem/messages/1/headline"/>
          <p:cNvSpPr txBox="1"/>
          <p:nvPr/>
        </p:nvSpPr>
        <p:spPr>
          <a:xfrm>
            <a:off x="1188720" y="2670343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knowledge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system/messages/1/detail"/>
          <p:cNvSpPr txBox="1"/>
          <p:nvPr/>
        </p:nvSpPr>
        <p:spPr>
          <a:xfrm>
            <a:off x="6246841" y="2670343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trusted, current enterprise information rather than relying on model memory alone.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3438734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56675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ystem/messages/2/headline"/>
          <p:cNvSpPr txBox="1"/>
          <p:nvPr/>
        </p:nvSpPr>
        <p:spPr>
          <a:xfrm>
            <a:off x="1188720" y="3548462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action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system/messages/2/detail"/>
          <p:cNvSpPr txBox="1"/>
          <p:nvPr/>
        </p:nvSpPr>
        <p:spPr>
          <a:xfrm>
            <a:off x="6246841" y="3548462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narrow, observable tools instead of unrestricted system access.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4316853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444486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ystem/messages/3/headline"/>
          <p:cNvSpPr txBox="1"/>
          <p:nvPr/>
        </p:nvSpPr>
        <p:spPr>
          <a:xfrm>
            <a:off x="1188720" y="4426581"/>
            <a:ext cx="4692361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Measurement and control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system/messages/3/detail"/>
          <p:cNvSpPr txBox="1"/>
          <p:nvPr/>
        </p:nvSpPr>
        <p:spPr>
          <a:xfrm>
            <a:off x="6246841" y="4426581"/>
            <a:ext cx="5396215" cy="695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quality, enforce guardrails, and monitor cost and latency in production.</a:t>
            </a:r>
            <a:endParaRPr lang="en-US" sz="14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system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okens-contex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93566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and the context window set what the model can process in one interaction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okens-contex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FUNDAMENTALS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tokens-context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0" y="144018"/>
                </a:moveTo>
                <a:lnTo>
                  <a:pt x="48006" y="192024"/>
                </a:lnTo>
                <a:lnTo>
                  <a:pt x="96012" y="144018"/>
                </a:lnTo>
                <a:lnTo>
                  <a:pt x="48006" y="96012"/>
                </a:lnTo>
                <a:lnTo>
                  <a:pt x="0" y="144018"/>
                </a:lnTo>
                <a:moveTo>
                  <a:pt x="192024" y="144018"/>
                </a:moveTo>
                <a:lnTo>
                  <a:pt x="240030" y="192024"/>
                </a:lnTo>
                <a:lnTo>
                  <a:pt x="288036" y="144018"/>
                </a:lnTo>
                <a:lnTo>
                  <a:pt x="240030" y="96012"/>
                </a:lnTo>
                <a:lnTo>
                  <a:pt x="192024" y="144018"/>
                </a:lnTo>
                <a:moveTo>
                  <a:pt x="96012" y="48006"/>
                </a:moveTo>
                <a:lnTo>
                  <a:pt x="144018" y="96012"/>
                </a:lnTo>
                <a:lnTo>
                  <a:pt x="192024" y="48006"/>
                </a:lnTo>
                <a:lnTo>
                  <a:pt x="144018" y="0"/>
                </a:lnTo>
                <a:lnTo>
                  <a:pt x="96012" y="48006"/>
                </a:lnTo>
                <a:moveTo>
                  <a:pt x="96012" y="240030"/>
                </a:moveTo>
                <a:lnTo>
                  <a:pt x="144018" y="288036"/>
                </a:lnTo>
                <a:lnTo>
                  <a:pt x="192024" y="240030"/>
                </a:lnTo>
                <a:lnTo>
                  <a:pt x="144018" y="192024"/>
                </a:lnTo>
                <a:lnTo>
                  <a:pt x="96012" y="24003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tokens-context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are model-readable pieces of text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tokens-context/points/1/icon"/>
          <p:cNvSpPr/>
          <p:nvPr/>
        </p:nvSpPr>
        <p:spPr>
          <a:xfrm>
            <a:off x="4478426" y="2020824"/>
            <a:ext cx="256032" cy="256032"/>
          </a:xfrm>
          <a:custGeom>
            <a:avLst/>
            <a:gdLst/>
            <a:ahLst/>
            <a:cxnLst/>
            <a:rect l="l" t="t" r="r" b="b"/>
            <a:pathLst>
              <a:path w="256032" h="256032">
                <a:moveTo>
                  <a:pt x="128016" y="0"/>
                </a:moveTo>
                <a:lnTo>
                  <a:pt x="0" y="64008"/>
                </a:lnTo>
                <a:lnTo>
                  <a:pt x="128016" y="128016"/>
                </a:lnTo>
                <a:lnTo>
                  <a:pt x="256032" y="64008"/>
                </a:lnTo>
                <a:lnTo>
                  <a:pt x="128016" y="0"/>
                </a:lnTo>
                <a:moveTo>
                  <a:pt x="0" y="128016"/>
                </a:moveTo>
                <a:lnTo>
                  <a:pt x="128016" y="192024"/>
                </a:lnTo>
                <a:lnTo>
                  <a:pt x="256032" y="128016"/>
                </a:lnTo>
                <a:moveTo>
                  <a:pt x="0" y="192024"/>
                </a:moveTo>
                <a:lnTo>
                  <a:pt x="128016" y="256032"/>
                </a:lnTo>
                <a:lnTo>
                  <a:pt x="256032" y="192024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tokens-context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window is the model's working set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tokens-context/points/2/icon"/>
          <p:cNvSpPr/>
          <p:nvPr/>
        </p:nvSpPr>
        <p:spPr>
          <a:xfrm>
            <a:off x="8328203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tokens-context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a product design constraint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okens-context/points/0/body"/>
          <p:cNvSpPr txBox="1"/>
          <p:nvPr/>
        </p:nvSpPr>
        <p:spPr>
          <a:xfrm>
            <a:off x="548640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is split into tokens before processing; tokenization varies by model and language.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okens-context/points/1/body"/>
          <p:cNvSpPr txBox="1"/>
          <p:nvPr/>
        </p:nvSpPr>
        <p:spPr>
          <a:xfrm>
            <a:off x="4414418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Instructions, conversation history, retrieved knowledge, and output all compete for the same finite window.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okens-context/points/2/body"/>
          <p:cNvSpPr txBox="1"/>
          <p:nvPr/>
        </p:nvSpPr>
        <p:spPr>
          <a:xfrm>
            <a:off x="8280197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what to include, summarize, retrieve, or omit so the model sees the relevant evidence.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tokens-contex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ining-inferenc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builds a model; inference applies it to each request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ining-inferenc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LIFECYCLE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training-inference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200025" y="160020"/>
                </a:moveTo>
                <a:cubicBezTo>
                  <a:pt x="16909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69093" y="288036"/>
                  <a:pt x="200025" y="288036"/>
                </a:cubicBezTo>
                <a:cubicBezTo>
                  <a:pt x="230957" y="288036"/>
                  <a:pt x="256032" y="262961"/>
                  <a:pt x="256032" y="232029"/>
                </a:cubicBezTo>
                <a:lnTo>
                  <a:pt x="256032" y="203225"/>
                </a:lnTo>
                <a:moveTo>
                  <a:pt x="88011" y="160020"/>
                </a:moveTo>
                <a:cubicBezTo>
                  <a:pt x="11894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18943" y="288036"/>
                  <a:pt x="88011" y="288036"/>
                </a:cubicBezTo>
                <a:cubicBezTo>
                  <a:pt x="57079" y="288036"/>
                  <a:pt x="32004" y="262961"/>
                  <a:pt x="32004" y="232029"/>
                </a:cubicBezTo>
                <a:lnTo>
                  <a:pt x="32004" y="203225"/>
                </a:lnTo>
                <a:moveTo>
                  <a:pt x="232029" y="208026"/>
                </a:moveTo>
                <a:cubicBezTo>
                  <a:pt x="262961" y="208026"/>
                  <a:pt x="288036" y="182951"/>
                  <a:pt x="288036" y="152019"/>
                </a:cubicBezTo>
                <a:cubicBezTo>
                  <a:pt x="288036" y="121087"/>
                  <a:pt x="262961" y="96012"/>
                  <a:pt x="232029" y="96012"/>
                </a:cubicBezTo>
                <a:lnTo>
                  <a:pt x="224028" y="96012"/>
                </a:lnTo>
                <a:moveTo>
                  <a:pt x="256032" y="100813"/>
                </a:moveTo>
                <a:lnTo>
                  <a:pt x="256032" y="56007"/>
                </a:lnTo>
                <a:cubicBezTo>
                  <a:pt x="256032" y="25075"/>
                  <a:pt x="230957" y="0"/>
                  <a:pt x="200025" y="0"/>
                </a:cubicBezTo>
                <a:cubicBezTo>
                  <a:pt x="169093" y="0"/>
                  <a:pt x="144018" y="25075"/>
                  <a:pt x="144018" y="56007"/>
                </a:cubicBezTo>
                <a:moveTo>
                  <a:pt x="56007" y="208026"/>
                </a:moveTo>
                <a:cubicBezTo>
                  <a:pt x="25075" y="208026"/>
                  <a:pt x="0" y="182951"/>
                  <a:pt x="0" y="152019"/>
                </a:cubicBezTo>
                <a:cubicBezTo>
                  <a:pt x="0" y="121087"/>
                  <a:pt x="25075" y="96012"/>
                  <a:pt x="56007" y="96012"/>
                </a:cubicBezTo>
                <a:lnTo>
                  <a:pt x="64008" y="96012"/>
                </a:lnTo>
                <a:moveTo>
                  <a:pt x="32004" y="100813"/>
                </a:moveTo>
                <a:lnTo>
                  <a:pt x="32004" y="56007"/>
                </a:lnTo>
                <a:cubicBezTo>
                  <a:pt x="32004" y="25075"/>
                  <a:pt x="57079" y="0"/>
                  <a:pt x="88011" y="0"/>
                </a:cubicBezTo>
                <a:cubicBezTo>
                  <a:pt x="118943" y="0"/>
                  <a:pt x="144018" y="25075"/>
                  <a:pt x="144018" y="56007"/>
                </a:cubicBezTo>
                <a:lnTo>
                  <a:pt x="144018" y="216027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training-inference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changes model parameters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training-inference/points/1/icon"/>
          <p:cNvSpPr/>
          <p:nvPr/>
        </p:nvSpPr>
        <p:spPr>
          <a:xfrm>
            <a:off x="4526432" y="2020824"/>
            <a:ext cx="208026" cy="256032"/>
          </a:xfrm>
          <a:custGeom>
            <a:avLst/>
            <a:gdLst/>
            <a:ahLst/>
            <a:cxnLst/>
            <a:rect l="l" t="t" r="r" b="b"/>
            <a:pathLst>
              <a:path w="208026" h="256032">
                <a:moveTo>
                  <a:pt x="0" y="0"/>
                </a:moveTo>
                <a:lnTo>
                  <a:pt x="0" y="256032"/>
                </a:lnTo>
                <a:lnTo>
                  <a:pt x="208026" y="128016"/>
                </a:lnTo>
                <a:lnTo>
                  <a:pt x="0" y="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training-inference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applies the trained model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training-inference/points/2/icon"/>
          <p:cNvSpPr/>
          <p:nvPr/>
        </p:nvSpPr>
        <p:spPr>
          <a:xfrm>
            <a:off x="8328203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training-inference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distinction changes project choices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raining-inference/points/0/body"/>
          <p:cNvSpPr txBox="1"/>
          <p:nvPr/>
        </p:nvSpPr>
        <p:spPr>
          <a:xfrm>
            <a:off x="548640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process adjusts parameters from data to create general capabilities.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raining-inference/points/1/body"/>
          <p:cNvSpPr txBox="1"/>
          <p:nvPr/>
        </p:nvSpPr>
        <p:spPr>
          <a:xfrm>
            <a:off x="4414418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request combines an input and context with the existing model to produce an output.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raining-inference/points/2/body"/>
          <p:cNvSpPr txBox="1"/>
          <p:nvPr/>
        </p:nvSpPr>
        <p:spPr>
          <a:xfrm>
            <a:off x="8280197" y="3255264"/>
            <a:ext cx="3362858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enterprise work improves inference through prompts, retrieval, tools, and controls rather than training a model.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training-inferenc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1706.03762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Vaswani et al. — Attention Is All You Need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ine-tun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Fine-tuning guide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rag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4293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 make meaning searchable, and RAG uses that search to ground answers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rag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GROUNDING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rag/steps/0/title"/>
          <p:cNvSpPr txBox="1"/>
          <p:nvPr/>
        </p:nvSpPr>
        <p:spPr>
          <a:xfrm>
            <a:off x="713232" y="1682496"/>
            <a:ext cx="260078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knowledge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rag/steps/0/icon"/>
          <p:cNvSpPr/>
          <p:nvPr/>
        </p:nvSpPr>
        <p:spPr>
          <a:xfrm>
            <a:off x="666750" y="2695194"/>
            <a:ext cx="202692" cy="260604"/>
          </a:xfrm>
          <a:custGeom>
            <a:avLst/>
            <a:gdLst/>
            <a:ahLst/>
            <a:cxnLst/>
            <a:rect l="l" t="t" r="r" b="b"/>
            <a:pathLst>
              <a:path w="202692" h="260604">
                <a:moveTo>
                  <a:pt x="130302" y="0"/>
                </a:moveTo>
                <a:lnTo>
                  <a:pt x="130302" y="57912"/>
                </a:lnTo>
                <a:cubicBezTo>
                  <a:pt x="130302" y="65908"/>
                  <a:pt x="136784" y="72390"/>
                  <a:pt x="144780" y="72390"/>
                </a:cubicBezTo>
                <a:lnTo>
                  <a:pt x="202692" y="72390"/>
                </a:lnTo>
                <a:moveTo>
                  <a:pt x="173736" y="260604"/>
                </a:moveTo>
                <a:lnTo>
                  <a:pt x="28956" y="260604"/>
                </a:lnTo>
                <a:cubicBezTo>
                  <a:pt x="12964" y="260604"/>
                  <a:pt x="0" y="247640"/>
                  <a:pt x="0" y="231648"/>
                </a:cubicBezTo>
                <a:lnTo>
                  <a:pt x="0" y="28956"/>
                </a:lnTo>
                <a:cubicBezTo>
                  <a:pt x="0" y="12964"/>
                  <a:pt x="12964" y="0"/>
                  <a:pt x="28956" y="0"/>
                </a:cubicBezTo>
                <a:lnTo>
                  <a:pt x="130302" y="0"/>
                </a:lnTo>
                <a:lnTo>
                  <a:pt x="202692" y="72390"/>
                </a:lnTo>
                <a:lnTo>
                  <a:pt x="202692" y="231648"/>
                </a:lnTo>
                <a:cubicBezTo>
                  <a:pt x="202692" y="247640"/>
                  <a:pt x="189728" y="260604"/>
                  <a:pt x="173736" y="260604"/>
                </a:cubicBezTo>
                <a:moveTo>
                  <a:pt x="57912" y="86868"/>
                </a:moveTo>
                <a:lnTo>
                  <a:pt x="72390" y="86868"/>
                </a:lnTo>
                <a:moveTo>
                  <a:pt x="57912" y="144780"/>
                </a:moveTo>
                <a:lnTo>
                  <a:pt x="144780" y="144780"/>
                </a:lnTo>
                <a:moveTo>
                  <a:pt x="57912" y="202692"/>
                </a:moveTo>
                <a:lnTo>
                  <a:pt x="144780" y="20269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7" name="sc:rag/steps/0/body"/>
          <p:cNvSpPr txBox="1"/>
          <p:nvPr/>
        </p:nvSpPr>
        <p:spPr>
          <a:xfrm>
            <a:off x="594360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Chunk approved documents and attach permissions, provenance, and update rules.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81096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rag/steps/1/title"/>
          <p:cNvSpPr txBox="1"/>
          <p:nvPr/>
        </p:nvSpPr>
        <p:spPr>
          <a:xfrm>
            <a:off x="3610280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embeddings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rag/steps/1/icon"/>
          <p:cNvSpPr/>
          <p:nvPr/>
        </p:nvSpPr>
        <p:spPr>
          <a:xfrm>
            <a:off x="3384728" y="2695194"/>
            <a:ext cx="231648" cy="260604"/>
          </a:xfrm>
          <a:custGeom>
            <a:avLst/>
            <a:gdLst/>
            <a:ahLst/>
            <a:cxnLst/>
            <a:rect l="l" t="t" r="r" b="b"/>
            <a:pathLst>
              <a:path w="231648" h="260604">
                <a:moveTo>
                  <a:pt x="0" y="43434"/>
                </a:moveTo>
                <a:cubicBezTo>
                  <a:pt x="0" y="67422"/>
                  <a:pt x="51856" y="86868"/>
                  <a:pt x="115824" y="86868"/>
                </a:cubicBezTo>
                <a:cubicBezTo>
                  <a:pt x="179792" y="86868"/>
                  <a:pt x="231648" y="67422"/>
                  <a:pt x="231648" y="43434"/>
                </a:cubicBezTo>
                <a:cubicBezTo>
                  <a:pt x="231648" y="19446"/>
                  <a:pt x="179792" y="0"/>
                  <a:pt x="115824" y="0"/>
                </a:cubicBezTo>
                <a:cubicBezTo>
                  <a:pt x="51856" y="0"/>
                  <a:pt x="0" y="19446"/>
                  <a:pt x="0" y="43434"/>
                </a:cubicBezTo>
                <a:moveTo>
                  <a:pt x="0" y="43434"/>
                </a:moveTo>
                <a:lnTo>
                  <a:pt x="0" y="130302"/>
                </a:lnTo>
                <a:cubicBezTo>
                  <a:pt x="0" y="154290"/>
                  <a:pt x="51856" y="173736"/>
                  <a:pt x="115824" y="173736"/>
                </a:cubicBezTo>
                <a:cubicBezTo>
                  <a:pt x="179792" y="173736"/>
                  <a:pt x="231648" y="154290"/>
                  <a:pt x="231648" y="130302"/>
                </a:cubicBezTo>
                <a:lnTo>
                  <a:pt x="231648" y="43434"/>
                </a:lnTo>
                <a:moveTo>
                  <a:pt x="0" y="130302"/>
                </a:moveTo>
                <a:lnTo>
                  <a:pt x="0" y="217170"/>
                </a:lnTo>
                <a:cubicBezTo>
                  <a:pt x="0" y="241158"/>
                  <a:pt x="51856" y="260604"/>
                  <a:pt x="115824" y="260604"/>
                </a:cubicBezTo>
                <a:cubicBezTo>
                  <a:pt x="179792" y="260604"/>
                  <a:pt x="231648" y="241158"/>
                  <a:pt x="231648" y="217170"/>
                </a:cubicBezTo>
                <a:lnTo>
                  <a:pt x="231648" y="13030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1" name="sc:rag/steps/1/body"/>
          <p:cNvSpPr txBox="1"/>
          <p:nvPr/>
        </p:nvSpPr>
        <p:spPr>
          <a:xfrm>
            <a:off x="3326816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chunks as vectors so related meanings are located near each other.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552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3" name="sc:rag/steps/2/title"/>
          <p:cNvSpPr txBox="1"/>
          <p:nvPr/>
        </p:nvSpPr>
        <p:spPr>
          <a:xfrm>
            <a:off x="6342736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rag/steps/2/icon"/>
          <p:cNvSpPr/>
          <p:nvPr/>
        </p:nvSpPr>
        <p:spPr>
          <a:xfrm>
            <a:off x="6102706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0" y="101346"/>
                </a:moveTo>
                <a:cubicBezTo>
                  <a:pt x="0" y="157318"/>
                  <a:pt x="45374" y="202692"/>
                  <a:pt x="101346" y="202692"/>
                </a:cubicBezTo>
                <a:cubicBezTo>
                  <a:pt x="157318" y="202692"/>
                  <a:pt x="202692" y="157318"/>
                  <a:pt x="202692" y="101346"/>
                </a:cubicBezTo>
                <a:cubicBezTo>
                  <a:pt x="202692" y="45374"/>
                  <a:pt x="157318" y="0"/>
                  <a:pt x="101346" y="0"/>
                </a:cubicBezTo>
                <a:cubicBezTo>
                  <a:pt x="45374" y="0"/>
                  <a:pt x="0" y="45374"/>
                  <a:pt x="0" y="101346"/>
                </a:cubicBezTo>
                <a:moveTo>
                  <a:pt x="260604" y="260604"/>
                </a:moveTo>
                <a:lnTo>
                  <a:pt x="173736" y="173736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5" name="sc:rag/steps/2/body"/>
          <p:cNvSpPr txBox="1"/>
          <p:nvPr/>
        </p:nvSpPr>
        <p:spPr>
          <a:xfrm>
            <a:off x="6059272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the request to relevant, authorized chunks at run time.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46007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rag/steps/3/title"/>
          <p:cNvSpPr txBox="1"/>
          <p:nvPr/>
        </p:nvSpPr>
        <p:spPr>
          <a:xfrm>
            <a:off x="9075191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with citations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rag/steps/3/icon"/>
          <p:cNvSpPr/>
          <p:nvPr/>
        </p:nvSpPr>
        <p:spPr>
          <a:xfrm>
            <a:off x="8835161" y="2709672"/>
            <a:ext cx="260604" cy="246126"/>
          </a:xfrm>
          <a:custGeom>
            <a:avLst/>
            <a:gdLst/>
            <a:ahLst/>
            <a:cxnLst/>
            <a:rect l="l" t="t" r="r" b="b"/>
            <a:pathLst>
              <a:path w="260604" h="246126">
                <a:moveTo>
                  <a:pt x="72390" y="72390"/>
                </a:moveTo>
                <a:lnTo>
                  <a:pt x="188214" y="72390"/>
                </a:lnTo>
                <a:moveTo>
                  <a:pt x="72390" y="130302"/>
                </a:moveTo>
                <a:lnTo>
                  <a:pt x="159258" y="130302"/>
                </a:lnTo>
                <a:moveTo>
                  <a:pt x="217170" y="0"/>
                </a:moveTo>
                <a:cubicBezTo>
                  <a:pt x="241158" y="0"/>
                  <a:pt x="260604" y="19446"/>
                  <a:pt x="260604" y="43434"/>
                </a:cubicBezTo>
                <a:lnTo>
                  <a:pt x="260604" y="159258"/>
                </a:lnTo>
                <a:cubicBezTo>
                  <a:pt x="260604" y="183246"/>
                  <a:pt x="241158" y="202692"/>
                  <a:pt x="217170" y="202692"/>
                </a:cubicBezTo>
                <a:lnTo>
                  <a:pt x="144780" y="202692"/>
                </a:lnTo>
                <a:lnTo>
                  <a:pt x="72390" y="246126"/>
                </a:lnTo>
                <a:lnTo>
                  <a:pt x="72390" y="202692"/>
                </a:lnTo>
                <a:lnTo>
                  <a:pt x="43434" y="202692"/>
                </a:lnTo>
                <a:cubicBezTo>
                  <a:pt x="19446" y="202692"/>
                  <a:pt x="0" y="183246"/>
                  <a:pt x="0" y="159258"/>
                </a:cubicBezTo>
                <a:lnTo>
                  <a:pt x="0" y="43434"/>
                </a:lnTo>
                <a:cubicBezTo>
                  <a:pt x="0" y="19446"/>
                  <a:pt x="19446" y="0"/>
                  <a:pt x="43434" y="0"/>
                </a:cubicBezTo>
                <a:lnTo>
                  <a:pt x="217170" y="0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9" name="sc:rag/steps/3/body"/>
          <p:cNvSpPr txBox="1"/>
          <p:nvPr/>
        </p:nvSpPr>
        <p:spPr>
          <a:xfrm>
            <a:off x="8791727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retrieved evidence and ask it to answer from that evidence.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rag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mpting-finetuning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10234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steers a model now, while fine-tuning changes behavior through training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mpting-finetuning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ADAPTATION CHOICE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547404"/>
            <a:ext cx="11094415" cy="524212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5547404"/>
            <a:ext cx="54864" cy="524212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prompting-finetuning/verdict"/>
          <p:cNvSpPr txBox="1"/>
          <p:nvPr/>
        </p:nvSpPr>
        <p:spPr>
          <a:xfrm>
            <a:off x="777240" y="5547404"/>
            <a:ext cx="10637215" cy="524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Start with prompting and retrieval; fine-tune only when evidence shows a persistent gap.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056100" y="1682496"/>
            <a:ext cx="3238614" cy="3700316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56684" y="1755648"/>
            <a:ext cx="30374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5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</a:t>
            </a:r>
            <a:endParaRPr lang="en-US" sz="85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prompting-finetuning/options/0/name"/>
          <p:cNvSpPr txBox="1"/>
          <p:nvPr/>
        </p:nvSpPr>
        <p:spPr>
          <a:xfrm>
            <a:off x="5156684" y="1956816"/>
            <a:ext cx="30374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</a:t>
            </a:r>
            <a:endParaRPr lang="en-US" sz="15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mpting-finetuning/options/0/summary"/>
          <p:cNvSpPr txBox="1"/>
          <p:nvPr/>
        </p:nvSpPr>
        <p:spPr>
          <a:xfrm>
            <a:off x="5156684" y="2231136"/>
            <a:ext cx="303744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Instructions and examples at request time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mpting-finetuning/options/1/name"/>
          <p:cNvSpPr txBox="1"/>
          <p:nvPr/>
        </p:nvSpPr>
        <p:spPr>
          <a:xfrm>
            <a:off x="8468449" y="1755648"/>
            <a:ext cx="30374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mpting-finetuning/options/1/summary"/>
          <p:cNvSpPr txBox="1"/>
          <p:nvPr/>
        </p:nvSpPr>
        <p:spPr>
          <a:xfrm>
            <a:off x="8468449" y="2029968"/>
            <a:ext cx="303744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training on representative examples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2660904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14" name="sc:prompting-finetuning/criteria/0/name"/>
          <p:cNvSpPr txBox="1"/>
          <p:nvPr/>
        </p:nvSpPr>
        <p:spPr>
          <a:xfrm>
            <a:off x="548640" y="2752344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prompting-finetuning/cells/0/0"/>
          <p:cNvSpPr txBox="1"/>
          <p:nvPr/>
        </p:nvSpPr>
        <p:spPr>
          <a:xfrm>
            <a:off x="5156684" y="2734056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task or policy changes often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prompting-finetuning/cells/0/1"/>
          <p:cNvSpPr txBox="1"/>
          <p:nvPr/>
        </p:nvSpPr>
        <p:spPr>
          <a:xfrm>
            <a:off x="8468449" y="2734056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needs a stable, repeatable pattern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3341381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8" name="sc:prompting-finetuning/criteria/1/name"/>
          <p:cNvSpPr txBox="1"/>
          <p:nvPr/>
        </p:nvSpPr>
        <p:spPr>
          <a:xfrm>
            <a:off x="548640" y="3432821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prompting-finetuning/cells/1/0"/>
          <p:cNvSpPr txBox="1"/>
          <p:nvPr/>
        </p:nvSpPr>
        <p:spPr>
          <a:xfrm>
            <a:off x="5156684" y="3414533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context and instructions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prompting-finetuning/cells/1/1"/>
          <p:cNvSpPr txBox="1"/>
          <p:nvPr/>
        </p:nvSpPr>
        <p:spPr>
          <a:xfrm>
            <a:off x="8468449" y="3414533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Learned model behavior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48640" y="402185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2" name="sc:prompting-finetuning/criteria/2/name"/>
          <p:cNvSpPr txBox="1"/>
          <p:nvPr/>
        </p:nvSpPr>
        <p:spPr>
          <a:xfrm>
            <a:off x="548640" y="4113298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project work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prompting-finetuning/cells/2/0"/>
          <p:cNvSpPr txBox="1"/>
          <p:nvPr/>
        </p:nvSpPr>
        <p:spPr>
          <a:xfrm>
            <a:off x="5156684" y="4095010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prompts, templates, retrieval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prompting-finetuning/cells/2/1"/>
          <p:cNvSpPr txBox="1"/>
          <p:nvPr/>
        </p:nvSpPr>
        <p:spPr>
          <a:xfrm>
            <a:off x="8468449" y="4095010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Curate, label, split, and test a training set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48640" y="4702335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6" name="sc:prompting-finetuning/criteria/3/name"/>
          <p:cNvSpPr txBox="1"/>
          <p:nvPr/>
        </p:nvSpPr>
        <p:spPr>
          <a:xfrm>
            <a:off x="548640" y="4793775"/>
            <a:ext cx="4288004" cy="497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governance need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prompting-finetuning/cells/3/0"/>
          <p:cNvSpPr txBox="1"/>
          <p:nvPr/>
        </p:nvSpPr>
        <p:spPr>
          <a:xfrm>
            <a:off x="5156684" y="4775487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prompts and test regressions</a:t>
            </a:r>
            <a:endParaRPr lang="en-US" sz="13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c:prompting-finetuning/cells/3/1"/>
          <p:cNvSpPr txBox="1"/>
          <p:nvPr/>
        </p:nvSpPr>
        <p:spPr>
          <a:xfrm>
            <a:off x="8468449" y="4775487"/>
            <a:ext cx="3037446" cy="534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 kern="400000">
                <a:solidFill>
                  <a:srgbClr val="2336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data quality, privacy, and evaluation</a:t>
            </a:r>
            <a:endParaRPr lang="en-US" sz="1300" dirty="0" kern="400000">
              <a:solidFill>
                <a:srgbClr val="23364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" y="5382812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0" name="sc:prompting-finetuning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prompt-engineer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Prompt engineering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ine-tun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Fine-tuning guide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allucination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7443787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Hallucinations are plausible but unsupported outputs, so systems need multiple reduction layers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allucination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hallucinations/points/0/icon"/>
          <p:cNvSpPr/>
          <p:nvPr/>
        </p:nvSpPr>
        <p:spPr>
          <a:xfrm>
            <a:off x="825246" y="2013966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0" y="112014"/>
                </a:moveTo>
                <a:cubicBezTo>
                  <a:pt x="0" y="173878"/>
                  <a:pt x="50150" y="224028"/>
                  <a:pt x="112014" y="224028"/>
                </a:cubicBezTo>
                <a:cubicBezTo>
                  <a:pt x="173878" y="224028"/>
                  <a:pt x="224028" y="173878"/>
                  <a:pt x="224028" y="112014"/>
                </a:cubicBezTo>
                <a:cubicBezTo>
                  <a:pt x="224028" y="50150"/>
                  <a:pt x="173878" y="0"/>
                  <a:pt x="112014" y="0"/>
                </a:cubicBezTo>
                <a:cubicBezTo>
                  <a:pt x="50150" y="0"/>
                  <a:pt x="0" y="50150"/>
                  <a:pt x="0" y="112014"/>
                </a:cubicBezTo>
                <a:moveTo>
                  <a:pt x="288036" y="288036"/>
                </a:moveTo>
                <a:lnTo>
                  <a:pt x="192024" y="192024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7" name="sc:hallucinations/points/0/heading"/>
          <p:cNvSpPr txBox="1"/>
          <p:nvPr/>
        </p:nvSpPr>
        <p:spPr>
          <a:xfrm>
            <a:off x="777240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each answer in approved evidence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hape 7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hallucinations/points/1/icon"/>
          <p:cNvSpPr/>
          <p:nvPr/>
        </p:nvSpPr>
        <p:spPr>
          <a:xfrm>
            <a:off x="3699434" y="2029968"/>
            <a:ext cx="240030" cy="272034"/>
          </a:xfrm>
          <a:custGeom>
            <a:avLst/>
            <a:gdLst/>
            <a:ahLst/>
            <a:cxnLst/>
            <a:rect l="l" t="t" r="r" b="b"/>
            <a:pathLst>
              <a:path w="240030" h="272034">
                <a:moveTo>
                  <a:pt x="73849" y="256032"/>
                </a:moveTo>
                <a:lnTo>
                  <a:pt x="32004" y="256032"/>
                </a:lnTo>
                <a:cubicBezTo>
                  <a:pt x="14329" y="256032"/>
                  <a:pt x="0" y="241703"/>
                  <a:pt x="0" y="224028"/>
                </a:cubicBezTo>
                <a:lnTo>
                  <a:pt x="0" y="32004"/>
                </a:lnTo>
                <a:cubicBezTo>
                  <a:pt x="0" y="14329"/>
                  <a:pt x="14329" y="0"/>
                  <a:pt x="32004" y="0"/>
                </a:cubicBezTo>
                <a:lnTo>
                  <a:pt x="160020" y="0"/>
                </a:lnTo>
                <a:cubicBezTo>
                  <a:pt x="177695" y="0"/>
                  <a:pt x="192024" y="14329"/>
                  <a:pt x="192024" y="32004"/>
                </a:cubicBezTo>
                <a:lnTo>
                  <a:pt x="192024" y="160020"/>
                </a:lnTo>
                <a:moveTo>
                  <a:pt x="144018" y="240030"/>
                </a:moveTo>
                <a:lnTo>
                  <a:pt x="176022" y="272034"/>
                </a:lnTo>
                <a:lnTo>
                  <a:pt x="240030" y="208026"/>
                </a:lnTo>
                <a:moveTo>
                  <a:pt x="64008" y="64008"/>
                </a:moveTo>
                <a:lnTo>
                  <a:pt x="128016" y="64008"/>
                </a:lnTo>
                <a:moveTo>
                  <a:pt x="64008" y="128016"/>
                </a:moveTo>
                <a:lnTo>
                  <a:pt x="96012" y="128016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1" name="sc:hallucinations/points/1/heading"/>
          <p:cNvSpPr txBox="1"/>
          <p:nvPr/>
        </p:nvSpPr>
        <p:spPr>
          <a:xfrm>
            <a:off x="3619424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 important outputs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4" name="sc:hallucinations/points/2/icon"/>
          <p:cNvSpPr/>
          <p:nvPr/>
        </p:nvSpPr>
        <p:spPr>
          <a:xfrm>
            <a:off x="6509614" y="2029968"/>
            <a:ext cx="288036" cy="272034"/>
          </a:xfrm>
          <a:custGeom>
            <a:avLst/>
            <a:gdLst/>
            <a:ahLst/>
            <a:cxnLst/>
            <a:rect l="l" t="t" r="r" b="b"/>
            <a:pathLst>
              <a:path w="288036" h="272034">
                <a:moveTo>
                  <a:pt x="80010" y="80010"/>
                </a:moveTo>
                <a:lnTo>
                  <a:pt x="208026" y="80010"/>
                </a:lnTo>
                <a:moveTo>
                  <a:pt x="80010" y="144018"/>
                </a:moveTo>
                <a:lnTo>
                  <a:pt x="176022" y="144018"/>
                </a:lnTo>
                <a:moveTo>
                  <a:pt x="240030" y="0"/>
                </a:moveTo>
                <a:cubicBezTo>
                  <a:pt x="266543" y="0"/>
                  <a:pt x="288036" y="21493"/>
                  <a:pt x="288036" y="48006"/>
                </a:cubicBezTo>
                <a:lnTo>
                  <a:pt x="288036" y="176022"/>
                </a:lnTo>
                <a:cubicBezTo>
                  <a:pt x="288036" y="202535"/>
                  <a:pt x="266543" y="224028"/>
                  <a:pt x="240030" y="224028"/>
                </a:cubicBezTo>
                <a:lnTo>
                  <a:pt x="160020" y="224028"/>
                </a:lnTo>
                <a:lnTo>
                  <a:pt x="80010" y="272034"/>
                </a:lnTo>
                <a:lnTo>
                  <a:pt x="80010" y="224028"/>
                </a:lnTo>
                <a:lnTo>
                  <a:pt x="48006" y="224028"/>
                </a:lnTo>
                <a:cubicBezTo>
                  <a:pt x="21493" y="224028"/>
                  <a:pt x="0" y="202535"/>
                  <a:pt x="0" y="176022"/>
                </a:cubicBezTo>
                <a:lnTo>
                  <a:pt x="0" y="48006"/>
                </a:lnTo>
                <a:cubicBezTo>
                  <a:pt x="0" y="21493"/>
                  <a:pt x="21493" y="0"/>
                  <a:pt x="48006" y="0"/>
                </a:cubicBezTo>
                <a:lnTo>
                  <a:pt x="240030" y="0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5" name="sc:hallucinations/points/2/heading"/>
          <p:cNvSpPr txBox="1"/>
          <p:nvPr/>
        </p:nvSpPr>
        <p:spPr>
          <a:xfrm>
            <a:off x="6461608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 or escalate ambiguity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7" name="Shape 15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8" name="sc:hallucinations/points/3/icon"/>
          <p:cNvSpPr/>
          <p:nvPr/>
        </p:nvSpPr>
        <p:spPr>
          <a:xfrm>
            <a:off x="9367799" y="2023794"/>
            <a:ext cx="256032" cy="268380"/>
          </a:xfrm>
          <a:custGeom>
            <a:avLst/>
            <a:gdLst/>
            <a:ahLst/>
            <a:cxnLst/>
            <a:rect l="l" t="t" r="r" b="b"/>
            <a:pathLst>
              <a:path w="256032" h="268380">
                <a:moveTo>
                  <a:pt x="256032" y="118188"/>
                </a:moveTo>
                <a:cubicBezTo>
                  <a:pt x="247987" y="60301"/>
                  <a:pt x="202199" y="14958"/>
                  <a:pt x="144237" y="7479"/>
                </a:cubicBezTo>
                <a:cubicBezTo>
                  <a:pt x="86274" y="0"/>
                  <a:pt x="30476" y="32235"/>
                  <a:pt x="8001" y="86184"/>
                </a:cubicBezTo>
                <a:moveTo>
                  <a:pt x="0" y="22176"/>
                </a:moveTo>
                <a:lnTo>
                  <a:pt x="0" y="86184"/>
                </a:lnTo>
                <a:lnTo>
                  <a:pt x="64008" y="86184"/>
                </a:lnTo>
                <a:moveTo>
                  <a:pt x="0" y="150192"/>
                </a:moveTo>
                <a:cubicBezTo>
                  <a:pt x="8045" y="208079"/>
                  <a:pt x="53833" y="253422"/>
                  <a:pt x="111795" y="260901"/>
                </a:cubicBezTo>
                <a:cubicBezTo>
                  <a:pt x="169758" y="268380"/>
                  <a:pt x="225556" y="236145"/>
                  <a:pt x="248031" y="182196"/>
                </a:cubicBezTo>
                <a:moveTo>
                  <a:pt x="256032" y="246204"/>
                </a:moveTo>
                <a:lnTo>
                  <a:pt x="256032" y="182196"/>
                </a:lnTo>
                <a:lnTo>
                  <a:pt x="192024" y="182196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9" name="sc:hallucinations/points/3/heading"/>
          <p:cNvSpPr txBox="1"/>
          <p:nvPr/>
        </p:nvSpPr>
        <p:spPr>
          <a:xfrm>
            <a:off x="9303791" y="2551176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 the knowledge base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hallucinations/points/0/body"/>
          <p:cNvSpPr txBox="1"/>
          <p:nvPr/>
        </p:nvSpPr>
        <p:spPr>
          <a:xfrm>
            <a:off x="777240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trusted sources and require citations where users need to verify an answer.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hallucinations/points/1/body"/>
          <p:cNvSpPr txBox="1"/>
          <p:nvPr/>
        </p:nvSpPr>
        <p:spPr>
          <a:xfrm>
            <a:off x="3619424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structured schemas, validation, and policy checks before a response or action is accepted.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hallucinations/points/2/body"/>
          <p:cNvSpPr txBox="1"/>
          <p:nvPr/>
        </p:nvSpPr>
        <p:spPr>
          <a:xfrm>
            <a:off x="6461608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missing context and route high-consequence cases to a qualified person.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hallucinations/points/3/body"/>
          <p:cNvSpPr txBox="1"/>
          <p:nvPr/>
        </p:nvSpPr>
        <p:spPr>
          <a:xfrm>
            <a:off x="9303791" y="3203448"/>
            <a:ext cx="2110664" cy="2639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provenance, access, freshness, and review rules for the sources used at run time.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hallucination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arxiv.org/abs/2005.11401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Lewis et al. — Retrieval-Augmented Generation for Knowledge-Intensive NLP Tasks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ool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68007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 lets a model act, and function calling supplies the controlled contract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ool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ACTION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508760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6" name="sc:tools/steps/0/icon"/>
          <p:cNvSpPr/>
          <p:nvPr/>
        </p:nvSpPr>
        <p:spPr>
          <a:xfrm>
            <a:off x="583448" y="2585984"/>
            <a:ext cx="273985" cy="273985"/>
          </a:xfrm>
          <a:custGeom>
            <a:avLst/>
            <a:gdLst/>
            <a:ahLst/>
            <a:cxnLst/>
            <a:rect l="l" t="t" r="r" b="b"/>
            <a:pathLst>
              <a:path w="273985" h="273985">
                <a:moveTo>
                  <a:pt x="66538" y="109972"/>
                </a:moveTo>
                <a:lnTo>
                  <a:pt x="109972" y="109972"/>
                </a:lnTo>
                <a:lnTo>
                  <a:pt x="109972" y="66538"/>
                </a:lnTo>
                <a:lnTo>
                  <a:pt x="59299" y="15865"/>
                </a:lnTo>
                <a:cubicBezTo>
                  <a:pt x="92518" y="0"/>
                  <a:pt x="132130" y="6796"/>
                  <a:pt x="158161" y="32827"/>
                </a:cubicBezTo>
                <a:cubicBezTo>
                  <a:pt x="184192" y="58858"/>
                  <a:pt x="190988" y="98470"/>
                  <a:pt x="175123" y="131689"/>
                </a:cubicBezTo>
                <a:lnTo>
                  <a:pt x="261991" y="218557"/>
                </a:lnTo>
                <a:cubicBezTo>
                  <a:pt x="273985" y="230551"/>
                  <a:pt x="273985" y="249997"/>
                  <a:pt x="261991" y="261991"/>
                </a:cubicBezTo>
                <a:cubicBezTo>
                  <a:pt x="249997" y="273985"/>
                  <a:pt x="230551" y="273985"/>
                  <a:pt x="218557" y="261991"/>
                </a:cubicBezTo>
                <a:lnTo>
                  <a:pt x="131689" y="175123"/>
                </a:lnTo>
                <a:cubicBezTo>
                  <a:pt x="98470" y="190988"/>
                  <a:pt x="58858" y="184192"/>
                  <a:pt x="32827" y="158161"/>
                </a:cubicBezTo>
                <a:cubicBezTo>
                  <a:pt x="6796" y="132130"/>
                  <a:pt x="0" y="92518"/>
                  <a:pt x="15865" y="59299"/>
                </a:cubicBezTo>
                <a:lnTo>
                  <a:pt x="66538" y="109972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7" name="sc:tools/steps/0/title"/>
          <p:cNvSpPr txBox="1"/>
          <p:nvPr/>
        </p:nvSpPr>
        <p:spPr>
          <a:xfrm>
            <a:off x="548640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Declare allowed tools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tools/steps/0/body"/>
          <p:cNvSpPr txBox="1"/>
          <p:nvPr/>
        </p:nvSpPr>
        <p:spPr>
          <a:xfrm>
            <a:off x="548640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each operation with a name, purpose, and typed input schema.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3413684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373804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11" name="sc:tools/steps/1/icon"/>
          <p:cNvSpPr/>
          <p:nvPr/>
        </p:nvSpPr>
        <p:spPr>
          <a:xfrm>
            <a:off x="3457118" y="2609088"/>
            <a:ext cx="260604" cy="231648"/>
          </a:xfrm>
          <a:custGeom>
            <a:avLst/>
            <a:gdLst/>
            <a:ahLst/>
            <a:cxnLst/>
            <a:rect l="l" t="t" r="r" b="b"/>
            <a:pathLst>
              <a:path w="260604" h="231648">
                <a:moveTo>
                  <a:pt x="57912" y="57912"/>
                </a:moveTo>
                <a:lnTo>
                  <a:pt x="0" y="115824"/>
                </a:lnTo>
                <a:lnTo>
                  <a:pt x="57912" y="173736"/>
                </a:lnTo>
                <a:moveTo>
                  <a:pt x="202692" y="57912"/>
                </a:moveTo>
                <a:lnTo>
                  <a:pt x="260604" y="115824"/>
                </a:lnTo>
                <a:lnTo>
                  <a:pt x="202692" y="173736"/>
                </a:lnTo>
                <a:moveTo>
                  <a:pt x="159258" y="0"/>
                </a:moveTo>
                <a:lnTo>
                  <a:pt x="101346" y="231648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12" name="sc:tools/steps/1/title"/>
          <p:cNvSpPr txBox="1"/>
          <p:nvPr/>
        </p:nvSpPr>
        <p:spPr>
          <a:xfrm>
            <a:off x="3413684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 structured call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ools/steps/1/body"/>
          <p:cNvSpPr txBox="1"/>
          <p:nvPr/>
        </p:nvSpPr>
        <p:spPr>
          <a:xfrm>
            <a:off x="3413684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selects a tool and produces arguments that match the schema.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6278728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238848" y="2071116"/>
            <a:ext cx="1813484" cy="0"/>
          </a:xfrm>
          <a:prstGeom prst="line">
            <a:avLst/>
          </a:prstGeom>
          <a:noFill/>
          <a:ln w="12700">
            <a:solidFill>
              <a:srgbClr val="C9D2DE"/>
            </a:solidFill>
            <a:prstDash val="solid"/>
            <a:tailEnd type="triangle"/>
          </a:ln>
        </p:spPr>
      </p:sp>
      <p:sp>
        <p:nvSpPr>
          <p:cNvPr id="16" name="sc:tools/steps/2/icon"/>
          <p:cNvSpPr/>
          <p:nvPr/>
        </p:nvSpPr>
        <p:spPr>
          <a:xfrm>
            <a:off x="6302623" y="2594610"/>
            <a:ext cx="282730" cy="260604"/>
          </a:xfrm>
          <a:custGeom>
            <a:avLst/>
            <a:gdLst/>
            <a:ahLst/>
            <a:cxnLst/>
            <a:rect l="l" t="t" r="r" b="b"/>
            <a:pathLst>
              <a:path w="282730" h="260604">
                <a:moveTo>
                  <a:pt x="142023" y="258374"/>
                </a:moveTo>
                <a:cubicBezTo>
                  <a:pt x="51325" y="230260"/>
                  <a:pt x="0" y="134536"/>
                  <a:pt x="26778" y="43434"/>
                </a:cubicBezTo>
                <a:cubicBezTo>
                  <a:pt x="71884" y="45498"/>
                  <a:pt x="116023" y="29920"/>
                  <a:pt x="149841" y="0"/>
                </a:cubicBezTo>
                <a:cubicBezTo>
                  <a:pt x="183659" y="29920"/>
                  <a:pt x="227797" y="45498"/>
                  <a:pt x="272904" y="43434"/>
                </a:cubicBezTo>
                <a:cubicBezTo>
                  <a:pt x="282730" y="76865"/>
                  <a:pt x="282276" y="112479"/>
                  <a:pt x="271601" y="145649"/>
                </a:cubicBezTo>
                <a:moveTo>
                  <a:pt x="193275" y="231648"/>
                </a:moveTo>
                <a:lnTo>
                  <a:pt x="222231" y="260604"/>
                </a:lnTo>
                <a:lnTo>
                  <a:pt x="280143" y="202692"/>
                </a:ln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17" name="sc:tools/steps/2/title"/>
          <p:cNvSpPr txBox="1"/>
          <p:nvPr/>
        </p:nvSpPr>
        <p:spPr>
          <a:xfrm>
            <a:off x="6278728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and execute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tools/steps/2/body"/>
          <p:cNvSpPr txBox="1"/>
          <p:nvPr/>
        </p:nvSpPr>
        <p:spPr>
          <a:xfrm>
            <a:off x="6278728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application checks authorization, policy, and inputs before acting.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9143771" y="1682496"/>
            <a:ext cx="1005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8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8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ools/steps/3/icon"/>
          <p:cNvSpPr/>
          <p:nvPr/>
        </p:nvSpPr>
        <p:spPr>
          <a:xfrm>
            <a:off x="9187205" y="2638044"/>
            <a:ext cx="260604" cy="173736"/>
          </a:xfrm>
          <a:custGeom>
            <a:avLst/>
            <a:gdLst/>
            <a:ahLst/>
            <a:cxnLst/>
            <a:rect l="l" t="t" r="r" b="b"/>
            <a:pathLst>
              <a:path w="260604" h="173736">
                <a:moveTo>
                  <a:pt x="101346" y="86868"/>
                </a:moveTo>
                <a:cubicBezTo>
                  <a:pt x="101346" y="102860"/>
                  <a:pt x="114310" y="115824"/>
                  <a:pt x="130302" y="115824"/>
                </a:cubicBezTo>
                <a:cubicBezTo>
                  <a:pt x="146294" y="115824"/>
                  <a:pt x="159258" y="102860"/>
                  <a:pt x="159258" y="86868"/>
                </a:cubicBezTo>
                <a:cubicBezTo>
                  <a:pt x="159258" y="70876"/>
                  <a:pt x="146294" y="57912"/>
                  <a:pt x="130302" y="57912"/>
                </a:cubicBezTo>
                <a:cubicBezTo>
                  <a:pt x="114310" y="57912"/>
                  <a:pt x="101346" y="70876"/>
                  <a:pt x="101346" y="86868"/>
                </a:cubicBezTo>
                <a:moveTo>
                  <a:pt x="260604" y="86868"/>
                </a:moveTo>
                <a:cubicBezTo>
                  <a:pt x="225857" y="144780"/>
                  <a:pt x="182423" y="173736"/>
                  <a:pt x="130302" y="173736"/>
                </a:cubicBezTo>
                <a:cubicBezTo>
                  <a:pt x="78181" y="173736"/>
                  <a:pt x="34747" y="144780"/>
                  <a:pt x="0" y="86868"/>
                </a:cubicBezTo>
                <a:cubicBezTo>
                  <a:pt x="34747" y="28956"/>
                  <a:pt x="78181" y="0"/>
                  <a:pt x="130302" y="0"/>
                </a:cubicBezTo>
                <a:cubicBezTo>
                  <a:pt x="182423" y="0"/>
                  <a:pt x="225857" y="28956"/>
                  <a:pt x="260604" y="86868"/>
                </a:cubicBezTo>
              </a:path>
            </a:pathLst>
          </a:custGeom>
          <a:ln w="28956">
            <a:solidFill>
              <a:srgbClr val="1F5FBF"/>
            </a:solidFill>
            <a:prstDash val="solid"/>
          </a:ln>
        </p:spPr>
      </p:sp>
      <p:sp>
        <p:nvSpPr>
          <p:cNvPr id="21" name="sc:tools/steps/3/title"/>
          <p:cNvSpPr txBox="1"/>
          <p:nvPr/>
        </p:nvSpPr>
        <p:spPr>
          <a:xfrm>
            <a:off x="9143771" y="3081528"/>
            <a:ext cx="24992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the result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tools/steps/3/body"/>
          <p:cNvSpPr txBox="1"/>
          <p:nvPr/>
        </p:nvSpPr>
        <p:spPr>
          <a:xfrm>
            <a:off x="9143771" y="3721608"/>
            <a:ext cx="2499284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a bounded result to the model and log the action for review.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tool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function-call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Function calling guide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gent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6864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repeat plan–act–observe loops, with memory treated as managed state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gent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agents/steps/0/title"/>
          <p:cNvSpPr txBox="1"/>
          <p:nvPr/>
        </p:nvSpPr>
        <p:spPr>
          <a:xfrm>
            <a:off x="713232" y="1682496"/>
            <a:ext cx="260078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agents/steps/0/icon"/>
          <p:cNvSpPr/>
          <p:nvPr/>
        </p:nvSpPr>
        <p:spPr>
          <a:xfrm>
            <a:off x="637794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0" y="231648"/>
                </a:moveTo>
                <a:cubicBezTo>
                  <a:pt x="0" y="247640"/>
                  <a:pt x="12964" y="260604"/>
                  <a:pt x="28956" y="260604"/>
                </a:cubicBezTo>
                <a:cubicBezTo>
                  <a:pt x="44948" y="260604"/>
                  <a:pt x="57912" y="247640"/>
                  <a:pt x="57912" y="231648"/>
                </a:cubicBezTo>
                <a:cubicBezTo>
                  <a:pt x="57912" y="215656"/>
                  <a:pt x="44948" y="202692"/>
                  <a:pt x="28956" y="202692"/>
                </a:cubicBezTo>
                <a:cubicBezTo>
                  <a:pt x="12964" y="202692"/>
                  <a:pt x="0" y="215656"/>
                  <a:pt x="0" y="231648"/>
                </a:cubicBezTo>
                <a:moveTo>
                  <a:pt x="231648" y="57912"/>
                </a:moveTo>
                <a:cubicBezTo>
                  <a:pt x="247640" y="57912"/>
                  <a:pt x="260604" y="44948"/>
                  <a:pt x="260604" y="28956"/>
                </a:cubicBezTo>
                <a:cubicBezTo>
                  <a:pt x="260604" y="12964"/>
                  <a:pt x="247640" y="0"/>
                  <a:pt x="231648" y="0"/>
                </a:cubicBezTo>
                <a:cubicBezTo>
                  <a:pt x="215656" y="0"/>
                  <a:pt x="202692" y="12964"/>
                  <a:pt x="202692" y="28956"/>
                </a:cubicBezTo>
                <a:cubicBezTo>
                  <a:pt x="202692" y="44948"/>
                  <a:pt x="215656" y="57912"/>
                  <a:pt x="231648" y="57912"/>
                </a:cubicBezTo>
                <a:moveTo>
                  <a:pt x="115824" y="231648"/>
                </a:moveTo>
                <a:lnTo>
                  <a:pt x="195453" y="231648"/>
                </a:lnTo>
                <a:cubicBezTo>
                  <a:pt x="223439" y="231648"/>
                  <a:pt x="246126" y="208961"/>
                  <a:pt x="246126" y="180975"/>
                </a:cubicBezTo>
                <a:cubicBezTo>
                  <a:pt x="246126" y="152989"/>
                  <a:pt x="223439" y="130302"/>
                  <a:pt x="195453" y="130302"/>
                </a:cubicBezTo>
                <a:lnTo>
                  <a:pt x="79629" y="130302"/>
                </a:lnTo>
                <a:cubicBezTo>
                  <a:pt x="51643" y="130302"/>
                  <a:pt x="28956" y="107615"/>
                  <a:pt x="28956" y="79629"/>
                </a:cubicBezTo>
                <a:cubicBezTo>
                  <a:pt x="28956" y="51643"/>
                  <a:pt x="51643" y="28956"/>
                  <a:pt x="79629" y="28956"/>
                </a:cubicBezTo>
                <a:lnTo>
                  <a:pt x="144780" y="28956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7" name="sc:agents/steps/0/body"/>
          <p:cNvSpPr txBox="1"/>
          <p:nvPr/>
        </p:nvSpPr>
        <p:spPr>
          <a:xfrm>
            <a:off x="594360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the goal, choose the next step, and define what success looks like.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81096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agents/steps/1/title"/>
          <p:cNvSpPr txBox="1"/>
          <p:nvPr/>
        </p:nvSpPr>
        <p:spPr>
          <a:xfrm>
            <a:off x="3610280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gents/steps/1/icon"/>
          <p:cNvSpPr/>
          <p:nvPr/>
        </p:nvSpPr>
        <p:spPr>
          <a:xfrm>
            <a:off x="3428162" y="2709672"/>
            <a:ext cx="188214" cy="231648"/>
          </a:xfrm>
          <a:custGeom>
            <a:avLst/>
            <a:gdLst/>
            <a:ahLst/>
            <a:cxnLst/>
            <a:rect l="l" t="t" r="r" b="b"/>
            <a:pathLst>
              <a:path w="188214" h="231648">
                <a:moveTo>
                  <a:pt x="0" y="0"/>
                </a:moveTo>
                <a:lnTo>
                  <a:pt x="0" y="231648"/>
                </a:lnTo>
                <a:lnTo>
                  <a:pt x="188214" y="115824"/>
                </a:lnTo>
                <a:lnTo>
                  <a:pt x="0" y="0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1" name="sc:agents/steps/1/body"/>
          <p:cNvSpPr txBox="1"/>
          <p:nvPr/>
        </p:nvSpPr>
        <p:spPr>
          <a:xfrm>
            <a:off x="3326816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a response or invoke an approved tool within explicit limits.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552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3" name="sc:agents/steps/2/title"/>
          <p:cNvSpPr txBox="1"/>
          <p:nvPr/>
        </p:nvSpPr>
        <p:spPr>
          <a:xfrm>
            <a:off x="6342736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gents/steps/2/icon"/>
          <p:cNvSpPr/>
          <p:nvPr/>
        </p:nvSpPr>
        <p:spPr>
          <a:xfrm>
            <a:off x="6102706" y="2738628"/>
            <a:ext cx="260604" cy="173736"/>
          </a:xfrm>
          <a:custGeom>
            <a:avLst/>
            <a:gdLst/>
            <a:ahLst/>
            <a:cxnLst/>
            <a:rect l="l" t="t" r="r" b="b"/>
            <a:pathLst>
              <a:path w="260604" h="173736">
                <a:moveTo>
                  <a:pt x="101346" y="86868"/>
                </a:moveTo>
                <a:cubicBezTo>
                  <a:pt x="101346" y="102860"/>
                  <a:pt x="114310" y="115824"/>
                  <a:pt x="130302" y="115824"/>
                </a:cubicBezTo>
                <a:cubicBezTo>
                  <a:pt x="146294" y="115824"/>
                  <a:pt x="159258" y="102860"/>
                  <a:pt x="159258" y="86868"/>
                </a:cubicBezTo>
                <a:cubicBezTo>
                  <a:pt x="159258" y="70876"/>
                  <a:pt x="146294" y="57912"/>
                  <a:pt x="130302" y="57912"/>
                </a:cubicBezTo>
                <a:cubicBezTo>
                  <a:pt x="114310" y="57912"/>
                  <a:pt x="101346" y="70876"/>
                  <a:pt x="101346" y="86868"/>
                </a:cubicBezTo>
                <a:moveTo>
                  <a:pt x="260604" y="86868"/>
                </a:moveTo>
                <a:cubicBezTo>
                  <a:pt x="225857" y="144780"/>
                  <a:pt x="182423" y="173736"/>
                  <a:pt x="130302" y="173736"/>
                </a:cubicBezTo>
                <a:cubicBezTo>
                  <a:pt x="78181" y="173736"/>
                  <a:pt x="34747" y="144780"/>
                  <a:pt x="0" y="86868"/>
                </a:cubicBezTo>
                <a:cubicBezTo>
                  <a:pt x="34747" y="28956"/>
                  <a:pt x="78181" y="0"/>
                  <a:pt x="130302" y="0"/>
                </a:cubicBezTo>
                <a:cubicBezTo>
                  <a:pt x="182423" y="0"/>
                  <a:pt x="225857" y="28956"/>
                  <a:pt x="260604" y="86868"/>
                </a:cubicBez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5" name="sc:agents/steps/2/body"/>
          <p:cNvSpPr txBox="1"/>
          <p:nvPr/>
        </p:nvSpPr>
        <p:spPr>
          <a:xfrm>
            <a:off x="6059272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tool result or user feedback and decide whether more work is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746007" y="1682496"/>
            <a:ext cx="2897048" cy="713232"/>
          </a:xfrm>
          <a:custGeom>
            <a:avLst/>
            <a:gdLst/>
            <a:ahLst/>
            <a:cxnLst/>
            <a:rect l="l" t="t" r="r" b="b"/>
            <a:pathLst>
              <a:path w="2897048" h="713232">
                <a:moveTo>
                  <a:pt x="0" y="0"/>
                </a:moveTo>
                <a:lnTo>
                  <a:pt x="2677592" y="0"/>
                </a:lnTo>
                <a:lnTo>
                  <a:pt x="2897048" y="356616"/>
                </a:lnTo>
                <a:lnTo>
                  <a:pt x="2677592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agents/steps/3/title"/>
          <p:cNvSpPr txBox="1"/>
          <p:nvPr/>
        </p:nvSpPr>
        <p:spPr>
          <a:xfrm>
            <a:off x="9075191" y="1682496"/>
            <a:ext cx="243619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memory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gents/steps/3/icon"/>
          <p:cNvSpPr/>
          <p:nvPr/>
        </p:nvSpPr>
        <p:spPr>
          <a:xfrm>
            <a:off x="8849639" y="2695194"/>
            <a:ext cx="231648" cy="260604"/>
          </a:xfrm>
          <a:custGeom>
            <a:avLst/>
            <a:gdLst/>
            <a:ahLst/>
            <a:cxnLst/>
            <a:rect l="l" t="t" r="r" b="b"/>
            <a:pathLst>
              <a:path w="231648" h="260604">
                <a:moveTo>
                  <a:pt x="0" y="43434"/>
                </a:moveTo>
                <a:cubicBezTo>
                  <a:pt x="0" y="67422"/>
                  <a:pt x="51856" y="86868"/>
                  <a:pt x="115824" y="86868"/>
                </a:cubicBezTo>
                <a:cubicBezTo>
                  <a:pt x="179792" y="86868"/>
                  <a:pt x="231648" y="67422"/>
                  <a:pt x="231648" y="43434"/>
                </a:cubicBezTo>
                <a:cubicBezTo>
                  <a:pt x="231648" y="19446"/>
                  <a:pt x="179792" y="0"/>
                  <a:pt x="115824" y="0"/>
                </a:cubicBezTo>
                <a:cubicBezTo>
                  <a:pt x="51856" y="0"/>
                  <a:pt x="0" y="19446"/>
                  <a:pt x="0" y="43434"/>
                </a:cubicBezTo>
                <a:moveTo>
                  <a:pt x="0" y="43434"/>
                </a:moveTo>
                <a:lnTo>
                  <a:pt x="0" y="130302"/>
                </a:lnTo>
                <a:cubicBezTo>
                  <a:pt x="0" y="154290"/>
                  <a:pt x="51856" y="173736"/>
                  <a:pt x="115824" y="173736"/>
                </a:cubicBezTo>
                <a:cubicBezTo>
                  <a:pt x="179792" y="173736"/>
                  <a:pt x="231648" y="154290"/>
                  <a:pt x="231648" y="130302"/>
                </a:cubicBezTo>
                <a:lnTo>
                  <a:pt x="231648" y="43434"/>
                </a:lnTo>
                <a:moveTo>
                  <a:pt x="0" y="130302"/>
                </a:moveTo>
                <a:lnTo>
                  <a:pt x="0" y="217170"/>
                </a:lnTo>
                <a:cubicBezTo>
                  <a:pt x="0" y="241158"/>
                  <a:pt x="51856" y="260604"/>
                  <a:pt x="115824" y="260604"/>
                </a:cubicBezTo>
                <a:cubicBezTo>
                  <a:pt x="179792" y="260604"/>
                  <a:pt x="231648" y="241158"/>
                  <a:pt x="231648" y="217170"/>
                </a:cubicBezTo>
                <a:lnTo>
                  <a:pt x="231648" y="130302"/>
                </a:lnTo>
              </a:path>
            </a:pathLst>
          </a:custGeom>
          <a:ln w="28956">
            <a:solidFill>
              <a:srgbClr val="5B6B7F"/>
            </a:solidFill>
            <a:prstDash val="solid"/>
          </a:ln>
        </p:spPr>
      </p:sp>
      <p:sp>
        <p:nvSpPr>
          <p:cNvPr id="19" name="sc:agents/steps/3/body"/>
          <p:cNvSpPr txBox="1"/>
          <p:nvPr/>
        </p:nvSpPr>
        <p:spPr>
          <a:xfrm>
            <a:off x="8791727" y="3182112"/>
            <a:ext cx="2586152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only useful state; separate short-lived context from durable, governed records.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agent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anthropic.com/engineering/building-effective-agent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Anthropic — Building effective agents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evals-guardrail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57499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and guardrails make quality, safety, and operational control testable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evals-guardrail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AND SAFETY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evals-guardrails/points/0/icon"/>
          <p:cNvSpPr/>
          <p:nvPr/>
        </p:nvSpPr>
        <p:spPr>
          <a:xfrm>
            <a:off x="596646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128016" y="144018"/>
                </a:moveTo>
                <a:cubicBezTo>
                  <a:pt x="128016" y="152856"/>
                  <a:pt x="135180" y="160020"/>
                  <a:pt x="144018" y="160020"/>
                </a:cubicBezTo>
                <a:cubicBezTo>
                  <a:pt x="152856" y="160020"/>
                  <a:pt x="160020" y="152856"/>
                  <a:pt x="160020" y="144018"/>
                </a:cubicBezTo>
                <a:cubicBezTo>
                  <a:pt x="160020" y="135180"/>
                  <a:pt x="152856" y="128016"/>
                  <a:pt x="144018" y="128016"/>
                </a:cubicBezTo>
                <a:cubicBezTo>
                  <a:pt x="135180" y="128016"/>
                  <a:pt x="128016" y="135180"/>
                  <a:pt x="128016" y="144018"/>
                </a:cubicBezTo>
                <a:moveTo>
                  <a:pt x="64008" y="144018"/>
                </a:moveTo>
                <a:cubicBezTo>
                  <a:pt x="64008" y="188206"/>
                  <a:pt x="99830" y="224028"/>
                  <a:pt x="144018" y="224028"/>
                </a:cubicBezTo>
                <a:cubicBezTo>
                  <a:pt x="188206" y="224028"/>
                  <a:pt x="224028" y="188206"/>
                  <a:pt x="224028" y="144018"/>
                </a:cubicBezTo>
                <a:cubicBezTo>
                  <a:pt x="224028" y="99830"/>
                  <a:pt x="188206" y="64008"/>
                  <a:pt x="144018" y="64008"/>
                </a:cubicBezTo>
                <a:cubicBezTo>
                  <a:pt x="99830" y="64008"/>
                  <a:pt x="64008" y="99830"/>
                  <a:pt x="64008" y="144018"/>
                </a:cubicBezTo>
                <a:moveTo>
                  <a:pt x="0" y="144018"/>
                </a:moveTo>
                <a:cubicBezTo>
                  <a:pt x="0" y="223557"/>
                  <a:pt x="64479" y="288036"/>
                  <a:pt x="144018" y="288036"/>
                </a:cubicBezTo>
                <a:cubicBezTo>
                  <a:pt x="223557" y="288036"/>
                  <a:pt x="288036" y="223557"/>
                  <a:pt x="288036" y="144018"/>
                </a:cubicBezTo>
                <a:cubicBezTo>
                  <a:pt x="288036" y="64479"/>
                  <a:pt x="223557" y="0"/>
                  <a:pt x="144018" y="0"/>
                </a:cubicBezTo>
                <a:cubicBezTo>
                  <a:pt x="64479" y="0"/>
                  <a:pt x="0" y="64479"/>
                  <a:pt x="0" y="144018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6" name="sc:evals-guardrails/points/0/heading"/>
          <p:cNvSpPr txBox="1"/>
          <p:nvPr/>
        </p:nvSpPr>
        <p:spPr>
          <a:xfrm>
            <a:off x="548640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success and failure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413684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8" name="sc:evals-guardrails/points/1/icon"/>
          <p:cNvSpPr/>
          <p:nvPr/>
        </p:nvSpPr>
        <p:spPr>
          <a:xfrm>
            <a:off x="3493694" y="2004822"/>
            <a:ext cx="240030" cy="288040"/>
          </a:xfrm>
          <a:custGeom>
            <a:avLst/>
            <a:gdLst/>
            <a:ahLst/>
            <a:cxnLst/>
            <a:rect l="l" t="t" r="r" b="b"/>
            <a:pathLst>
              <a:path w="240030" h="288040">
                <a:moveTo>
                  <a:pt x="0" y="288036"/>
                </a:moveTo>
                <a:lnTo>
                  <a:pt x="224028" y="288036"/>
                </a:lnTo>
                <a:moveTo>
                  <a:pt x="16002" y="240030"/>
                </a:moveTo>
                <a:lnTo>
                  <a:pt x="48006" y="240030"/>
                </a:lnTo>
                <a:moveTo>
                  <a:pt x="32004" y="240030"/>
                </a:moveTo>
                <a:lnTo>
                  <a:pt x="32004" y="288036"/>
                </a:lnTo>
                <a:moveTo>
                  <a:pt x="64008" y="128016"/>
                </a:moveTo>
                <a:lnTo>
                  <a:pt x="112014" y="176022"/>
                </a:lnTo>
                <a:lnTo>
                  <a:pt x="208026" y="80010"/>
                </a:lnTo>
                <a:lnTo>
                  <a:pt x="160020" y="32004"/>
                </a:lnTo>
                <a:lnTo>
                  <a:pt x="64008" y="128016"/>
                </a:lnTo>
                <a:moveTo>
                  <a:pt x="88011" y="152019"/>
                </a:moveTo>
                <a:lnTo>
                  <a:pt x="64008" y="176022"/>
                </a:lnTo>
                <a:moveTo>
                  <a:pt x="192024" y="0"/>
                </a:moveTo>
                <a:lnTo>
                  <a:pt x="240030" y="48006"/>
                </a:lnTo>
                <a:moveTo>
                  <a:pt x="112014" y="288036"/>
                </a:moveTo>
                <a:cubicBezTo>
                  <a:pt x="152917" y="288040"/>
                  <a:pt x="189332" y="262129"/>
                  <a:pt x="202735" y="223483"/>
                </a:cubicBezTo>
                <a:cubicBezTo>
                  <a:pt x="216137" y="184838"/>
                  <a:pt x="203584" y="141945"/>
                  <a:pt x="171461" y="116623"/>
                </a:cubicBez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9" name="sc:evals-guardrails/points/1/heading"/>
          <p:cNvSpPr txBox="1"/>
          <p:nvPr/>
        </p:nvSpPr>
        <p:spPr>
          <a:xfrm>
            <a:off x="3413684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before release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1" name="sc:evals-guardrails/points/2/icon"/>
          <p:cNvSpPr/>
          <p:nvPr/>
        </p:nvSpPr>
        <p:spPr>
          <a:xfrm>
            <a:off x="6305138" y="2004822"/>
            <a:ext cx="312491" cy="288036"/>
          </a:xfrm>
          <a:custGeom>
            <a:avLst/>
            <a:gdLst/>
            <a:ahLst/>
            <a:cxnLst/>
            <a:rect l="l" t="t" r="r" b="b"/>
            <a:pathLst>
              <a:path w="312491" h="288036">
                <a:moveTo>
                  <a:pt x="156972" y="285572"/>
                </a:moveTo>
                <a:cubicBezTo>
                  <a:pt x="56727" y="254498"/>
                  <a:pt x="0" y="148697"/>
                  <a:pt x="29597" y="48006"/>
                </a:cubicBezTo>
                <a:cubicBezTo>
                  <a:pt x="79451" y="50287"/>
                  <a:pt x="128236" y="33069"/>
                  <a:pt x="165614" y="0"/>
                </a:cubicBezTo>
                <a:cubicBezTo>
                  <a:pt x="202991" y="33069"/>
                  <a:pt x="251776" y="50287"/>
                  <a:pt x="301631" y="48006"/>
                </a:cubicBezTo>
                <a:cubicBezTo>
                  <a:pt x="312491" y="84956"/>
                  <a:pt x="311989" y="124319"/>
                  <a:pt x="300190" y="160980"/>
                </a:cubicBezTo>
                <a:moveTo>
                  <a:pt x="213620" y="256032"/>
                </a:moveTo>
                <a:lnTo>
                  <a:pt x="245624" y="288036"/>
                </a:lnTo>
                <a:lnTo>
                  <a:pt x="309632" y="224028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2" name="sc:evals-guardrails/points/2/heading"/>
          <p:cNvSpPr txBox="1"/>
          <p:nvPr/>
        </p:nvSpPr>
        <p:spPr>
          <a:xfrm>
            <a:off x="6278728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at run time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143771" y="1682496"/>
            <a:ext cx="2499284" cy="0"/>
          </a:xfrm>
          <a:custGeom>
            <a:avLst/>
            <a:gdLst/>
            <a:ahLst/>
            <a:cxnLst/>
            <a:rect l="0" t="0" r="r" b="b"/>
            <a:pathLst>
              <a:path w="2499284" h="0" fill="none">
                <a:moveTo>
                  <a:pt x="0" y="0"/>
                </a:moveTo>
                <a:lnTo>
                  <a:pt x="2499284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14" name="sc:evals-guardrails/points/3/icon"/>
          <p:cNvSpPr/>
          <p:nvPr/>
        </p:nvSpPr>
        <p:spPr>
          <a:xfrm>
            <a:off x="9223781" y="2004822"/>
            <a:ext cx="224028" cy="288036"/>
          </a:xfrm>
          <a:custGeom>
            <a:avLst/>
            <a:gdLst/>
            <a:ahLst/>
            <a:cxnLst/>
            <a:rect l="l" t="t" r="r" b="b"/>
            <a:pathLst>
              <a:path w="224028" h="288036">
                <a:moveTo>
                  <a:pt x="64008" y="32004"/>
                </a:moveTo>
                <a:lnTo>
                  <a:pt x="32004" y="32004"/>
                </a:lnTo>
                <a:cubicBezTo>
                  <a:pt x="14329" y="32004"/>
                  <a:pt x="0" y="46333"/>
                  <a:pt x="0" y="64008"/>
                </a:cubicBezTo>
                <a:lnTo>
                  <a:pt x="0" y="256032"/>
                </a:lnTo>
                <a:cubicBezTo>
                  <a:pt x="0" y="273707"/>
                  <a:pt x="14329" y="288036"/>
                  <a:pt x="32004" y="288036"/>
                </a:cubicBezTo>
                <a:lnTo>
                  <a:pt x="192024" y="288036"/>
                </a:lnTo>
                <a:cubicBezTo>
                  <a:pt x="209699" y="288036"/>
                  <a:pt x="224028" y="273707"/>
                  <a:pt x="224028" y="256032"/>
                </a:cubicBezTo>
                <a:lnTo>
                  <a:pt x="224028" y="64008"/>
                </a:lnTo>
                <a:cubicBezTo>
                  <a:pt x="224028" y="46333"/>
                  <a:pt x="209699" y="32004"/>
                  <a:pt x="192024" y="32004"/>
                </a:cubicBezTo>
                <a:lnTo>
                  <a:pt x="160020" y="32004"/>
                </a:lnTo>
                <a:moveTo>
                  <a:pt x="64008" y="32004"/>
                </a:moveTo>
                <a:cubicBezTo>
                  <a:pt x="64008" y="14329"/>
                  <a:pt x="78337" y="0"/>
                  <a:pt x="96012" y="0"/>
                </a:cubicBezTo>
                <a:lnTo>
                  <a:pt x="128016" y="0"/>
                </a:lnTo>
                <a:cubicBezTo>
                  <a:pt x="145691" y="0"/>
                  <a:pt x="160020" y="14329"/>
                  <a:pt x="160020" y="32004"/>
                </a:cubicBezTo>
                <a:cubicBezTo>
                  <a:pt x="160020" y="49679"/>
                  <a:pt x="145691" y="64008"/>
                  <a:pt x="128016" y="64008"/>
                </a:cubicBezTo>
                <a:lnTo>
                  <a:pt x="96012" y="64008"/>
                </a:lnTo>
                <a:cubicBezTo>
                  <a:pt x="78337" y="64008"/>
                  <a:pt x="64008" y="49679"/>
                  <a:pt x="64008" y="32004"/>
                </a:cubicBezTo>
                <a:moveTo>
                  <a:pt x="64008" y="224028"/>
                </a:moveTo>
                <a:lnTo>
                  <a:pt x="64008" y="144018"/>
                </a:lnTo>
                <a:moveTo>
                  <a:pt x="112014" y="224028"/>
                </a:moveTo>
                <a:lnTo>
                  <a:pt x="112014" y="208026"/>
                </a:lnTo>
                <a:moveTo>
                  <a:pt x="160020" y="224028"/>
                </a:moveTo>
                <a:lnTo>
                  <a:pt x="160020" y="176022"/>
                </a:lnTo>
              </a:path>
            </a:pathLst>
          </a:custGeom>
          <a:ln w="32004">
            <a:solidFill>
              <a:srgbClr val="1F5FBF"/>
            </a:solidFill>
            <a:prstDash val="solid"/>
          </a:ln>
        </p:spPr>
      </p:sp>
      <p:sp>
        <p:nvSpPr>
          <p:cNvPr id="15" name="sc:evals-guardrails/points/3/heading"/>
          <p:cNvSpPr txBox="1"/>
          <p:nvPr/>
        </p:nvSpPr>
        <p:spPr>
          <a:xfrm>
            <a:off x="9143771" y="2542032"/>
            <a:ext cx="249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in production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evals-guardrails/points/0/body"/>
          <p:cNvSpPr txBox="1"/>
          <p:nvPr/>
        </p:nvSpPr>
        <p:spPr>
          <a:xfrm>
            <a:off x="548640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representative tasks, expected outcomes, and unacceptable failure modes into an evaluation set.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evals-guardrails/points/1/body"/>
          <p:cNvSpPr txBox="1"/>
          <p:nvPr/>
        </p:nvSpPr>
        <p:spPr>
          <a:xfrm>
            <a:off x="3413684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quality, safety, and tool-use behavior against agreed acceptance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evals-guardrails/points/2/body"/>
          <p:cNvSpPr txBox="1"/>
          <p:nvPr/>
        </p:nvSpPr>
        <p:spPr>
          <a:xfrm>
            <a:off x="6278728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access controls, content policies, schemas, approvals, and human escalation.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evals-guardrails/points/3/body"/>
          <p:cNvSpPr txBox="1"/>
          <p:nvPr/>
        </p:nvSpPr>
        <p:spPr>
          <a:xfrm>
            <a:off x="9143771" y="3194304"/>
            <a:ext cx="2499284" cy="2877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outcomes, analyze failures, and refresh evaluations as the product and knowledge change.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evals-guardrail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eva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Evaluation best practices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radeoff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Capability, cost, and latency form a design trade-off to optimize deliberately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radeoff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TRADE-OFFS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417320" y="2011680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851769" y="2011680"/>
            <a:ext cx="3434449" cy="1801368"/>
          </a:xfrm>
          <a:prstGeom prst="rect">
            <a:avLst/>
          </a:prstGeom>
          <a:solidFill>
            <a:srgbClr val="E3EC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17320" y="3813048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851769" y="3813048"/>
            <a:ext cx="3434449" cy="1801368"/>
          </a:xfrm>
          <a:prstGeom prst="rect">
            <a:avLst/>
          </a:prstGeom>
          <a:solidFill>
            <a:srgbClr val="F2F5F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c:tradeoffs/quadrants/0/name"/>
          <p:cNvSpPr txBox="1"/>
          <p:nvPr/>
        </p:nvSpPr>
        <p:spPr>
          <a:xfrm>
            <a:off x="1554480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CAPABILITY, LOW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tradeoffs/quadrants/0/note"/>
          <p:cNvSpPr txBox="1"/>
          <p:nvPr/>
        </p:nvSpPr>
        <p:spPr>
          <a:xfrm>
            <a:off x="1554480" y="2423160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best fit model; allow deeper reasoning and richer context.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tradeoffs/quadrants/1/name"/>
          <p:cNvSpPr txBox="1"/>
          <p:nvPr/>
        </p:nvSpPr>
        <p:spPr>
          <a:xfrm>
            <a:off x="4988929" y="2121408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CAPABILITY, HIGH PRESSURE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tradeoffs/quadrants/1/note"/>
          <p:cNvSpPr txBox="1"/>
          <p:nvPr/>
        </p:nvSpPr>
        <p:spPr>
          <a:xfrm>
            <a:off x="4988929" y="2423160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selectively, cache reusable work, and keep agent loops bounded.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tradeoffs/quadrants/2/name"/>
          <p:cNvSpPr txBox="1"/>
          <p:nvPr/>
        </p:nvSpPr>
        <p:spPr>
          <a:xfrm>
            <a:off x="1554480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ROUTINE, LOW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tradeoffs/quadrants/2/note"/>
          <p:cNvSpPr txBox="1"/>
          <p:nvPr/>
        </p:nvSpPr>
        <p:spPr>
          <a:xfrm>
            <a:off x="1554480" y="4224528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 simpler models and batch work where the experience permits.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tradeoffs/quadrants/3/name"/>
          <p:cNvSpPr txBox="1"/>
          <p:nvPr/>
        </p:nvSpPr>
        <p:spPr>
          <a:xfrm>
            <a:off x="4988929" y="3922776"/>
            <a:ext cx="316012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ROUTINE, HIGH PRESSURE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tradeoffs/quadrants/3/note"/>
          <p:cNvSpPr txBox="1"/>
          <p:nvPr/>
        </p:nvSpPr>
        <p:spPr>
          <a:xfrm>
            <a:off x="4988929" y="4224528"/>
            <a:ext cx="3160129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narrow tasks, compact context, and fast deterministic controls.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 flipV="1">
            <a:off x="1417320" y="1965960"/>
            <a:ext cx="0" cy="3648456"/>
          </a:xfrm>
          <a:prstGeom prst="line">
            <a:avLst/>
          </a:prstGeom>
          <a:noFill/>
          <a:ln w="15875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417320" y="5614416"/>
            <a:ext cx="6914619" cy="0"/>
          </a:xfrm>
          <a:prstGeom prst="line">
            <a:avLst/>
          </a:prstGeom>
          <a:noFill/>
          <a:ln w="15875">
            <a:solidFill>
              <a:srgbClr val="0B1F3A"/>
            </a:solidFill>
            <a:prstDash val="solid"/>
            <a:tailEnd type="triangle"/>
          </a:ln>
        </p:spPr>
      </p:sp>
      <p:sp>
        <p:nvSpPr>
          <p:cNvPr id="18" name="sc:tradeoffs/yAxis/label"/>
          <p:cNvSpPr txBox="1"/>
          <p:nvPr/>
        </p:nvSpPr>
        <p:spPr>
          <a:xfrm>
            <a:off x="548640" y="1682496"/>
            <a:ext cx="43031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capability and judgment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tradeoffs/yAxis/high"/>
          <p:cNvSpPr txBox="1"/>
          <p:nvPr/>
        </p:nvSpPr>
        <p:spPr>
          <a:xfrm>
            <a:off x="548640" y="2011680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tradeoffs/yAxis/low"/>
          <p:cNvSpPr txBox="1"/>
          <p:nvPr/>
        </p:nvSpPr>
        <p:spPr>
          <a:xfrm>
            <a:off x="548640" y="5376672"/>
            <a:ext cx="7589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tradeoffs/xAxis/low"/>
          <p:cNvSpPr txBox="1"/>
          <p:nvPr/>
        </p:nvSpPr>
        <p:spPr>
          <a:xfrm>
            <a:off x="1417320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tradeoffs/xAxis/high"/>
          <p:cNvSpPr txBox="1"/>
          <p:nvPr/>
        </p:nvSpPr>
        <p:spPr>
          <a:xfrm>
            <a:off x="7006059" y="568756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tradeoffs/xAxis/label"/>
          <p:cNvSpPr txBox="1"/>
          <p:nvPr/>
        </p:nvSpPr>
        <p:spPr>
          <a:xfrm>
            <a:off x="3022969" y="56875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and latency sensitivity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743419" y="1682496"/>
            <a:ext cx="289963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4341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26" name="sc:tradeoffs/takeaway"/>
          <p:cNvSpPr txBox="1"/>
          <p:nvPr/>
        </p:nvSpPr>
        <p:spPr>
          <a:xfrm>
            <a:off x="9017739" y="1956816"/>
            <a:ext cx="2396717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 service-level target first; then choose a model, context strategy, and control loop to meet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tradeoff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latency-optimiz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Latency optimization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platform.openai.com/docs/concepts/token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Tokens and tokenization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next-step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 discovery sequence turns the vocabulary into an AI project charter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next-step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VOCABULARY TO CHARTER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7111805"/>
                <a:gridCol w="2275777"/>
                <a:gridCol w="1706833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Due</a:t>
                      </a:r>
                      <a:endParaRPr lang="en-US" sz="13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 a narrow user problem and define the decision or outcome it should improve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sponsor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Discovery start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Specify the context, trusted knowledge, tools, and permissions the system may use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and engineering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 design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 evaluation cases, failure thresholds, guardrails, and escalation paths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and risk owner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pilot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 quality, cost, and latency targets before choosing the production architecture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 lead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build</a:t>
                      </a:r>
                      <a:endParaRPr lang="en-US" sz="14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next-step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platform.openai.com/docs/guides/evals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Evaluation best practices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nist.gov/itl/ai-risk-management-framewor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NIST — AI Risk Management Framework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https://platform.openai.com/docs/guides/latency-optimizat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— Latency optimization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12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Shared vocabulary turns AI ambition into sound project choices</dc:title>
  <dc:subject>Generated by SlideCraft 0.7.3</dc:subject>
  <dc:creator>SlideCraft</dc:creator>
  <cp:lastModifiedBy>SlideCraft</cp:lastModifiedBy>
  <cp:revision>1</cp:revision>
  <dcterms:created xsi:type="dcterms:W3CDTF">2026-01-01T00:00:00Z</dcterms:created>
  <dcterms:modified xsi:type="dcterms:W3CDTF">2026-01-01T00:00:00Z</dcterms:modified>
</cp:coreProperties>
</file>