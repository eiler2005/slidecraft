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1141552511415521"/>
          <c:w val="1"/>
          <c:h val="0.892694063926940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Loads (other)</c:v>
                </c:pt>
              </c:strCache>
            </c:strRef>
          </c:tx>
          <c:spPr>
            <a:solidFill>
              <a:srgbClr val="A3A4B5"/>
            </a:solidFill>
            <a:effectLst/>
          </c:spPr>
          <c:invertIfNegative val="0"/>
          <c:dLbls>
            <c:numFmt formatCode="#,##0.0;-#,##0.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122B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0.6</c:v>
                </c:pt>
                <c:pt idx="1">
                  <c:v>0.8</c:v>
                </c:pt>
                <c:pt idx="2">
                  <c:v>1.1</c:v>
                </c:pt>
                <c:pt idx="3">
                  <c:v>1.5</c:v>
                </c:pt>
                <c:pt idx="4">
                  <c:v>2</c:v>
                </c:pt>
                <c:pt idx="5">
                  <c:v>2.6</c:v>
                </c:pt>
                <c:pt idx="6">
                  <c:v>3.4</c:v>
                </c:pt>
                <c:pt idx="7">
                  <c:v>4.1</c:v>
                </c:pt>
                <c:pt idx="8">
                  <c:v>0</c:v>
                </c:pt>
              </c:numCache>
            </c:numRef>
          </c:val>
        </c:ser>
        <c:dLbls>
          <c:numFmt formatCode="#,##0.0;-#,##0.0;;" sourceLinked="0"/>
          <c:txPr>
            <a:bodyPr/>
            <a:lstStyle/>
            <a:p>
              <a:pPr>
                <a:defRPr b="0" i="0" strike="noStrike" sz="1000" u="none">
                  <a:solidFill>
                    <a:srgbClr val="12122B"/>
                  </a:solidFill>
                  <a:latin typeface="Arial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Freight · Seed round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8642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turns idle truck space into same-day freight</a:t>
            </a:r>
            <a:endParaRPr lang="en-US" sz="5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ver/kicker"/>
          <p:cNvSpPr txBox="1"/>
          <p:nvPr/>
        </p:nvSpPr>
        <p:spPr>
          <a:xfrm>
            <a:off x="822960" y="1600200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· 2026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cover/subtitle"/>
          <p:cNvSpPr txBox="1"/>
          <p:nvPr/>
        </p:nvSpPr>
        <p:spPr>
          <a:xfrm>
            <a:off x="822960" y="4343400"/>
            <a:ext cx="8046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marketplace that fills the 31% of truck capacity that drives empty every day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4F46E5"/>
            </a:solidFill>
            <a:prstDash val="solid"/>
          </a:ln>
        </p:spPr>
      </p:sp>
      <p:sp>
        <p:nvSpPr>
          <p:cNvPr id="6" name="sc:cover/presenter"/>
          <p:cNvSpPr txBox="1"/>
          <p:nvPr/>
        </p:nvSpPr>
        <p:spPr>
          <a:xfrm>
            <a:off x="822960" y="5833872"/>
            <a:ext cx="8046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Lindqvist, CEO   ·   October 2026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91440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third truck on the road is driving with empty space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914400" y="777240"/>
            <a:ext cx="548640" cy="0"/>
          </a:xfrm>
          <a:custGeom>
            <a:avLst/>
            <a:gdLst/>
            <a:ahLst/>
            <a:cxnLst/>
            <a:rect l="0" t="0" r="r" b="b"/>
            <a:pathLst>
              <a:path w="548640" h="0" fill="none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38100">
            <a:solidFill>
              <a:srgbClr val="4F46E5"/>
            </a:solidFill>
            <a:prstDash val="solid"/>
          </a:ln>
        </p:spPr>
      </p:sp>
      <p:sp>
        <p:nvSpPr>
          <p:cNvPr id="4" name="sc:problem/number"/>
          <p:cNvSpPr txBox="1"/>
          <p:nvPr/>
        </p:nvSpPr>
        <p:spPr>
          <a:xfrm>
            <a:off x="877824" y="3406140"/>
            <a:ext cx="6035040" cy="179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3333"/>
              </a:lnSpc>
              <a:buNone/>
            </a:pPr>
            <a:r>
              <a:rPr lang="en-US" sz="14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4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problem/label"/>
          <p:cNvSpPr txBox="1"/>
          <p:nvPr/>
        </p:nvSpPr>
        <p:spPr>
          <a:xfrm>
            <a:off x="5113655" y="3593465"/>
            <a:ext cx="6346520" cy="39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regional truck capacity runs empty</a:t>
            </a:r>
            <a:endParaRPr lang="en-US" sz="2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problem/context"/>
          <p:cNvSpPr txBox="1"/>
          <p:nvPr/>
        </p:nvSpPr>
        <p:spPr>
          <a:xfrm>
            <a:off x="5113655" y="4156075"/>
            <a:ext cx="63465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shippers still pay for full loads or wait days for consolidated freight.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93615" y="3593465"/>
            <a:ext cx="0" cy="1088390"/>
          </a:xfrm>
          <a:custGeom>
            <a:avLst/>
            <a:gdLst/>
            <a:ahLst/>
            <a:cxnLst/>
            <a:rect l="0" t="0" r="r" b="b"/>
            <a:pathLst>
              <a:path w="0" h="1088390" fill="none">
                <a:moveTo>
                  <a:pt x="0" y="0"/>
                </a:moveTo>
                <a:lnTo>
                  <a:pt x="0" y="1088390"/>
                </a:lnTo>
              </a:path>
            </a:pathLst>
          </a:custGeom>
          <a:noFill/>
          <a:ln w="15875">
            <a:solidFill>
              <a:srgbClr val="D9DAE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olu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0086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book spare space in minutes and it moves the same day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olu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6" name="sc:solution/steps/0/title"/>
          <p:cNvSpPr txBox="1"/>
          <p:nvPr/>
        </p:nvSpPr>
        <p:spPr>
          <a:xfrm>
            <a:off x="548640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 load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olution/steps/0/body"/>
          <p:cNvSpPr txBox="1"/>
          <p:nvPr/>
        </p:nvSpPr>
        <p:spPr>
          <a:xfrm>
            <a:off x="548640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enter size, pickup and deadline in under a minute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0" name="sc:solution/steps/1/title"/>
          <p:cNvSpPr txBox="1"/>
          <p:nvPr/>
        </p:nvSpPr>
        <p:spPr>
          <a:xfrm>
            <a:off x="3413684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live capacity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olution/steps/1/body"/>
          <p:cNvSpPr txBox="1"/>
          <p:nvPr/>
        </p:nvSpPr>
        <p:spPr>
          <a:xfrm>
            <a:off x="3413684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match loads to trucks already on the route, priced in real time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D9DAEB"/>
            </a:solidFill>
            <a:prstDash val="solid"/>
            <a:tailEnd type="triangle"/>
          </a:ln>
        </p:spPr>
      </p:sp>
      <p:sp>
        <p:nvSpPr>
          <p:cNvPr id="14" name="sc:solution/steps/2/title"/>
          <p:cNvSpPr txBox="1"/>
          <p:nvPr/>
        </p:nvSpPr>
        <p:spPr>
          <a:xfrm>
            <a:off x="6278728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to the door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olution/steps/2/body"/>
          <p:cNvSpPr txBox="1"/>
          <p:nvPr/>
        </p:nvSpPr>
        <p:spPr>
          <a:xfrm>
            <a:off x="6278728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tracking and proof of delivery in one link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42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2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solution/steps/3/title"/>
          <p:cNvSpPr txBox="1"/>
          <p:nvPr/>
        </p:nvSpPr>
        <p:spPr>
          <a:xfrm>
            <a:off x="9143771" y="255117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get paid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olution/steps/3/body"/>
          <p:cNvSpPr txBox="1"/>
          <p:nvPr/>
        </p:nvSpPr>
        <p:spPr>
          <a:xfrm>
            <a:off x="9143771" y="3191256"/>
            <a:ext cx="249928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earn on space that used to drive empty, paid within 48 hours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olu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ark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880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part-load freight is a €14B market in our first three countries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ark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5" name="Shape 3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6400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8" name="sc:market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addressable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arket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market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Obtainable by 2029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market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€14B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3" name="sc:market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Part-load regional freight, DE · NL · PL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market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€2.1B</a:t>
            </a:r>
            <a:endParaRPr lang="en-US" sz="54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6" name="sc:market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Shippers under 50 loads a month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market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5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€160M</a:t>
            </a:r>
            <a:endParaRPr lang="en-US" sz="5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D9DAEB"/>
            </a:solidFill>
            <a:prstDash val="solid"/>
          </a:ln>
        </p:spPr>
      </p:sp>
      <p:sp>
        <p:nvSpPr>
          <p:cNvPr id="19" name="sc:market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7.5% of serviceable market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mark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market estimate (top-down and bottom-up),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c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229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bookings grew eight-fold in nine months with no paid marketing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c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tractio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booked per month, thousands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Loads — Jan 0.6, Feb 0.8, Mar 1.1, Apr 1.5, May 2, Jun 2.6, Jul 3.4, Aug 4.1, Sep 4.9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17172" y="5083150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324706" y="4963973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2132239" y="478520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2939772" y="454685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3747305" y="424891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4554838" y="3891382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5362372" y="3414674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6169905" y="2997556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6977438" y="2520848"/>
            <a:ext cx="8704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16" name="Shape 1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rac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Organic, repeat-driven growth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raction/takeaway/points"/>
          <p:cNvSpPr txBox="1"/>
          <p:nvPr/>
        </p:nvSpPr>
        <p:spPr>
          <a:xfrm>
            <a:off x="8456519" y="2419096"/>
            <a:ext cx="2957937" cy="337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of bookings come from returning shippers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95833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 per load reached 21% in September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c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ompet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2613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player that is both instant and built for small shippers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ompet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6E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4F5F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competition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ompetition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SPACE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mpetition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FREIGHT FORWARDERS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competition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LOAD BOARDS</a:t>
            </a:r>
            <a:endParaRPr lang="en-US" sz="1000" b="1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12122B"/>
            </a:solidFill>
            <a:prstDash val="solid"/>
            <a:tailEnd type="triangle"/>
          </a:ln>
        </p:spPr>
      </p:sp>
      <p:sp>
        <p:nvSpPr>
          <p:cNvPr id="14" name="sc:competition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for small shippers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ompetition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competition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competition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ompetition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ompetition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to book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9304" y="2508748"/>
            <a:ext cx="146304" cy="14630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1" name="sc:competition/items/0/label"/>
          <p:cNvSpPr txBox="1"/>
          <p:nvPr/>
        </p:nvSpPr>
        <p:spPr>
          <a:xfrm>
            <a:off x="7520472" y="2481316"/>
            <a:ext cx="6512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</a:t>
            </a:r>
            <a:endParaRPr lang="en-US" sz="1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786528" y="3069641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3" name="sc:competition/items/2/label"/>
          <p:cNvSpPr txBox="1"/>
          <p:nvPr/>
        </p:nvSpPr>
        <p:spPr>
          <a:xfrm>
            <a:off x="2960264" y="3028493"/>
            <a:ext cx="8568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brokers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594656" y="419709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5" name="sc:competition/items/4/label"/>
          <p:cNvSpPr txBox="1"/>
          <p:nvPr/>
        </p:nvSpPr>
        <p:spPr>
          <a:xfrm>
            <a:off x="5768392" y="4169664"/>
            <a:ext cx="9082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Tailspin Board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263257" y="4437583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7" name="sc:competition/items/1/label"/>
          <p:cNvSpPr txBox="1"/>
          <p:nvPr/>
        </p:nvSpPr>
        <p:spPr>
          <a:xfrm>
            <a:off x="6436993" y="4396435"/>
            <a:ext cx="10037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Freight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452227" y="4847966"/>
            <a:ext cx="118872" cy="118872"/>
          </a:xfrm>
          <a:prstGeom prst="ellipse">
            <a:avLst/>
          </a:prstGeom>
          <a:solidFill>
            <a:srgbClr val="585A78"/>
          </a:solidFill>
          <a:ln/>
        </p:spPr>
      </p:sp>
      <p:sp>
        <p:nvSpPr>
          <p:cNvPr id="29" name="sc:competition/items/3/label"/>
          <p:cNvSpPr txBox="1"/>
          <p:nvPr/>
        </p:nvSpPr>
        <p:spPr>
          <a:xfrm>
            <a:off x="2625963" y="4806818"/>
            <a:ext cx="10624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forwarders</a:t>
            </a:r>
            <a:endParaRPr lang="en-US" sz="10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31" name="Shape 29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2" name="sc:competition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Fabrikam books in minutes and is built for shippers moving under 50 loads a month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model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245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load earns a 21% take rate and pays back acquisition in two months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model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4996612"/>
                <a:gridCol w="227118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economics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85A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load</a:t>
                      </a:r>
                      <a:endParaRPr lang="en-US" sz="1200" b="1" dirty="0">
                        <a:solidFill>
                          <a:srgbClr val="585A78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212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booking value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€310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rate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Contribution after payments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€58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Shipper acquisition cost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€115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</a:t>
                      </a:r>
                      <a:endParaRPr lang="en-US" sz="1300" b="1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21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months</a:t>
                      </a:r>
                      <a:endParaRPr lang="en-US" sz="1300" dirty="0">
                        <a:solidFill>
                          <a:srgbClr val="1212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A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4F5FB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7" name="sc:model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economics from day one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model/takeaway/points"/>
          <p:cNvSpPr txBox="1"/>
          <p:nvPr/>
        </p:nvSpPr>
        <p:spPr>
          <a:xfrm>
            <a:off x="8456519" y="2652776"/>
            <a:ext cx="2957937" cy="314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95833"/>
              </a:lnSpc>
              <a:buSzPct val="100000"/>
              <a:buChar char="•"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holds as volume grows because matching improves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model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ea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team that has built marketplaces and run fleets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ea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sc:team/people/0/name"/>
          <p:cNvSpPr txBox="1"/>
          <p:nvPr/>
        </p:nvSpPr>
        <p:spPr>
          <a:xfrm>
            <a:off x="548640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Lindqvist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eam/people/0/role"/>
          <p:cNvSpPr txBox="1"/>
          <p:nvPr/>
        </p:nvSpPr>
        <p:spPr>
          <a:xfrm>
            <a:off x="548640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team/people/0/bio"/>
          <p:cNvSpPr txBox="1"/>
          <p:nvPr/>
        </p:nvSpPr>
        <p:spPr>
          <a:xfrm>
            <a:off x="548640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shipper side of a European load board to 40k users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9" name="sc:team/people/1/name"/>
          <p:cNvSpPr txBox="1"/>
          <p:nvPr/>
        </p:nvSpPr>
        <p:spPr>
          <a:xfrm>
            <a:off x="3390824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Tomás Ferreira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eam/people/1/role"/>
          <p:cNvSpPr txBox="1"/>
          <p:nvPr/>
        </p:nvSpPr>
        <p:spPr>
          <a:xfrm>
            <a:off x="3390824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eam/people/1/bio"/>
          <p:cNvSpPr txBox="1"/>
          <p:nvPr/>
        </p:nvSpPr>
        <p:spPr>
          <a:xfrm>
            <a:off x="3390824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routing and pricing engines at a ride-hailing scale-up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3" name="sc:team/people/2/name"/>
          <p:cNvSpPr txBox="1"/>
          <p:nvPr/>
        </p:nvSpPr>
        <p:spPr>
          <a:xfrm>
            <a:off x="6233008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Kowalska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eam/people/2/role"/>
          <p:cNvSpPr txBox="1"/>
          <p:nvPr/>
        </p:nvSpPr>
        <p:spPr>
          <a:xfrm>
            <a:off x="6233008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eam/people/2/bio"/>
          <p:cNvSpPr txBox="1"/>
          <p:nvPr/>
        </p:nvSpPr>
        <p:spPr>
          <a:xfrm>
            <a:off x="6233008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 300-truck regional fleet for eight years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773936"/>
            <a:ext cx="457200" cy="4114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7" name="sc:team/people/3/name"/>
          <p:cNvSpPr txBox="1"/>
          <p:nvPr/>
        </p:nvSpPr>
        <p:spPr>
          <a:xfrm>
            <a:off x="9075191" y="1956816"/>
            <a:ext cx="2567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6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Jonas Weber</a:t>
            </a:r>
            <a:endParaRPr lang="en-US" sz="16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eam/people/3/role"/>
          <p:cNvSpPr txBox="1"/>
          <p:nvPr/>
        </p:nvSpPr>
        <p:spPr>
          <a:xfrm>
            <a:off x="9075191" y="2227072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Growth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eam/people/3/bio"/>
          <p:cNvSpPr txBox="1"/>
          <p:nvPr/>
        </p:nvSpPr>
        <p:spPr>
          <a:xfrm>
            <a:off x="9075191" y="2482850"/>
            <a:ext cx="2567864" cy="3680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Grew B2B self-serve revenue from zero to €12M ARR</a:t>
            </a:r>
            <a:endParaRPr lang="en-US" sz="14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ea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Founder profiles (fictional)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8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€3M seed takes us to three countries and break-even in 2028</a:t>
            </a:r>
            <a:endParaRPr lang="en-US" sz="28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0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6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€3M seed to launch the Netherlands and Poland and reach 25k loads a month</a:t>
            </a:r>
            <a:endParaRPr lang="en-US" sz="26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1212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9094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in the Netherlands with two anchor carriers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504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 · Q1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8238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dynamic pricing v2 and carrier app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648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Q2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2800" b="1" dirty="0" kern="40000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b="1" dirty="0" kern="400000">
              <a:solidFill>
                <a:srgbClr val="4F46E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738245"/>
            <a:ext cx="6000713" cy="20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4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Poland via cross-border lanes</a:t>
            </a:r>
            <a:endParaRPr lang="en-US" sz="14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979291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 · Q4 2027</a:t>
            </a:r>
            <a:endParaRPr lang="en-US" sz="10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D9DAEB"/>
            </a:solidFill>
            <a:prstDash val="solid"/>
          </a:ln>
        </p:spPr>
      </p:sp>
      <p:sp>
        <p:nvSpPr>
          <p:cNvPr id="21" name="sc:ask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95833"/>
              </a:lnSpc>
              <a:buNone/>
            </a:pPr>
            <a:r>
              <a:rPr lang="en-US" sz="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Fabrikam platform metrics, Sep 2026</a:t>
            </a:r>
            <a:endParaRPr lang="en-US" sz="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85A7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4000" b="1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fill the empty space together</a:t>
            </a:r>
            <a:endParaRPr lang="en-US" sz="4000" b="1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800" dirty="0" kern="400000">
                <a:solidFill>
                  <a:srgbClr val="585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room and product demo available on request</a:t>
            </a:r>
            <a:endParaRPr lang="en-US" sz="1800" dirty="0" kern="400000">
              <a:solidFill>
                <a:srgbClr val="585A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400" dirty="0" kern="400000">
                <a:solidFill>
                  <a:srgbClr val="121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maya@fabrikam.example</a:t>
            </a:r>
            <a:endParaRPr lang="en-US" sz="1400" dirty="0" kern="400000">
              <a:solidFill>
                <a:srgbClr val="1212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turns idle truck space into same-day freight</dc:title>
  <dc:subject>Generated by SlideCraft 0.6.0</dc:subject>
  <dc:creator>Fabrikam Freight</dc:creator>
  <cp:lastModifiedBy>Fabrikam Freight</cp:lastModifiedBy>
  <cp:revision>1</cp:revision>
  <dcterms:created xsi:type="dcterms:W3CDTF">2026-01-01T00:00:00Z</dcterms:created>
  <dcterms:modified xsi:type="dcterms:W3CDTF">2026-01-01T00:00:00Z</dcterms:modified>
</cp:coreProperties>
</file>