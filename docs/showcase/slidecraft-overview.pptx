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was built with SlideCraft itself, from examples/slidecraft-overview/deck.yaml.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how long their last board deck took, and how much of that was formatting.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SlideCraft 0.4 release notes and test suite — Oct 2026 — https://github.com/eiler2005/slidecraft/blob/main/CHANGELOG.md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SlideCraft 0.4 release notes and test suite — Oct 2026 — https://github.com/eiler2005/slidecraft/blob/main/CHANGELOG.md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SlideCraft calibration against Microsoft PowerPoint, 144 strings — Oct 2026 — https://github.com/eiler2005/slidecraft/blob/main/docs/how-to/apply-brand.md</a:t>
            </a:r>
            <a:endParaRPr lang="en-US" dirty="0"/>
          </a:p>
          <a:p>
            <a:r>
              <a:rPr lang="en-US" dirty="0"/>
              <a:t>- SlideCraft 0.4 release notes and test suite — Oct 2026 — https://github.com/eiler2005/slidecraft/blob/main/CHANGELOG.md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SlideCraft · github.com/eiler2005/slidecraft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SlideCraft · github.com/eiler2005/slidecraft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iler2005/slidecraft/blob/main/CHANGELOG.m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iler2005/slidecraft/blob/main/CHANGELOG.m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iler2005/slidecraft/blob/main/docs/how-to/apply-brand.md" TargetMode="External"/><Relationship Id="rId2" Type="http://schemas.openxmlformats.org/officeDocument/2006/relationships/hyperlink" Target="https://github.com/eiler2005/slidecraft/blob/main/CHANGELOG.md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Craft Title sc:cover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011680"/>
            <a:ext cx="5432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SlideCraft turns a goal into a partner-ready deck you can edit</a:t>
            </a:r>
            <a:endParaRPr lang="en-US" sz="4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8531352" y="0"/>
            <a:ext cx="3660343" cy="68580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Shape 1"/>
          <p:cNvSpPr/>
          <p:nvPr/>
        </p:nvSpPr>
        <p:spPr>
          <a:xfrm>
            <a:off x="9129447" y="640080"/>
            <a:ext cx="2213159" cy="1027786"/>
          </a:xfrm>
          <a:custGeom>
            <a:avLst/>
            <a:gdLst/>
            <a:ahLst/>
            <a:cxnLst/>
            <a:rect l="l" t="t" r="r" b="b"/>
            <a:pathLst>
              <a:path w="2213159" h="1027786">
                <a:moveTo>
                  <a:pt x="0" y="0"/>
                </a:moveTo>
                <a:lnTo>
                  <a:pt x="1106579" y="462504"/>
                </a:lnTo>
                <a:lnTo>
                  <a:pt x="2213159" y="0"/>
                </a:lnTo>
                <a:lnTo>
                  <a:pt x="2213159" y="565282"/>
                </a:lnTo>
                <a:lnTo>
                  <a:pt x="1106579" y="1027786"/>
                </a:lnTo>
                <a:lnTo>
                  <a:pt x="0" y="565282"/>
                </a:lnTo>
                <a:close/>
              </a:path>
            </a:pathLst>
          </a:custGeom>
          <a:solidFill>
            <a:srgbClr val="5787CF"/>
          </a:solidFill>
          <a:ln/>
        </p:spPr>
      </p:sp>
      <p:sp>
        <p:nvSpPr>
          <p:cNvPr id="4" name="Shape 2"/>
          <p:cNvSpPr/>
          <p:nvPr/>
        </p:nvSpPr>
        <p:spPr>
          <a:xfrm>
            <a:off x="9500864" y="1777594"/>
            <a:ext cx="2213159" cy="1027786"/>
          </a:xfrm>
          <a:custGeom>
            <a:avLst/>
            <a:gdLst/>
            <a:ahLst/>
            <a:cxnLst/>
            <a:rect l="l" t="t" r="r" b="b"/>
            <a:pathLst>
              <a:path w="2213159" h="1027786">
                <a:moveTo>
                  <a:pt x="0" y="0"/>
                </a:moveTo>
                <a:lnTo>
                  <a:pt x="1106579" y="462504"/>
                </a:lnTo>
                <a:lnTo>
                  <a:pt x="2213159" y="0"/>
                </a:lnTo>
                <a:lnTo>
                  <a:pt x="2213159" y="565282"/>
                </a:lnTo>
                <a:lnTo>
                  <a:pt x="1106579" y="1027786"/>
                </a:lnTo>
                <a:lnTo>
                  <a:pt x="0" y="565282"/>
                </a:lnTo>
                <a:close/>
              </a:path>
            </a:pathLst>
          </a:custGeom>
          <a:solidFill>
            <a:srgbClr val="6D97D5"/>
          </a:solidFill>
          <a:ln/>
        </p:spPr>
      </p:sp>
      <p:sp>
        <p:nvSpPr>
          <p:cNvPr id="5" name="Shape 3"/>
          <p:cNvSpPr/>
          <p:nvPr/>
        </p:nvSpPr>
        <p:spPr>
          <a:xfrm>
            <a:off x="9012736" y="2915107"/>
            <a:ext cx="2213159" cy="1027786"/>
          </a:xfrm>
          <a:custGeom>
            <a:avLst/>
            <a:gdLst/>
            <a:ahLst/>
            <a:cxnLst/>
            <a:rect l="l" t="t" r="r" b="b"/>
            <a:pathLst>
              <a:path w="2213159" h="1027786">
                <a:moveTo>
                  <a:pt x="0" y="0"/>
                </a:moveTo>
                <a:lnTo>
                  <a:pt x="1106579" y="462504"/>
                </a:lnTo>
                <a:lnTo>
                  <a:pt x="2213159" y="0"/>
                </a:lnTo>
                <a:lnTo>
                  <a:pt x="2213159" y="565282"/>
                </a:lnTo>
                <a:lnTo>
                  <a:pt x="1106579" y="1027786"/>
                </a:lnTo>
                <a:lnTo>
                  <a:pt x="0" y="565282"/>
                </a:lnTo>
                <a:close/>
              </a:path>
            </a:pathLst>
          </a:custGeom>
          <a:solidFill>
            <a:srgbClr val="84A7DC"/>
          </a:solidFill>
          <a:ln/>
        </p:spPr>
      </p:sp>
      <p:sp>
        <p:nvSpPr>
          <p:cNvPr id="6" name="Shape 4"/>
          <p:cNvSpPr/>
          <p:nvPr/>
        </p:nvSpPr>
        <p:spPr>
          <a:xfrm>
            <a:off x="9421356" y="4052621"/>
            <a:ext cx="2213159" cy="1027786"/>
          </a:xfrm>
          <a:custGeom>
            <a:avLst/>
            <a:gdLst/>
            <a:ahLst/>
            <a:cxnLst/>
            <a:rect l="l" t="t" r="r" b="b"/>
            <a:pathLst>
              <a:path w="2213159" h="1027786">
                <a:moveTo>
                  <a:pt x="0" y="0"/>
                </a:moveTo>
                <a:lnTo>
                  <a:pt x="1106579" y="462504"/>
                </a:lnTo>
                <a:lnTo>
                  <a:pt x="2213159" y="0"/>
                </a:lnTo>
                <a:lnTo>
                  <a:pt x="2213159" y="565282"/>
                </a:lnTo>
                <a:lnTo>
                  <a:pt x="1106579" y="1027786"/>
                </a:lnTo>
                <a:lnTo>
                  <a:pt x="0" y="56528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16112" y="5190134"/>
            <a:ext cx="2213159" cy="1027786"/>
          </a:xfrm>
          <a:custGeom>
            <a:avLst/>
            <a:gdLst/>
            <a:ahLst/>
            <a:cxnLst/>
            <a:rect l="l" t="t" r="r" b="b"/>
            <a:pathLst>
              <a:path w="2213159" h="1027786">
                <a:moveTo>
                  <a:pt x="0" y="0"/>
                </a:moveTo>
                <a:lnTo>
                  <a:pt x="1106579" y="462504"/>
                </a:lnTo>
                <a:lnTo>
                  <a:pt x="2213159" y="0"/>
                </a:lnTo>
                <a:lnTo>
                  <a:pt x="2213159" y="565282"/>
                </a:lnTo>
                <a:lnTo>
                  <a:pt x="1106579" y="1027786"/>
                </a:lnTo>
                <a:lnTo>
                  <a:pt x="0" y="565282"/>
                </a:lnTo>
                <a:close/>
              </a:path>
            </a:pathLst>
          </a:custGeom>
          <a:solidFill>
            <a:srgbClr val="B1C7E9"/>
          </a:solidFill>
          <a:ln/>
        </p:spPr>
      </p:sp>
      <p:sp>
        <p:nvSpPr>
          <p:cNvPr id="8" name="sc:cover/kicker"/>
          <p:cNvSpPr txBox="1"/>
          <p:nvPr/>
        </p:nvSpPr>
        <p:spPr>
          <a:xfrm>
            <a:off x="822960" y="1600200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 · FOR PEOPLE WHO PRESENT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cover/subtitle"/>
          <p:cNvSpPr txBox="1"/>
          <p:nvPr/>
        </p:nvSpPr>
        <p:spPr>
          <a:xfrm>
            <a:off x="822960" y="3931920"/>
            <a:ext cx="7342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the deck must achieve and approve four checkpoints. Get an editable PowerPoint, a PDF and a partner-style review.</a:t>
            </a:r>
            <a:endParaRPr lang="en-US" sz="16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5715000"/>
            <a:ext cx="822960" cy="0"/>
          </a:xfrm>
          <a:custGeom>
            <a:avLst/>
            <a:gdLst/>
            <a:ahLst/>
            <a:cxnLst/>
            <a:rect l="0" t="0" r="r" b="b"/>
            <a:pathLst>
              <a:path w="822960" h="0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400">
            <a:solidFill>
              <a:srgbClr val="1F5FBF"/>
            </a:solidFill>
            <a:prstDash val="solid"/>
          </a:ln>
        </p:spPr>
      </p:sp>
      <p:sp>
        <p:nvSpPr>
          <p:cNvPr id="12" name="sc:cover/presenter"/>
          <p:cNvSpPr txBox="1"/>
          <p:nvPr/>
        </p:nvSpPr>
        <p:spPr>
          <a:xfrm>
            <a:off x="822960" y="5833872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 Ermilov · SlideCraft   ·   2026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Craft Title sc:problem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914400" y="2397252"/>
            <a:ext cx="10180015" cy="135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4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a deck's time goes into work that is not thinking</a:t>
            </a:r>
            <a:endParaRPr lang="en-US" sz="4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sc:problem/support"/>
          <p:cNvSpPr txBox="1"/>
          <p:nvPr/>
        </p:nvSpPr>
        <p:spPr>
          <a:xfrm>
            <a:off x="914400" y="41498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Formatting, fitting text, chasing sources and fixing alignment take the hours that should go into the argument.</a:t>
            </a:r>
            <a:endParaRPr lang="en-US" sz="18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976628"/>
            <a:ext cx="822960" cy="0"/>
          </a:xfrm>
          <a:custGeom>
            <a:avLst/>
            <a:gdLst/>
            <a:ahLst/>
            <a:cxnLst/>
            <a:rect l="0" t="0" r="r" b="b"/>
            <a:pathLst>
              <a:path w="822960" h="0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50800">
            <a:solidFill>
              <a:srgbClr val="1F5FB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2</a:t>
            </a:fld>
            <a:endParaRPr b="0" lang="en-US" kern="400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summary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2595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SlideCraft applies consulting rules automatically and leaves you the decisions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summary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PAGE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5396140"/>
            <a:ext cx="11094415" cy="675476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sc:summary/ask"/>
          <p:cNvSpPr txBox="1"/>
          <p:nvPr/>
        </p:nvSpPr>
        <p:spPr>
          <a:xfrm>
            <a:off x="777240" y="5396140"/>
            <a:ext cx="10637215" cy="67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it on your next board, client or pitch deck</a:t>
            </a:r>
            <a:endParaRPr lang="en-US" sz="1400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803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c:summary/situation"/>
          <p:cNvSpPr txBox="1"/>
          <p:nvPr/>
        </p:nvSpPr>
        <p:spPr>
          <a:xfrm>
            <a:off x="2626309" y="1792224"/>
            <a:ext cx="9016746" cy="93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Decks drive decisions. Boards, steering committees, clients and investors judge the work by the pages they see.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797568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43872"/>
            <a:ext cx="1803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</a:t>
            </a:r>
            <a:endParaRPr lang="en-US" sz="10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summary/complication"/>
          <p:cNvSpPr txBox="1"/>
          <p:nvPr/>
        </p:nvSpPr>
        <p:spPr>
          <a:xfrm>
            <a:off x="2626309" y="2907296"/>
            <a:ext cx="9016746" cy="93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decks follow strict rules — answer first, one claim per slide, every number sourced — and applying them by hand is slow and uneven.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12639"/>
            <a:ext cx="11094415" cy="0"/>
          </a:xfrm>
          <a:custGeom>
            <a:avLst/>
            <a:gdLst/>
            <a:ahLst/>
            <a:cxnLst/>
            <a:rect l="0" t="0" r="r" b="b"/>
            <a:pathLst>
              <a:path w="11094415" h="0" fill="none">
                <a:moveTo>
                  <a:pt x="0" y="0"/>
                </a:moveTo>
                <a:lnTo>
                  <a:pt x="11094415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058943"/>
            <a:ext cx="1803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summary/resolution"/>
          <p:cNvSpPr txBox="1"/>
          <p:nvPr/>
        </p:nvSpPr>
        <p:spPr>
          <a:xfrm>
            <a:off x="2626309" y="4022367"/>
            <a:ext cx="9016746" cy="109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SlideCraft builds the deck from a brief with your AI assistant, applies the rules on every slide and checks the result before you see it.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3</a:t>
            </a:fld>
            <a:endParaRPr b="0" lang="en-US" kern="40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how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checkpoints keep you in charge while the assistant does the work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how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c:how/lead"/>
          <p:cNvSpPr txBox="1"/>
          <p:nvPr/>
        </p:nvSpPr>
        <p:spPr>
          <a:xfrm>
            <a:off x="548640" y="15727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steps 1, 2, 3 and 5; everything in between is automated.</a:t>
            </a:r>
            <a:endParaRPr lang="en-US" sz="16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6" name="sc:how/steps/0/title"/>
          <p:cNvSpPr txBox="1"/>
          <p:nvPr/>
        </p:nvSpPr>
        <p:spPr>
          <a:xfrm>
            <a:off x="713232" y="2084832"/>
            <a:ext cx="205429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goal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c:how/steps/0/body"/>
          <p:cNvSpPr txBox="1"/>
          <p:nvPr/>
        </p:nvSpPr>
        <p:spPr>
          <a:xfrm>
            <a:off x="594360" y="3054096"/>
            <a:ext cx="2039661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audience is, what you need from them, and what you will do with the deck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34605" y="2084832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9" name="sc:how/steps/1/title"/>
          <p:cNvSpPr txBox="1"/>
          <p:nvPr/>
        </p:nvSpPr>
        <p:spPr>
          <a:xfrm>
            <a:off x="3063789" y="2084832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template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how/steps/1/body"/>
          <p:cNvSpPr txBox="1"/>
          <p:nvPr/>
        </p:nvSpPr>
        <p:spPr>
          <a:xfrm>
            <a:off x="2780325" y="3054096"/>
            <a:ext cx="2039661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for your task, each shown as a contact sheet of real slides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20569" y="2084832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2" name="sc:how/steps/2/title"/>
          <p:cNvSpPr txBox="1"/>
          <p:nvPr/>
        </p:nvSpPr>
        <p:spPr>
          <a:xfrm>
            <a:off x="5249753" y="2084832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titles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how/steps/2/body"/>
          <p:cNvSpPr txBox="1"/>
          <p:nvPr/>
        </p:nvSpPr>
        <p:spPr>
          <a:xfrm>
            <a:off x="4966289" y="3054096"/>
            <a:ext cx="2039661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storyline as a chain of claims — read the titles and you have the argument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06534" y="2084832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5" name="sc:how/steps/3/title"/>
          <p:cNvSpPr txBox="1"/>
          <p:nvPr/>
        </p:nvSpPr>
        <p:spPr>
          <a:xfrm>
            <a:off x="7435718" y="2084832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slides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how/steps/3/body"/>
          <p:cNvSpPr txBox="1"/>
          <p:nvPr/>
        </p:nvSpPr>
        <p:spPr>
          <a:xfrm>
            <a:off x="7152254" y="3054096"/>
            <a:ext cx="2039661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tables and text written to fit, with sources on every number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292499" y="2084832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2F5F9"/>
          </a:solidFill>
          <a:ln/>
        </p:spPr>
      </p:sp>
      <p:sp>
        <p:nvSpPr>
          <p:cNvPr id="18" name="sc:how/steps/4/title"/>
          <p:cNvSpPr txBox="1"/>
          <p:nvPr/>
        </p:nvSpPr>
        <p:spPr>
          <a:xfrm>
            <a:off x="9621683" y="2084832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send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how/steps/4/body"/>
          <p:cNvSpPr txBox="1"/>
          <p:nvPr/>
        </p:nvSpPr>
        <p:spPr>
          <a:xfrm>
            <a:off x="9338219" y="3054096"/>
            <a:ext cx="2039661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partner-style review, fixes applied, then PowerPoint, PDF and more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4</a:t>
            </a:fld>
            <a:endParaRPr b="0" lang="en-US" kern="400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before-after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deck, without the late-night rework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before-after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5227168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sc:before-after/before/label"/>
          <p:cNvSpPr txBox="1"/>
          <p:nvPr/>
        </p:nvSpPr>
        <p:spPr>
          <a:xfrm>
            <a:off x="822960" y="1901952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IT BY HAND</a:t>
            </a:r>
            <a:endParaRPr lang="en-US" sz="1000" b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before-after/before/items"/>
          <p:cNvSpPr txBox="1"/>
          <p:nvPr/>
        </p:nvSpPr>
        <p:spPr>
          <a:xfrm>
            <a:off x="822960" y="2322576"/>
            <a:ext cx="467852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slides and copy-pasted templates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10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that overflows, or shrinks until no one can read it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10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without sources, found by the reviewer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10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Last-minute fixes the night before the meeting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22112" y="3584448"/>
            <a:ext cx="347472" cy="585216"/>
          </a:xfrm>
          <a:custGeom>
            <a:avLst/>
            <a:gdLst/>
            <a:ahLst/>
            <a:cxnLst/>
            <a:rect l="l" t="t" r="r" b="b"/>
            <a:pathLst>
              <a:path w="347472" h="585216">
                <a:moveTo>
                  <a:pt x="0" y="0"/>
                </a:moveTo>
                <a:lnTo>
                  <a:pt x="347472" y="292608"/>
                </a:lnTo>
                <a:lnTo>
                  <a:pt x="0" y="585216"/>
                </a:lnTo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8" name="Shape 6"/>
          <p:cNvSpPr/>
          <p:nvPr/>
        </p:nvSpPr>
        <p:spPr>
          <a:xfrm>
            <a:off x="6415888" y="1682496"/>
            <a:ext cx="5227168" cy="4389120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9" name="Shape 7"/>
          <p:cNvSpPr/>
          <p:nvPr/>
        </p:nvSpPr>
        <p:spPr>
          <a:xfrm>
            <a:off x="6415888" y="1682496"/>
            <a:ext cx="5227168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10" name="sc:before-after/after/label"/>
          <p:cNvSpPr txBox="1"/>
          <p:nvPr/>
        </p:nvSpPr>
        <p:spPr>
          <a:xfrm>
            <a:off x="6690208" y="1901952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SLIDECRAFT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before-after/after/items"/>
          <p:cNvSpPr txBox="1"/>
          <p:nvPr/>
        </p:nvSpPr>
        <p:spPr>
          <a:xfrm>
            <a:off x="6690208" y="2322576"/>
            <a:ext cx="467852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storyline and title chain agreed before any slide is drawn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10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measured to fit, exactly as PowerPoint will show it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10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cited on the slide where it appears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10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partner-style review before you press send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5</a:t>
            </a:fld>
            <a:endParaRPr b="0" lang="en-US" kern="400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who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helps everyone who has to convince people with slides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who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6" name="sc:who/points/0/heading"/>
          <p:cNvSpPr txBox="1"/>
          <p:nvPr/>
        </p:nvSpPr>
        <p:spPr>
          <a:xfrm>
            <a:off x="777240" y="19659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and strategy teams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90824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3390824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9" name="sc:who/points/1/heading"/>
          <p:cNvSpPr txBox="1"/>
          <p:nvPr/>
        </p:nvSpPr>
        <p:spPr>
          <a:xfrm>
            <a:off x="3619424" y="19659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and executives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3008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33008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12" name="sc:who/points/2/heading"/>
          <p:cNvSpPr txBox="1"/>
          <p:nvPr/>
        </p:nvSpPr>
        <p:spPr>
          <a:xfrm>
            <a:off x="6461608" y="19659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and sales teams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75191" y="1682496"/>
            <a:ext cx="2567864" cy="43891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9075191" y="1682496"/>
            <a:ext cx="2567864" cy="54864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15" name="sc:who/points/3/heading"/>
          <p:cNvSpPr txBox="1"/>
          <p:nvPr/>
        </p:nvSpPr>
        <p:spPr>
          <a:xfrm>
            <a:off x="9303791" y="196596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Speakers and trainers</a:t>
            </a:r>
            <a:endParaRPr lang="en-US" sz="16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who/points/0/body"/>
          <p:cNvSpPr txBox="1"/>
          <p:nvPr/>
        </p:nvSpPr>
        <p:spPr>
          <a:xfrm>
            <a:off x="777240" y="2618232"/>
            <a:ext cx="2110664" cy="3224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recommendations with an answer-first storyline, issue trees and options on shared criteria.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c:who/points/1/body"/>
          <p:cNvSpPr txBox="1"/>
          <p:nvPr/>
        </p:nvSpPr>
        <p:spPr>
          <a:xfrm>
            <a:off x="3619424" y="2618232"/>
            <a:ext cx="2110664" cy="3224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Steering-committee updates, business cases and QBRs that show plan, actual and the decision needed.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who/points/2/body"/>
          <p:cNvSpPr txBox="1"/>
          <p:nvPr/>
        </p:nvSpPr>
        <p:spPr>
          <a:xfrm>
            <a:off x="6461608" y="2618232"/>
            <a:ext cx="2110664" cy="3224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decks and client proposals that lead with the problem, the proof and a clear ask.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who/points/3/body"/>
          <p:cNvSpPr txBox="1"/>
          <p:nvPr/>
        </p:nvSpPr>
        <p:spPr>
          <a:xfrm>
            <a:off x="9303791" y="2618232"/>
            <a:ext cx="2110664" cy="3224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Story-led talks and workshops, presented from the browser or sent as a PDF.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6</a:t>
            </a:fld>
            <a:endParaRPr b="0" lang="en-US" kern="400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tasks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storyline for your task; the look is a separate choice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tasks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TASK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3503500"/>
                <a:gridCol w="3503500"/>
                <a:gridCol w="408741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task</a:t>
                      </a:r>
                      <a:endParaRPr lang="en-US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Storyline</a:t>
                      </a:r>
                      <a:endParaRPr lang="en-US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B6B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audience</a:t>
                      </a:r>
                      <a:endParaRPr lang="en-US" sz="1200" b="1" dirty="0">
                        <a:solidFill>
                          <a:srgbClr val="5B6B7F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 a strategy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recommendation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Board, leadership team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progress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 update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 committee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 a client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proposal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Buyer, procurement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 for budget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case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CFO, investment committee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Raise money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 deck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Investors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a quarter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QBR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executives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Tell a story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Narrative story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Conference, all-hands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c:tasks/note"/>
          <p:cNvSpPr txBox="1"/>
          <p:nvPr/>
        </p:nvSpPr>
        <p:spPr>
          <a:xfrm>
            <a:off x="548640" y="4434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storylines in all, each works in any of the 7 themes or in your own brand.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tasks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github.com/eiler2005/slidecraft/blob/main/CHANGELOG.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SlideCraft 0.4 release notes and test suite (Oct 2026)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7</a:t>
            </a:fld>
            <a:endParaRPr b="0" lang="en-US" kern="400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kit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brief gives you a complete kit, not just slides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kit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2567864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73936"/>
            <a:ext cx="2567864" cy="64008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6" name="Shape 4"/>
          <p:cNvSpPr/>
          <p:nvPr/>
        </p:nvSpPr>
        <p:spPr>
          <a:xfrm>
            <a:off x="3390824" y="1773936"/>
            <a:ext cx="2567864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233008" y="1773936"/>
            <a:ext cx="2567864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9075191" y="1773936"/>
            <a:ext cx="2567864" cy="347472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9" name="sc:kit/tiles/0/label"/>
          <p:cNvSpPr txBox="1"/>
          <p:nvPr/>
        </p:nvSpPr>
        <p:spPr>
          <a:xfrm>
            <a:off x="822960" y="3145536"/>
            <a:ext cx="2019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layouts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kit/tiles/1/label"/>
          <p:cNvSpPr txBox="1"/>
          <p:nvPr/>
        </p:nvSpPr>
        <p:spPr>
          <a:xfrm>
            <a:off x="3665144" y="3145536"/>
            <a:ext cx="2019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Storylines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kit/tiles/2/label"/>
          <p:cNvSpPr txBox="1"/>
          <p:nvPr/>
        </p:nvSpPr>
        <p:spPr>
          <a:xfrm>
            <a:off x="6507328" y="3145536"/>
            <a:ext cx="2019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kit/tiles/3/label"/>
          <p:cNvSpPr txBox="1"/>
          <p:nvPr/>
        </p:nvSpPr>
        <p:spPr>
          <a:xfrm>
            <a:off x="9349511" y="3145536"/>
            <a:ext cx="2019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kit/tiles/0/value"/>
          <p:cNvSpPr txBox="1"/>
          <p:nvPr/>
        </p:nvSpPr>
        <p:spPr>
          <a:xfrm>
            <a:off x="822960" y="2048256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5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2019224" cy="0"/>
          </a:xfrm>
          <a:custGeom>
            <a:avLst/>
            <a:gdLst/>
            <a:ahLst/>
            <a:cxnLst/>
            <a:rect l="0" t="0" r="r" b="b"/>
            <a:pathLst>
              <a:path w="2019224" h="0" fill="none">
                <a:moveTo>
                  <a:pt x="0" y="0"/>
                </a:moveTo>
                <a:lnTo>
                  <a:pt x="2019224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5" name="sc:kit/tiles/0/note"/>
          <p:cNvSpPr txBox="1"/>
          <p:nvPr/>
        </p:nvSpPr>
        <p:spPr>
          <a:xfrm>
            <a:off x="822960" y="4517136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executive summaries to waterfalls, risk matrices and org charts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kit/tiles/1/value"/>
          <p:cNvSpPr txBox="1"/>
          <p:nvPr/>
        </p:nvSpPr>
        <p:spPr>
          <a:xfrm>
            <a:off x="3665144" y="2048256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65144" y="4425696"/>
            <a:ext cx="2019224" cy="0"/>
          </a:xfrm>
          <a:custGeom>
            <a:avLst/>
            <a:gdLst/>
            <a:ahLst/>
            <a:cxnLst/>
            <a:rect l="0" t="0" r="r" b="b"/>
            <a:pathLst>
              <a:path w="2019224" h="0" fill="none">
                <a:moveTo>
                  <a:pt x="0" y="0"/>
                </a:moveTo>
                <a:lnTo>
                  <a:pt x="2019224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18" name="sc:kit/tiles/1/note"/>
          <p:cNvSpPr txBox="1"/>
          <p:nvPr/>
        </p:nvSpPr>
        <p:spPr>
          <a:xfrm>
            <a:off x="3665144" y="4517136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board update, proposal, pitch, story talk and more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kit/tiles/2/value"/>
          <p:cNvSpPr txBox="1"/>
          <p:nvPr/>
        </p:nvSpPr>
        <p:spPr>
          <a:xfrm>
            <a:off x="6507328" y="2048256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07328" y="4425696"/>
            <a:ext cx="2019224" cy="0"/>
          </a:xfrm>
          <a:custGeom>
            <a:avLst/>
            <a:gdLst/>
            <a:ahLst/>
            <a:cxnLst/>
            <a:rect l="0" t="0" r="r" b="b"/>
            <a:pathLst>
              <a:path w="2019224" h="0" fill="none">
                <a:moveTo>
                  <a:pt x="0" y="0"/>
                </a:moveTo>
                <a:lnTo>
                  <a:pt x="2019224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21" name="sc:kit/tiles/2/note"/>
          <p:cNvSpPr txBox="1"/>
          <p:nvPr/>
        </p:nvSpPr>
        <p:spPr>
          <a:xfrm>
            <a:off x="6507328" y="4517136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your own brand, imported from a PowerPoint template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kit/tiles/3/value"/>
          <p:cNvSpPr txBox="1"/>
          <p:nvPr/>
        </p:nvSpPr>
        <p:spPr>
          <a:xfrm>
            <a:off x="9349511" y="2048256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49511" y="4425696"/>
            <a:ext cx="2019224" cy="0"/>
          </a:xfrm>
          <a:custGeom>
            <a:avLst/>
            <a:gdLst/>
            <a:ahLst/>
            <a:cxnLst/>
            <a:rect l="0" t="0" r="r" b="b"/>
            <a:pathLst>
              <a:path w="2019224" h="0" fill="none">
                <a:moveTo>
                  <a:pt x="0" y="0"/>
                </a:moveTo>
                <a:lnTo>
                  <a:pt x="2019224" y="0"/>
                </a:lnTo>
              </a:path>
            </a:pathLst>
          </a:custGeom>
          <a:noFill/>
          <a:ln w="9525">
            <a:solidFill>
              <a:srgbClr val="C9D2DE"/>
            </a:solidFill>
            <a:prstDash val="solid"/>
          </a:ln>
        </p:spPr>
      </p:sp>
      <p:sp>
        <p:nvSpPr>
          <p:cNvPr id="24" name="sc:kit/tiles/3/note"/>
          <p:cNvSpPr txBox="1"/>
          <p:nvPr/>
        </p:nvSpPr>
        <p:spPr>
          <a:xfrm>
            <a:off x="9349511" y="4517136"/>
            <a:ext cx="201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PowerPoint, PDF, HTML, images, a one-pager and a Word memo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c:kit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github.com/eiler2005/slidecraft/blob/main/CHANGELOG.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SlideCraft 0.4 release notes and test suite (Oct 2026)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8</a:t>
            </a:fld>
            <a:endParaRPr b="0" lang="en-US" kern="400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quality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deck is checked before you see it, not after the meeting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quality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526716" cy="2971800"/>
          </a:xfrm>
          <a:prstGeom prst="roundRect">
            <a:avLst>
              <a:gd name="adj" fmla="val 2171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47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68348" y="182880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68348" y="182880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9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c:quality/steps/0/check"/>
          <p:cNvSpPr txBox="1"/>
          <p:nvPr/>
        </p:nvSpPr>
        <p:spPr>
          <a:xfrm>
            <a:off x="731520" y="224942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fits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quality/steps/0/finding"/>
          <p:cNvSpPr txBox="1"/>
          <p:nvPr/>
        </p:nvSpPr>
        <p:spPr>
          <a:xfrm>
            <a:off x="731520" y="2852928"/>
            <a:ext cx="2160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 identical line breaks and no overflow, so what fits here fits in PowerPoint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142232"/>
            <a:ext cx="2160956" cy="0"/>
          </a:xfrm>
          <a:custGeom>
            <a:avLst/>
            <a:gdLst/>
            <a:ahLst/>
            <a:cxnLst/>
            <a:rect l="0" t="0" r="r" b="b"/>
            <a:pathLst>
              <a:path w="2160956" h="0" fill="none">
                <a:moveTo>
                  <a:pt x="0" y="0"/>
                </a:moveTo>
                <a:lnTo>
                  <a:pt x="2160956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1" name="sc:quality/steps/0/source"/>
          <p:cNvSpPr txBox="1"/>
          <p:nvPr/>
        </p:nvSpPr>
        <p:spPr>
          <a:xfrm>
            <a:off x="731520" y="4197096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calibration, 144 strings</a:t>
            </a:r>
            <a:endParaRPr lang="en-US" sz="1000" i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30220" y="3058668"/>
            <a:ext cx="201168" cy="219456"/>
          </a:xfrm>
          <a:custGeom>
            <a:avLst/>
            <a:gdLst/>
            <a:ahLst/>
            <a:cxnLst/>
            <a:rect l="l" t="t" r="r" b="b"/>
            <a:pathLst>
              <a:path w="201168" h="219456">
                <a:moveTo>
                  <a:pt x="0" y="0"/>
                </a:moveTo>
                <a:lnTo>
                  <a:pt x="201168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B6B7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04540" y="1682496"/>
            <a:ext cx="2526716" cy="2971800"/>
          </a:xfrm>
          <a:prstGeom prst="roundRect">
            <a:avLst>
              <a:gd name="adj" fmla="val 2171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87420" y="1847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24248" y="182880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24248" y="182880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9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c:quality/steps/1/check"/>
          <p:cNvSpPr txBox="1"/>
          <p:nvPr/>
        </p:nvSpPr>
        <p:spPr>
          <a:xfrm>
            <a:off x="3587420" y="224942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has a source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quality/steps/1/finding"/>
          <p:cNvSpPr txBox="1"/>
          <p:nvPr/>
        </p:nvSpPr>
        <p:spPr>
          <a:xfrm>
            <a:off x="3587420" y="2852928"/>
            <a:ext cx="2160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that show numbers without a source are flagged before delivery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587420" y="4142232"/>
            <a:ext cx="2160956" cy="0"/>
          </a:xfrm>
          <a:custGeom>
            <a:avLst/>
            <a:gdLst/>
            <a:ahLst/>
            <a:cxnLst/>
            <a:rect l="0" t="0" r="r" b="b"/>
            <a:pathLst>
              <a:path w="2160956" h="0" fill="none">
                <a:moveTo>
                  <a:pt x="0" y="0"/>
                </a:moveTo>
                <a:lnTo>
                  <a:pt x="2160956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0" name="sc:quality/steps/1/source"/>
          <p:cNvSpPr txBox="1"/>
          <p:nvPr/>
        </p:nvSpPr>
        <p:spPr>
          <a:xfrm>
            <a:off x="3587420" y="4197096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deck's source list</a:t>
            </a:r>
            <a:endParaRPr lang="en-US" sz="1000" i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86120" y="3058668"/>
            <a:ext cx="201168" cy="219456"/>
          </a:xfrm>
          <a:custGeom>
            <a:avLst/>
            <a:gdLst/>
            <a:ahLst/>
            <a:cxnLst/>
            <a:rect l="l" t="t" r="r" b="b"/>
            <a:pathLst>
              <a:path w="201168" h="219456">
                <a:moveTo>
                  <a:pt x="0" y="0"/>
                </a:moveTo>
                <a:lnTo>
                  <a:pt x="201168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B6B7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0440" y="1682496"/>
            <a:ext cx="2526716" cy="2971800"/>
          </a:xfrm>
          <a:prstGeom prst="roundRect">
            <a:avLst>
              <a:gd name="adj" fmla="val 2171"/>
            </a:avLst>
          </a:prstGeom>
          <a:solidFill>
            <a:srgbClr val="F2F5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3320" y="1847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80147" y="182880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80147" y="182880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9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c:quality/steps/2/check"/>
          <p:cNvSpPr txBox="1"/>
          <p:nvPr/>
        </p:nvSpPr>
        <p:spPr>
          <a:xfrm>
            <a:off x="6443320" y="224942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and accessible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sc:quality/steps/2/finding"/>
          <p:cNvSpPr txBox="1"/>
          <p:nvPr/>
        </p:nvSpPr>
        <p:spPr>
          <a:xfrm>
            <a:off x="6443320" y="2852928"/>
            <a:ext cx="2160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contrast, slide titles and alt text are checked in PowerPoint and PDF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43320" y="4142232"/>
            <a:ext cx="2160956" cy="0"/>
          </a:xfrm>
          <a:custGeom>
            <a:avLst/>
            <a:gdLst/>
            <a:ahLst/>
            <a:cxnLst/>
            <a:rect l="0" t="0" r="r" b="b"/>
            <a:pathLst>
              <a:path w="2160956" h="0" fill="none">
                <a:moveTo>
                  <a:pt x="0" y="0"/>
                </a:moveTo>
                <a:lnTo>
                  <a:pt x="2160956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9" name="sc:quality/steps/2/source"/>
          <p:cNvSpPr txBox="1"/>
          <p:nvPr/>
        </p:nvSpPr>
        <p:spPr>
          <a:xfrm>
            <a:off x="6443320" y="4197096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and accessibility checks</a:t>
            </a:r>
            <a:endParaRPr lang="en-US" sz="1000" i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842019" y="3058668"/>
            <a:ext cx="201168" cy="219456"/>
          </a:xfrm>
          <a:custGeom>
            <a:avLst/>
            <a:gdLst/>
            <a:ahLst/>
            <a:cxnLst/>
            <a:rect l="l" t="t" r="r" b="b"/>
            <a:pathLst>
              <a:path w="201168" h="219456">
                <a:moveTo>
                  <a:pt x="0" y="0"/>
                </a:moveTo>
                <a:lnTo>
                  <a:pt x="201168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B6B7F"/>
          </a:solidFill>
          <a:ln/>
        </p:spPr>
      </p:sp>
      <p:sp>
        <p:nvSpPr>
          <p:cNvPr id="31" name="Shape 29"/>
          <p:cNvSpPr/>
          <p:nvPr/>
        </p:nvSpPr>
        <p:spPr>
          <a:xfrm>
            <a:off x="9116339" y="1682496"/>
            <a:ext cx="2526716" cy="2971800"/>
          </a:xfrm>
          <a:prstGeom prst="roundRect">
            <a:avLst>
              <a:gd name="adj" fmla="val 2171"/>
            </a:avLst>
          </a:prstGeom>
          <a:solidFill>
            <a:srgbClr val="F2F5F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299219" y="1847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436047" y="1828800"/>
            <a:ext cx="1042416" cy="292608"/>
          </a:xfrm>
          <a:prstGeom prst="roundRect">
            <a:avLst>
              <a:gd name="adj" fmla="val 50000"/>
            </a:avLst>
          </a:prstGeom>
          <a:solidFill>
            <a:srgbClr val="9AB7E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436047" y="182880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 kern="4000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call</a:t>
            </a:r>
            <a:endParaRPr lang="en-US" sz="900" b="1" dirty="0" kern="40000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5" name="sc:quality/steps/3/check"/>
          <p:cNvSpPr txBox="1"/>
          <p:nvPr/>
        </p:nvSpPr>
        <p:spPr>
          <a:xfrm>
            <a:off x="9299219" y="224942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Partner-style review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6" name="sc:quality/steps/3/finding"/>
          <p:cNvSpPr txBox="1"/>
          <p:nvPr/>
        </p:nvSpPr>
        <p:spPr>
          <a:xfrm>
            <a:off x="9299219" y="2852928"/>
            <a:ext cx="2160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reviews like a partner; you give the final sign-off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299219" y="4142232"/>
            <a:ext cx="2160956" cy="0"/>
          </a:xfrm>
          <a:custGeom>
            <a:avLst/>
            <a:gdLst/>
            <a:ahLst/>
            <a:cxnLst/>
            <a:rect l="0" t="0" r="r" b="b"/>
            <a:pathLst>
              <a:path w="2160956" h="0" fill="none">
                <a:moveTo>
                  <a:pt x="0" y="0"/>
                </a:moveTo>
                <a:lnTo>
                  <a:pt x="2160956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38" name="sc:quality/steps/3/source"/>
          <p:cNvSpPr txBox="1"/>
          <p:nvPr/>
        </p:nvSpPr>
        <p:spPr>
          <a:xfrm>
            <a:off x="9299219" y="4197096"/>
            <a:ext cx="2160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checklist</a:t>
            </a:r>
            <a:endParaRPr lang="en-US" sz="1000" i="1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4928616"/>
            <a:ext cx="11094415" cy="7315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40" name="sc:quality/conclusion"/>
          <p:cNvSpPr txBox="1"/>
          <p:nvPr/>
        </p:nvSpPr>
        <p:spPr>
          <a:xfrm>
            <a:off x="822960" y="4928616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Therefore: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open a deck that is ready to discuss, not ready to fix</a:t>
            </a:r>
            <a:endParaRPr lang="en-US" sz="1400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1" name="sc:quality/exception"/>
          <p:cNvSpPr txBox="1"/>
          <p:nvPr/>
        </p:nvSpPr>
        <p:spPr>
          <a:xfrm>
            <a:off x="548640" y="57332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Unless: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behind a slide is missing — then SlideCraft flags the gap instead of inventing it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2" name="sc:quality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github.com/eiler2005/slidecraft/blob/main/docs/how-to/apply-brand.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SlideCraft calibration against Microsoft PowerPoint, 144 strings (Oct 2026)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github.com/eiler2005/slidecraft/blob/main/CHANGELOG.m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SlideCraft 0.4 release notes and test suite (Oct 2026)</a:t>
            </a:r>
            <a:endParaRPr lang="en-US" sz="800" u="sng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9</a:t>
            </a:fld>
            <a:endParaRPr b="0" lang="en-US" kern="400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brand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brand, your old decks and your readers all come along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brand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YOUR WORK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5" name="sc:brand/points/0/heading"/>
          <p:cNvSpPr txBox="1"/>
          <p:nvPr/>
        </p:nvSpPr>
        <p:spPr>
          <a:xfrm>
            <a:off x="548640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template, your look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14418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7" name="sc:brand/points/1/heading"/>
          <p:cNvSpPr txBox="1"/>
          <p:nvPr/>
        </p:nvSpPr>
        <p:spPr>
          <a:xfrm>
            <a:off x="4414418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decks, restyled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80197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1F5FBF"/>
            </a:solidFill>
            <a:prstDash val="solid"/>
          </a:ln>
        </p:spPr>
      </p:sp>
      <p:sp>
        <p:nvSpPr>
          <p:cNvPr id="9" name="sc:brand/points/2/heading"/>
          <p:cNvSpPr txBox="1"/>
          <p:nvPr/>
        </p:nvSpPr>
        <p:spPr>
          <a:xfrm>
            <a:off x="8280197" y="1956816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format each reader needs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brand/points/0/body"/>
          <p:cNvSpPr txBox="1"/>
          <p:nvPr/>
        </p:nvSpPr>
        <p:spPr>
          <a:xfrm>
            <a:off x="548640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 .potx once. Colours, fonts, logo and layouts apply, and PowerPoint files are built inside your template.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brand/points/1/body"/>
          <p:cNvSpPr txBox="1"/>
          <p:nvPr/>
        </p:nvSpPr>
        <p:spPr>
          <a:xfrm>
            <a:off x="4414418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an existing PowerPoint. The assistant rewrites the titles as claims and rebuilds the charts from the data.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c:brand/points/2/body"/>
          <p:cNvSpPr txBox="1"/>
          <p:nvPr/>
        </p:nvSpPr>
        <p:spPr>
          <a:xfrm>
            <a:off x="8280197" y="2395728"/>
            <a:ext cx="336285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PDF for the board, a one-page summary, a Word memo for pre-reading, an HTML deck for presenting.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10</a:t>
            </a:fld>
            <a:endParaRPr b="0" lang="en-US" kern="400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start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your next deck in about ten minutes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start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0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042142" cy="438912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48256"/>
            <a:ext cx="3310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0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432304"/>
            <a:ext cx="457200" cy="0"/>
          </a:xfrm>
          <a:custGeom>
            <a:avLst/>
            <a:gdLst/>
            <a:ahLst/>
            <a:cxnLst/>
            <a:rect l="0" t="0" r="r" b="b"/>
            <a:pathLst>
              <a:path w="457200" h="0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c:start/decision"/>
          <p:cNvSpPr txBox="1"/>
          <p:nvPr/>
        </p:nvSpPr>
        <p:spPr>
          <a:xfrm>
            <a:off x="914400" y="2688336"/>
            <a:ext cx="33106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333"/>
              </a:lnSpc>
              <a:buNone/>
            </a:pPr>
            <a:r>
              <a:rPr lang="en-US" sz="22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SlideCraft on one real deck this week</a:t>
            </a:r>
            <a:endParaRPr lang="en-US" sz="22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47982" y="16824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982" y="16824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start/steps/0/action"/>
          <p:cNvSpPr txBox="1"/>
          <p:nvPr/>
        </p:nvSpPr>
        <p:spPr>
          <a:xfrm>
            <a:off x="5642342" y="1798320"/>
            <a:ext cx="600071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it for your AI assistant — Claude Code, Codex, Cursor or another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start/steps/0/owner"/>
          <p:cNvSpPr txBox="1"/>
          <p:nvPr/>
        </p:nvSpPr>
        <p:spPr>
          <a:xfrm>
            <a:off x="5642342" y="2261616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2 min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47982" y="25968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7982" y="25968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start/steps/1/action"/>
          <p:cNvSpPr txBox="1"/>
          <p:nvPr/>
        </p:nvSpPr>
        <p:spPr>
          <a:xfrm>
            <a:off x="5642342" y="2819400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the deck must achieve and for whom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start/steps/1/owner"/>
          <p:cNvSpPr txBox="1"/>
          <p:nvPr/>
        </p:nvSpPr>
        <p:spPr>
          <a:xfrm>
            <a:off x="5642342" y="3069336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1 min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7982" y="35112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982" y="35112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start/steps/2/action"/>
          <p:cNvSpPr txBox="1"/>
          <p:nvPr/>
        </p:nvSpPr>
        <p:spPr>
          <a:xfrm>
            <a:off x="5642342" y="3733800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template, the titles and the review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start/steps/2/owner"/>
          <p:cNvSpPr txBox="1"/>
          <p:nvPr/>
        </p:nvSpPr>
        <p:spPr>
          <a:xfrm>
            <a:off x="5642342" y="3983736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5 min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7982" y="44256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7982" y="4425696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b="1" dirty="0" kern="400000">
              <a:solidFill>
                <a:srgbClr val="1F5FB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start/steps/3/action"/>
          <p:cNvSpPr txBox="1"/>
          <p:nvPr/>
        </p:nvSpPr>
        <p:spPr>
          <a:xfrm>
            <a:off x="5642342" y="4648200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PowerPoint and PDF, then edit freely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start/steps/3/owner"/>
          <p:cNvSpPr txBox="1"/>
          <p:nvPr/>
        </p:nvSpPr>
        <p:spPr>
          <a:xfrm>
            <a:off x="5642342" y="4898136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· Done</a:t>
            </a:r>
            <a:endParaRPr lang="en-US" sz="10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47982" y="53400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D2D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11</a:t>
            </a:fld>
            <a:endParaRPr b="0" lang="en-US" kern="400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Craft Title sc:clos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10312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goal. Pick a look. Ship a partner-ready deck.</a:t>
            </a:r>
            <a:endParaRPr lang="en-US" sz="32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sc:close/subtitle"/>
          <p:cNvSpPr txBox="1"/>
          <p:nvPr/>
        </p:nvSpPr>
        <p:spPr>
          <a:xfrm>
            <a:off x="822960" y="39319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 kern="40000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and open source under the MIT licence</a:t>
            </a:r>
            <a:endParaRPr lang="en-US" sz="1600" dirty="0" kern="400000">
              <a:solidFill>
                <a:srgbClr val="5B6B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47208" y="4617720"/>
            <a:ext cx="1097280" cy="0"/>
          </a:xfrm>
          <a:custGeom>
            <a:avLst/>
            <a:gdLst/>
            <a:ahLst/>
            <a:cxnLst/>
            <a:rect l="0" t="0" r="r" b="b"/>
            <a:pathLst>
              <a:path w="1097280" h="0" fill="none">
                <a:moveTo>
                  <a:pt x="0" y="0"/>
                </a:moveTo>
                <a:lnTo>
                  <a:pt x="1097280" y="0"/>
                </a:lnTo>
              </a:path>
            </a:pathLst>
          </a:custGeom>
          <a:noFill/>
          <a:ln w="19050">
            <a:solidFill>
              <a:srgbClr val="1F5FBF"/>
            </a:solidFill>
            <a:prstDash val="solid"/>
          </a:ln>
        </p:spPr>
      </p:sp>
      <p:sp>
        <p:nvSpPr>
          <p:cNvPr id="5" name="sc:close/contact"/>
          <p:cNvSpPr txBox="1"/>
          <p:nvPr/>
        </p:nvSpPr>
        <p:spPr>
          <a:xfrm>
            <a:off x="822960" y="4754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github.com/eiler2005/slidecraft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eiler2005.github.io/slidecraft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SlideCraft turns a goal into a partner-ready deck you can edit</dc:title>
  <dc:subject>Generated by SlideCraft 0.6.0</dc:subject>
  <dc:creator>Denis Ermilov</dc:creator>
  <cp:lastModifiedBy>Denis Ermilov</cp:lastModifiedBy>
  <cp:revision>1</cp:revision>
  <dcterms:created xsi:type="dcterms:W3CDTF">2026-01-01T00:00:00Z</dcterms:created>
  <dcterms:modified xsi:type="dcterms:W3CDTF">2026-01-01T00:00:00Z</dcterms:modified>
</cp:coreProperties>
</file>