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deck was built with SlideCraft itself, from examples/slidecraft-overview/deck.yaml.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the room how long their last board deck took, and how much of that was formatting.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382512"/>
            <a:ext cx="999713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20"/>
              </a:lnSpc>
              <a:buNone/>
            </a:pPr>
            <a:r>
              <a:rPr lang="en-US" sz="850" dirty="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SlideCraft · github.com/eiler2005/slidecraft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6382512"/>
            <a:ext cx="999713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20"/>
              </a:lnSpc>
              <a:buNone/>
            </a:pPr>
            <a:r>
              <a:rPr lang="en-US" sz="850" dirty="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SlideCraft · github.com/eiler2005/slidecraft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eiler2005/slidecraft/blob/main/CHANGELOG.md" TargetMode="Externa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eiler2005/slidecraft/blob/main/CHANGELOG.md" TargetMode="Externa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eiler2005/slidecraft/blob/main/docs/how-to/apply-brand.md" TargetMode="External"/><Relationship Id="rId2" Type="http://schemas.openxmlformats.org/officeDocument/2006/relationships/hyperlink" Target="https://github.com/eiler2005/slidecraft/blob/main/CHANGELOG.md" TargetMode="External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Craft Title sc:cover/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822960" y="2011680"/>
            <a:ext cx="8046519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320"/>
              </a:lnSpc>
              <a:buNone/>
            </a:pPr>
            <a:r>
              <a:rPr lang="en-US" sz="40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SlideCraft turns a goal into a partner-ready deck you can edit</a:t>
            </a:r>
            <a:endParaRPr lang="en-US" sz="4000" dirty="0"/>
          </a:p>
        </p:txBody>
      </p:sp>
      <p:sp>
        <p:nvSpPr>
          <p:cNvPr id="2" name="sc:cover/kicker"/>
          <p:cNvSpPr txBox="1"/>
          <p:nvPr/>
        </p:nvSpPr>
        <p:spPr>
          <a:xfrm>
            <a:off x="822960" y="1600200"/>
            <a:ext cx="804651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b="1" dirty="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OVERVIEW · FOR PEOPLE WHO PRESENT</a:t>
            </a:r>
            <a:endParaRPr lang="en-US" sz="1000" dirty="0"/>
          </a:p>
        </p:txBody>
      </p:sp>
      <p:sp>
        <p:nvSpPr>
          <p:cNvPr id="4" name="sc:cover/subtitle"/>
          <p:cNvSpPr txBox="1"/>
          <p:nvPr/>
        </p:nvSpPr>
        <p:spPr>
          <a:xfrm>
            <a:off x="822960" y="3383280"/>
            <a:ext cx="804651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dirty="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Describe what the deck must achieve and approve four checkpoints. Get an editable PowerPoint, a PDF and a partner-style review.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822960" y="5715000"/>
            <a:ext cx="822960" cy="91"/>
          </a:xfrm>
          <a:prstGeom prst="line">
            <a:avLst/>
          </a:prstGeom>
          <a:noFill/>
          <a:ln w="25400">
            <a:solidFill>
              <a:srgbClr val="1F5FBF"/>
            </a:solidFill>
            <a:prstDash val="solid"/>
          </a:ln>
        </p:spPr>
      </p:sp>
      <p:sp>
        <p:nvSpPr>
          <p:cNvPr id="6" name="sc:cover/presenter"/>
          <p:cNvSpPr txBox="1"/>
          <p:nvPr/>
        </p:nvSpPr>
        <p:spPr>
          <a:xfrm>
            <a:off x="822960" y="5833872"/>
            <a:ext cx="804651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Denis Ermilov · SlideCraft   ·   2026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Craft Title sc:problem/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914400" y="2397252"/>
            <a:ext cx="10180015" cy="1359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280"/>
              </a:lnSpc>
              <a:buNone/>
            </a:pPr>
            <a:r>
              <a:rPr lang="en-US" sz="48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 of a deck's time goes into work that is not thinking</a:t>
            </a:r>
            <a:endParaRPr lang="en-US" sz="4800" dirty="0"/>
          </a:p>
        </p:txBody>
      </p:sp>
      <p:sp>
        <p:nvSpPr>
          <p:cNvPr id="3" name="sc:problem/support"/>
          <p:cNvSpPr txBox="1"/>
          <p:nvPr/>
        </p:nvSpPr>
        <p:spPr>
          <a:xfrm>
            <a:off x="914400" y="414985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800" dirty="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Formatting, fitting text, chasing sources and fixing alignment take the hours that should go into the argument.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914400" y="1976628"/>
            <a:ext cx="822960" cy="91"/>
          </a:xfrm>
          <a:prstGeom prst="line">
            <a:avLst/>
          </a:prstGeom>
          <a:noFill/>
          <a:ln w="50800">
            <a:solidFill>
              <a:srgbClr val="1F5FBF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Craft Title sc:summary/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548640" y="640080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88"/>
              </a:lnSpc>
              <a:buNone/>
            </a:pPr>
            <a:r>
              <a:rPr lang="en-US" sz="2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SlideCraft applies consulting rules automatically and leaves you the decisions</a:t>
            </a:r>
            <a:endParaRPr lang="en-US" sz="2400" dirty="0"/>
          </a:p>
        </p:txBody>
      </p:sp>
      <p:sp>
        <p:nvSpPr>
          <p:cNvPr id="2" name="sc:summary/tracker"/>
          <p:cNvSpPr txBox="1"/>
          <p:nvPr/>
        </p:nvSpPr>
        <p:spPr>
          <a:xfrm>
            <a:off x="548640" y="384048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b="1" dirty="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ONE PAGE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5396140"/>
            <a:ext cx="11094415" cy="675476"/>
          </a:xfrm>
          <a:prstGeom prst="rect">
            <a:avLst/>
          </a:prstGeom>
          <a:solidFill>
            <a:srgbClr val="1F5FBF"/>
          </a:solidFill>
          <a:ln/>
        </p:spPr>
      </p:sp>
      <p:sp>
        <p:nvSpPr>
          <p:cNvPr id="5" name="sc:summary/ask"/>
          <p:cNvSpPr txBox="1"/>
          <p:nvPr/>
        </p:nvSpPr>
        <p:spPr>
          <a:xfrm>
            <a:off x="777240" y="5396140"/>
            <a:ext cx="10637215" cy="675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requested:</a:t>
            </a:r>
            <a:pPr algn="l" indent="0" marL="0">
              <a:lnSpc>
                <a:spcPts val="168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Try it on your next board, client or pitch deck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828800"/>
            <a:ext cx="18033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b="1" dirty="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SITUATION</a:t>
            </a:r>
            <a:endParaRPr lang="en-US" sz="1000" dirty="0"/>
          </a:p>
        </p:txBody>
      </p:sp>
      <p:sp>
        <p:nvSpPr>
          <p:cNvPr id="7" name="sc:summary/situation"/>
          <p:cNvSpPr txBox="1"/>
          <p:nvPr/>
        </p:nvSpPr>
        <p:spPr>
          <a:xfrm>
            <a:off x="2626309" y="1792224"/>
            <a:ext cx="9016746" cy="932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Decks drive decisions. Boards, steering committees, clients and investors judge the work by the pages they see.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797568"/>
            <a:ext cx="11094415" cy="91"/>
          </a:xfrm>
          <a:prstGeom prst="line">
            <a:avLst/>
          </a:prstGeom>
          <a:noFill/>
          <a:ln w="9525">
            <a:solidFill>
              <a:srgbClr val="C9D2D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2943872"/>
            <a:ext cx="18033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b="1" dirty="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COMPLICATION</a:t>
            </a:r>
            <a:endParaRPr lang="en-US" sz="1000" dirty="0"/>
          </a:p>
        </p:txBody>
      </p:sp>
      <p:sp>
        <p:nvSpPr>
          <p:cNvPr id="10" name="sc:summary/complication"/>
          <p:cNvSpPr txBox="1"/>
          <p:nvPr/>
        </p:nvSpPr>
        <p:spPr>
          <a:xfrm>
            <a:off x="2626309" y="2907296"/>
            <a:ext cx="9016746" cy="932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Good decks follow strict rules — answer first, one claim per slide, every number sourced — and applying them by hand is slow and uneven.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3912639"/>
            <a:ext cx="11094415" cy="91"/>
          </a:xfrm>
          <a:prstGeom prst="line">
            <a:avLst/>
          </a:prstGeom>
          <a:noFill/>
          <a:ln w="9525">
            <a:solidFill>
              <a:srgbClr val="C9D2D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4058943"/>
            <a:ext cx="18033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b="1" dirty="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RESOLUTION</a:t>
            </a:r>
            <a:endParaRPr lang="en-US" sz="1000" dirty="0"/>
          </a:p>
        </p:txBody>
      </p:sp>
      <p:sp>
        <p:nvSpPr>
          <p:cNvPr id="13" name="sc:summary/resolution"/>
          <p:cNvSpPr txBox="1"/>
          <p:nvPr/>
        </p:nvSpPr>
        <p:spPr>
          <a:xfrm>
            <a:off x="2626309" y="4022367"/>
            <a:ext cx="9016746" cy="10994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SlideCraft builds the deck from a brief with your AI assistant, applies the rules on every slide and checks the result before you see it.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Craft Title sc:how/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548640" y="640080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88"/>
              </a:lnSpc>
              <a:buNone/>
            </a:pPr>
            <a:r>
              <a:rPr lang="en-US" sz="2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checkpoints keep you in charge while the assistant does the work</a:t>
            </a:r>
            <a:endParaRPr lang="en-US" sz="2400" dirty="0"/>
          </a:p>
        </p:txBody>
      </p:sp>
      <p:sp>
        <p:nvSpPr>
          <p:cNvPr id="2" name="sc:how/tracker"/>
          <p:cNvSpPr txBox="1"/>
          <p:nvPr/>
        </p:nvSpPr>
        <p:spPr>
          <a:xfrm>
            <a:off x="548640" y="384048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b="1" dirty="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IT WORKS</a:t>
            </a:r>
            <a:endParaRPr lang="en-US" sz="1000" dirty="0"/>
          </a:p>
        </p:txBody>
      </p:sp>
      <p:sp>
        <p:nvSpPr>
          <p:cNvPr id="4" name="sc:how/lead"/>
          <p:cNvSpPr txBox="1"/>
          <p:nvPr/>
        </p:nvSpPr>
        <p:spPr>
          <a:xfrm>
            <a:off x="548640" y="1572768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dirty="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approve steps 1, 2, 3 and 5; everything in between is automated.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2084832"/>
            <a:ext cx="2350557" cy="713232"/>
          </a:xfrm>
          <a:custGeom>
            <a:avLst/>
            <a:gdLst/>
            <a:ahLst/>
            <a:cxnLst/>
            <a:rect l="l" t="t" r="r" b="b"/>
            <a:pathLst>
              <a:path w="2350557" h="713232">
                <a:moveTo>
                  <a:pt x="0" y="0"/>
                </a:moveTo>
                <a:lnTo>
                  <a:pt x="2131101" y="0"/>
                </a:lnTo>
                <a:lnTo>
                  <a:pt x="2350557" y="356616"/>
                </a:lnTo>
                <a:lnTo>
                  <a:pt x="2131101" y="713232"/>
                </a:lnTo>
                <a:lnTo>
                  <a:pt x="0" y="713232"/>
                </a:lnTo>
                <a:close/>
              </a:path>
            </a:pathLst>
          </a:custGeom>
          <a:solidFill>
            <a:srgbClr val="F2F5F9"/>
          </a:solidFill>
          <a:ln/>
        </p:spPr>
      </p:sp>
      <p:sp>
        <p:nvSpPr>
          <p:cNvPr id="6" name="sc:how/steps/0/title"/>
          <p:cNvSpPr txBox="1"/>
          <p:nvPr/>
        </p:nvSpPr>
        <p:spPr>
          <a:xfrm>
            <a:off x="713232" y="2084832"/>
            <a:ext cx="2054291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Describe the goal</a:t>
            </a:r>
            <a:endParaRPr lang="en-US" sz="1500" dirty="0"/>
          </a:p>
        </p:txBody>
      </p:sp>
      <p:sp>
        <p:nvSpPr>
          <p:cNvPr id="7" name="sc:how/steps/0/body"/>
          <p:cNvSpPr txBox="1"/>
          <p:nvPr/>
        </p:nvSpPr>
        <p:spPr>
          <a:xfrm>
            <a:off x="594360" y="3054096"/>
            <a:ext cx="2039661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the audience is, what you need from them, and what you will do with the deck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2734605" y="2084832"/>
            <a:ext cx="2350557" cy="713232"/>
          </a:xfrm>
          <a:custGeom>
            <a:avLst/>
            <a:gdLst/>
            <a:ahLst/>
            <a:cxnLst/>
            <a:rect l="l" t="t" r="r" b="b"/>
            <a:pathLst>
              <a:path w="2350557" h="713232">
                <a:moveTo>
                  <a:pt x="0" y="0"/>
                </a:moveTo>
                <a:lnTo>
                  <a:pt x="2131101" y="0"/>
                </a:lnTo>
                <a:lnTo>
                  <a:pt x="2350557" y="356616"/>
                </a:lnTo>
                <a:lnTo>
                  <a:pt x="2131101" y="713232"/>
                </a:lnTo>
                <a:lnTo>
                  <a:pt x="0" y="713232"/>
                </a:lnTo>
                <a:lnTo>
                  <a:pt x="219456" y="356616"/>
                </a:lnTo>
                <a:close/>
              </a:path>
            </a:pathLst>
          </a:custGeom>
          <a:solidFill>
            <a:srgbClr val="F2F5F9"/>
          </a:solidFill>
          <a:ln/>
        </p:spPr>
      </p:sp>
      <p:sp>
        <p:nvSpPr>
          <p:cNvPr id="9" name="sc:how/steps/1/title"/>
          <p:cNvSpPr txBox="1"/>
          <p:nvPr/>
        </p:nvSpPr>
        <p:spPr>
          <a:xfrm>
            <a:off x="3063789" y="2084832"/>
            <a:ext cx="188969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Pick a template</a:t>
            </a:r>
            <a:endParaRPr lang="en-US" sz="1500" dirty="0"/>
          </a:p>
        </p:txBody>
      </p:sp>
      <p:sp>
        <p:nvSpPr>
          <p:cNvPr id="10" name="sc:how/steps/1/body"/>
          <p:cNvSpPr txBox="1"/>
          <p:nvPr/>
        </p:nvSpPr>
        <p:spPr>
          <a:xfrm>
            <a:off x="2780325" y="3054096"/>
            <a:ext cx="2039661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options for your task, each shown as a contact sheet of real slides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920569" y="2084832"/>
            <a:ext cx="2350557" cy="713232"/>
          </a:xfrm>
          <a:custGeom>
            <a:avLst/>
            <a:gdLst/>
            <a:ahLst/>
            <a:cxnLst/>
            <a:rect l="l" t="t" r="r" b="b"/>
            <a:pathLst>
              <a:path w="2350557" h="713232">
                <a:moveTo>
                  <a:pt x="0" y="0"/>
                </a:moveTo>
                <a:lnTo>
                  <a:pt x="2131101" y="0"/>
                </a:lnTo>
                <a:lnTo>
                  <a:pt x="2350557" y="356616"/>
                </a:lnTo>
                <a:lnTo>
                  <a:pt x="2131101" y="713232"/>
                </a:lnTo>
                <a:lnTo>
                  <a:pt x="0" y="713232"/>
                </a:lnTo>
                <a:lnTo>
                  <a:pt x="219456" y="356616"/>
                </a:lnTo>
                <a:close/>
              </a:path>
            </a:pathLst>
          </a:custGeom>
          <a:solidFill>
            <a:srgbClr val="F2F5F9"/>
          </a:solidFill>
          <a:ln/>
        </p:spPr>
      </p:sp>
      <p:sp>
        <p:nvSpPr>
          <p:cNvPr id="12" name="sc:how/steps/2/title"/>
          <p:cNvSpPr txBox="1"/>
          <p:nvPr/>
        </p:nvSpPr>
        <p:spPr>
          <a:xfrm>
            <a:off x="5249753" y="2084832"/>
            <a:ext cx="188969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Approve the titles</a:t>
            </a:r>
            <a:endParaRPr lang="en-US" sz="1500" dirty="0"/>
          </a:p>
        </p:txBody>
      </p:sp>
      <p:sp>
        <p:nvSpPr>
          <p:cNvPr id="13" name="sc:how/steps/2/body"/>
          <p:cNvSpPr txBox="1"/>
          <p:nvPr/>
        </p:nvSpPr>
        <p:spPr>
          <a:xfrm>
            <a:off x="4966289" y="3054096"/>
            <a:ext cx="2039661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storyline as a chain of claims — read the titles and you have the argument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7106534" y="2084832"/>
            <a:ext cx="2350557" cy="713232"/>
          </a:xfrm>
          <a:custGeom>
            <a:avLst/>
            <a:gdLst/>
            <a:ahLst/>
            <a:cxnLst/>
            <a:rect l="l" t="t" r="r" b="b"/>
            <a:pathLst>
              <a:path w="2350557" h="713232">
                <a:moveTo>
                  <a:pt x="0" y="0"/>
                </a:moveTo>
                <a:lnTo>
                  <a:pt x="2131101" y="0"/>
                </a:lnTo>
                <a:lnTo>
                  <a:pt x="2350557" y="356616"/>
                </a:lnTo>
                <a:lnTo>
                  <a:pt x="2131101" y="713232"/>
                </a:lnTo>
                <a:lnTo>
                  <a:pt x="0" y="713232"/>
                </a:lnTo>
                <a:lnTo>
                  <a:pt x="219456" y="356616"/>
                </a:lnTo>
                <a:close/>
              </a:path>
            </a:pathLst>
          </a:custGeom>
          <a:solidFill>
            <a:srgbClr val="F2F5F9"/>
          </a:solidFill>
          <a:ln/>
        </p:spPr>
      </p:sp>
      <p:sp>
        <p:nvSpPr>
          <p:cNvPr id="15" name="sc:how/steps/3/title"/>
          <p:cNvSpPr txBox="1"/>
          <p:nvPr/>
        </p:nvSpPr>
        <p:spPr>
          <a:xfrm>
            <a:off x="7435718" y="2084832"/>
            <a:ext cx="188969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the slides</a:t>
            </a:r>
            <a:endParaRPr lang="en-US" sz="1500" dirty="0"/>
          </a:p>
        </p:txBody>
      </p:sp>
      <p:sp>
        <p:nvSpPr>
          <p:cNvPr id="16" name="sc:how/steps/3/body"/>
          <p:cNvSpPr txBox="1"/>
          <p:nvPr/>
        </p:nvSpPr>
        <p:spPr>
          <a:xfrm>
            <a:off x="7152254" y="3054096"/>
            <a:ext cx="2039661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Charts, tables and text written to fit, with sources on every number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9292499" y="2084832"/>
            <a:ext cx="2350557" cy="713232"/>
          </a:xfrm>
          <a:custGeom>
            <a:avLst/>
            <a:gdLst/>
            <a:ahLst/>
            <a:cxnLst/>
            <a:rect l="l" t="t" r="r" b="b"/>
            <a:pathLst>
              <a:path w="2350557" h="713232">
                <a:moveTo>
                  <a:pt x="0" y="0"/>
                </a:moveTo>
                <a:lnTo>
                  <a:pt x="2131101" y="0"/>
                </a:lnTo>
                <a:lnTo>
                  <a:pt x="2350557" y="356616"/>
                </a:lnTo>
                <a:lnTo>
                  <a:pt x="2131101" y="713232"/>
                </a:lnTo>
                <a:lnTo>
                  <a:pt x="0" y="713232"/>
                </a:lnTo>
                <a:lnTo>
                  <a:pt x="219456" y="356616"/>
                </a:lnTo>
                <a:close/>
              </a:path>
            </a:pathLst>
          </a:custGeom>
          <a:solidFill>
            <a:srgbClr val="F2F5F9"/>
          </a:solidFill>
          <a:ln/>
        </p:spPr>
      </p:sp>
      <p:sp>
        <p:nvSpPr>
          <p:cNvPr id="18" name="sc:how/steps/4/title"/>
          <p:cNvSpPr txBox="1"/>
          <p:nvPr/>
        </p:nvSpPr>
        <p:spPr>
          <a:xfrm>
            <a:off x="9621683" y="2084832"/>
            <a:ext cx="188969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and send</a:t>
            </a:r>
            <a:endParaRPr lang="en-US" sz="1500" dirty="0"/>
          </a:p>
        </p:txBody>
      </p:sp>
      <p:sp>
        <p:nvSpPr>
          <p:cNvPr id="19" name="sc:how/steps/4/body"/>
          <p:cNvSpPr txBox="1"/>
          <p:nvPr/>
        </p:nvSpPr>
        <p:spPr>
          <a:xfrm>
            <a:off x="9338219" y="3054096"/>
            <a:ext cx="2039661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partner-style review, fixes applied, then PowerPoint, PDF and more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Craft Title sc:before-after/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548640" y="640080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88"/>
              </a:lnSpc>
              <a:buNone/>
            </a:pPr>
            <a:r>
              <a:rPr lang="en-US" sz="2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same deck, without the late-night rework</a:t>
            </a:r>
            <a:endParaRPr lang="en-US" sz="2400" dirty="0"/>
          </a:p>
        </p:txBody>
      </p:sp>
      <p:sp>
        <p:nvSpPr>
          <p:cNvPr id="2" name="sc:before-after/tracker"/>
          <p:cNvSpPr txBox="1"/>
          <p:nvPr/>
        </p:nvSpPr>
        <p:spPr>
          <a:xfrm>
            <a:off x="548640" y="384048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b="1" dirty="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CHANGES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682496"/>
            <a:ext cx="5227168" cy="4389120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5" name="sc:before-after/before/label"/>
          <p:cNvSpPr txBox="1"/>
          <p:nvPr/>
        </p:nvSpPr>
        <p:spPr>
          <a:xfrm>
            <a:off x="822960" y="1901952"/>
            <a:ext cx="4678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b="1" dirty="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 IT BY HAND</a:t>
            </a:r>
            <a:endParaRPr lang="en-US" sz="1000" dirty="0"/>
          </a:p>
        </p:txBody>
      </p:sp>
      <p:sp>
        <p:nvSpPr>
          <p:cNvPr id="6" name="sc:before-after/before/items"/>
          <p:cNvSpPr txBox="1"/>
          <p:nvPr/>
        </p:nvSpPr>
        <p:spPr>
          <a:xfrm>
            <a:off x="822960" y="2322576"/>
            <a:ext cx="4678528" cy="3337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lnSpc>
                <a:spcPts val="1680"/>
              </a:lnSpc>
              <a:buSzPct val="100000"/>
              <a:buChar char="•"/>
            </a:pPr>
            <a:r>
              <a:rPr lang="en-US" sz="1400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Blank slides and copy-pasted templates</a:t>
            </a:r>
            <a:endParaRPr lang="en-US" sz="1400" dirty="0"/>
          </a:p>
          <a:p>
            <a:pPr algn="l" marL="177800" indent="-177800">
              <a:lnSpc>
                <a:spcPts val="1680"/>
              </a:lnSpc>
              <a:spcBef>
                <a:spcPts val="1000"/>
              </a:spcBef>
              <a:buSzPct val="100000"/>
              <a:buChar char="•"/>
            </a:pPr>
            <a:r>
              <a:rPr lang="en-US" sz="1400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Text that overflows, or shrinks until no one can read it</a:t>
            </a:r>
            <a:endParaRPr lang="en-US" sz="1400" dirty="0"/>
          </a:p>
          <a:p>
            <a:pPr algn="l" marL="177800" indent="-177800">
              <a:lnSpc>
                <a:spcPts val="1680"/>
              </a:lnSpc>
              <a:spcBef>
                <a:spcPts val="1000"/>
              </a:spcBef>
              <a:buSzPct val="100000"/>
              <a:buChar char="•"/>
            </a:pPr>
            <a:r>
              <a:rPr lang="en-US" sz="1400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Numbers without sources, found by the reviewer</a:t>
            </a:r>
            <a:endParaRPr lang="en-US" sz="1400" dirty="0"/>
          </a:p>
          <a:p>
            <a:pPr algn="l" marL="177800" indent="-177800">
              <a:lnSpc>
                <a:spcPts val="1680"/>
              </a:lnSpc>
              <a:spcBef>
                <a:spcPts val="1000"/>
              </a:spcBef>
              <a:buSzPct val="100000"/>
              <a:buChar char="•"/>
            </a:pPr>
            <a:r>
              <a:rPr lang="en-US" sz="1400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Last-minute fixes the night before the meeting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922112" y="3584448"/>
            <a:ext cx="347472" cy="585216"/>
          </a:xfrm>
          <a:custGeom>
            <a:avLst/>
            <a:gdLst/>
            <a:ahLst/>
            <a:cxnLst/>
            <a:rect l="l" t="t" r="r" b="b"/>
            <a:pathLst>
              <a:path w="347472" h="585216">
                <a:moveTo>
                  <a:pt x="0" y="0"/>
                </a:moveTo>
                <a:lnTo>
                  <a:pt x="347472" y="292608"/>
                </a:lnTo>
                <a:lnTo>
                  <a:pt x="0" y="585216"/>
                </a:lnTo>
                <a:close/>
              </a:path>
            </a:pathLst>
          </a:custGeom>
          <a:solidFill>
            <a:srgbClr val="1F5FBF"/>
          </a:solidFill>
          <a:ln/>
        </p:spPr>
      </p:sp>
      <p:sp>
        <p:nvSpPr>
          <p:cNvPr id="8" name="Shape 6"/>
          <p:cNvSpPr/>
          <p:nvPr/>
        </p:nvSpPr>
        <p:spPr>
          <a:xfrm>
            <a:off x="6415888" y="1682496"/>
            <a:ext cx="5227168" cy="4389120"/>
          </a:xfrm>
          <a:prstGeom prst="rect">
            <a:avLst/>
          </a:prstGeom>
          <a:solidFill>
            <a:srgbClr val="E3ECF9"/>
          </a:solidFill>
          <a:ln/>
        </p:spPr>
      </p:sp>
      <p:sp>
        <p:nvSpPr>
          <p:cNvPr id="9" name="Shape 7"/>
          <p:cNvSpPr/>
          <p:nvPr/>
        </p:nvSpPr>
        <p:spPr>
          <a:xfrm>
            <a:off x="6415888" y="1682496"/>
            <a:ext cx="5227168" cy="54864"/>
          </a:xfrm>
          <a:prstGeom prst="rect">
            <a:avLst/>
          </a:prstGeom>
          <a:solidFill>
            <a:srgbClr val="1F5FBF"/>
          </a:solidFill>
          <a:ln/>
        </p:spPr>
      </p:sp>
      <p:sp>
        <p:nvSpPr>
          <p:cNvPr id="10" name="sc:before-after/after/label"/>
          <p:cNvSpPr txBox="1"/>
          <p:nvPr/>
        </p:nvSpPr>
        <p:spPr>
          <a:xfrm>
            <a:off x="6690208" y="1901952"/>
            <a:ext cx="4678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b="1" dirty="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 SLIDECRAFT</a:t>
            </a:r>
            <a:endParaRPr lang="en-US" sz="1000" dirty="0"/>
          </a:p>
        </p:txBody>
      </p:sp>
      <p:sp>
        <p:nvSpPr>
          <p:cNvPr id="11" name="sc:before-after/after/items"/>
          <p:cNvSpPr txBox="1"/>
          <p:nvPr/>
        </p:nvSpPr>
        <p:spPr>
          <a:xfrm>
            <a:off x="6690208" y="2322576"/>
            <a:ext cx="4678528" cy="3337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lnSpc>
                <a:spcPts val="1680"/>
              </a:lnSpc>
              <a:buSzPct val="100000"/>
              <a:buChar char="•"/>
            </a:pPr>
            <a:r>
              <a:rPr lang="en-US" sz="1400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storyline and title chain agreed before any slide is drawn</a:t>
            </a:r>
            <a:endParaRPr lang="en-US" sz="1400" dirty="0"/>
          </a:p>
          <a:p>
            <a:pPr algn="l" marL="177800" indent="-177800">
              <a:lnSpc>
                <a:spcPts val="1680"/>
              </a:lnSpc>
              <a:spcBef>
                <a:spcPts val="1000"/>
              </a:spcBef>
              <a:buSzPct val="100000"/>
              <a:buChar char="•"/>
            </a:pPr>
            <a:r>
              <a:rPr lang="en-US" sz="1400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Text measured to fit, exactly as PowerPoint will show it</a:t>
            </a:r>
            <a:endParaRPr lang="en-US" sz="1400" dirty="0"/>
          </a:p>
          <a:p>
            <a:pPr algn="l" marL="177800" indent="-177800">
              <a:lnSpc>
                <a:spcPts val="1680"/>
              </a:lnSpc>
              <a:spcBef>
                <a:spcPts val="1000"/>
              </a:spcBef>
              <a:buSzPct val="100000"/>
              <a:buChar char="•"/>
            </a:pPr>
            <a:r>
              <a:rPr lang="en-US" sz="1400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number cited on the slide where it appears</a:t>
            </a:r>
            <a:endParaRPr lang="en-US" sz="1400" dirty="0"/>
          </a:p>
          <a:p>
            <a:pPr algn="l" marL="177800" indent="-177800">
              <a:lnSpc>
                <a:spcPts val="1680"/>
              </a:lnSpc>
              <a:spcBef>
                <a:spcPts val="1000"/>
              </a:spcBef>
              <a:buSzPct val="100000"/>
              <a:buChar char="•"/>
            </a:pPr>
            <a:r>
              <a:rPr lang="en-US" sz="1400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partner-style review before you press send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Craft Title sc:who/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548640" y="640080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88"/>
              </a:lnSpc>
              <a:buNone/>
            </a:pPr>
            <a:r>
              <a:rPr lang="en-US" sz="2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helps everyone who has to convince people with slides</a:t>
            </a:r>
            <a:endParaRPr lang="en-US" sz="2400" dirty="0"/>
          </a:p>
        </p:txBody>
      </p:sp>
      <p:sp>
        <p:nvSpPr>
          <p:cNvPr id="2" name="sc:who/tracker"/>
          <p:cNvSpPr txBox="1"/>
          <p:nvPr/>
        </p:nvSpPr>
        <p:spPr>
          <a:xfrm>
            <a:off x="548640" y="384048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b="1" dirty="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IT HELPS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682496"/>
            <a:ext cx="2567864" cy="4389120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682496"/>
            <a:ext cx="2567864" cy="54864"/>
          </a:xfrm>
          <a:prstGeom prst="rect">
            <a:avLst/>
          </a:prstGeom>
          <a:solidFill>
            <a:srgbClr val="1F5FBF"/>
          </a:solidFill>
          <a:ln/>
        </p:spPr>
      </p:sp>
      <p:sp>
        <p:nvSpPr>
          <p:cNvPr id="6" name="sc:who/points/0/heading"/>
          <p:cNvSpPr txBox="1"/>
          <p:nvPr/>
        </p:nvSpPr>
        <p:spPr>
          <a:xfrm>
            <a:off x="777240" y="1965960"/>
            <a:ext cx="211066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Consultants and strategy teams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390824" y="1682496"/>
            <a:ext cx="2567864" cy="4389120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8" name="Shape 6"/>
          <p:cNvSpPr/>
          <p:nvPr/>
        </p:nvSpPr>
        <p:spPr>
          <a:xfrm>
            <a:off x="3390824" y="1682496"/>
            <a:ext cx="2567864" cy="54864"/>
          </a:xfrm>
          <a:prstGeom prst="rect">
            <a:avLst/>
          </a:prstGeom>
          <a:solidFill>
            <a:srgbClr val="1F5FBF"/>
          </a:solidFill>
          <a:ln/>
        </p:spPr>
      </p:sp>
      <p:sp>
        <p:nvSpPr>
          <p:cNvPr id="9" name="sc:who/points/1/heading"/>
          <p:cNvSpPr txBox="1"/>
          <p:nvPr/>
        </p:nvSpPr>
        <p:spPr>
          <a:xfrm>
            <a:off x="3619424" y="1965960"/>
            <a:ext cx="211066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Managers and executives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233008" y="1682496"/>
            <a:ext cx="2567864" cy="4389120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11" name="Shape 9"/>
          <p:cNvSpPr/>
          <p:nvPr/>
        </p:nvSpPr>
        <p:spPr>
          <a:xfrm>
            <a:off x="6233008" y="1682496"/>
            <a:ext cx="2567864" cy="54864"/>
          </a:xfrm>
          <a:prstGeom prst="rect">
            <a:avLst/>
          </a:prstGeom>
          <a:solidFill>
            <a:srgbClr val="1F5FBF"/>
          </a:solidFill>
          <a:ln/>
        </p:spPr>
      </p:sp>
      <p:sp>
        <p:nvSpPr>
          <p:cNvPr id="12" name="sc:who/points/2/heading"/>
          <p:cNvSpPr txBox="1"/>
          <p:nvPr/>
        </p:nvSpPr>
        <p:spPr>
          <a:xfrm>
            <a:off x="6461608" y="1965960"/>
            <a:ext cx="211066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Founders and sales teams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9075191" y="1682496"/>
            <a:ext cx="2567864" cy="4389120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14" name="Shape 12"/>
          <p:cNvSpPr/>
          <p:nvPr/>
        </p:nvSpPr>
        <p:spPr>
          <a:xfrm>
            <a:off x="9075191" y="1682496"/>
            <a:ext cx="2567864" cy="54864"/>
          </a:xfrm>
          <a:prstGeom prst="rect">
            <a:avLst/>
          </a:prstGeom>
          <a:solidFill>
            <a:srgbClr val="1F5FBF"/>
          </a:solidFill>
          <a:ln/>
        </p:spPr>
      </p:sp>
      <p:sp>
        <p:nvSpPr>
          <p:cNvPr id="15" name="sc:who/points/3/heading"/>
          <p:cNvSpPr txBox="1"/>
          <p:nvPr/>
        </p:nvSpPr>
        <p:spPr>
          <a:xfrm>
            <a:off x="9303791" y="1965960"/>
            <a:ext cx="211066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Speakers and trainers</a:t>
            </a:r>
            <a:endParaRPr lang="en-US" sz="1600" dirty="0"/>
          </a:p>
        </p:txBody>
      </p:sp>
      <p:sp>
        <p:nvSpPr>
          <p:cNvPr id="16" name="sc:who/points/0/body"/>
          <p:cNvSpPr txBox="1"/>
          <p:nvPr/>
        </p:nvSpPr>
        <p:spPr>
          <a:xfrm>
            <a:off x="777240" y="2618232"/>
            <a:ext cx="2110664" cy="3224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Board-ready recommendations with an answer-first storyline, issue trees and options on shared criteria.</a:t>
            </a:r>
            <a:endParaRPr lang="en-US" sz="1400" dirty="0"/>
          </a:p>
        </p:txBody>
      </p:sp>
      <p:sp>
        <p:nvSpPr>
          <p:cNvPr id="17" name="sc:who/points/1/body"/>
          <p:cNvSpPr txBox="1"/>
          <p:nvPr/>
        </p:nvSpPr>
        <p:spPr>
          <a:xfrm>
            <a:off x="3619424" y="2618232"/>
            <a:ext cx="2110664" cy="3224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Steering-committee updates, business cases and QBRs that show plan, actual and the decision needed.</a:t>
            </a:r>
            <a:endParaRPr lang="en-US" sz="1400" dirty="0"/>
          </a:p>
        </p:txBody>
      </p:sp>
      <p:sp>
        <p:nvSpPr>
          <p:cNvPr id="18" name="sc:who/points/2/body"/>
          <p:cNvSpPr txBox="1"/>
          <p:nvPr/>
        </p:nvSpPr>
        <p:spPr>
          <a:xfrm>
            <a:off x="6461608" y="2618232"/>
            <a:ext cx="2110664" cy="3224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Pitch decks and client proposals that lead with the problem, the proof and a clear ask.</a:t>
            </a:r>
            <a:endParaRPr lang="en-US" sz="1400" dirty="0"/>
          </a:p>
        </p:txBody>
      </p:sp>
      <p:sp>
        <p:nvSpPr>
          <p:cNvPr id="19" name="sc:who/points/3/body"/>
          <p:cNvSpPr txBox="1"/>
          <p:nvPr/>
        </p:nvSpPr>
        <p:spPr>
          <a:xfrm>
            <a:off x="9303791" y="2618232"/>
            <a:ext cx="2110664" cy="3224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Story-led talks and workshops, presented from the browser or sent as a PDF.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Craft Title sc:tasks/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548640" y="640080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88"/>
              </a:lnSpc>
              <a:buNone/>
            </a:pPr>
            <a:r>
              <a:rPr lang="en-US" sz="2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Pick the storyline for your task; the look is a separate choice</a:t>
            </a:r>
            <a:endParaRPr lang="en-US" sz="2400" dirty="0"/>
          </a:p>
        </p:txBody>
      </p:sp>
      <p:sp>
        <p:nvSpPr>
          <p:cNvPr id="2" name="sc:tasks/tracker"/>
          <p:cNvSpPr txBox="1"/>
          <p:nvPr/>
        </p:nvSpPr>
        <p:spPr>
          <a:xfrm>
            <a:off x="548640" y="384048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b="1" dirty="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CHOOSE YOUR TASK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82496"/>
          <a:ext cx="11094415" cy="914400"/>
        </p:xfrm>
        <a:graphic>
          <a:graphicData uri="http://schemas.openxmlformats.org/drawingml/2006/table">
            <a:tbl>
              <a:tblPr/>
              <a:tblGrid>
                <a:gridCol w="3503500"/>
                <a:gridCol w="3503500"/>
                <a:gridCol w="4087416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416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5B6B7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Your task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0B1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416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5B6B7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Storyline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0B1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416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5B6B7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Typical audience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0B1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534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Recommend a strategy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534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Strategy recommendation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534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Board, leadership team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534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Report progress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534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Executive update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534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Steering committee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534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Win a client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534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Client proposal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534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Buyer, procurement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534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Ask for budget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534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Business case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534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CFO, investment committee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534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Raise money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534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Pitch deck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534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Investors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534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Review a quarter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534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Sales QBR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534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Customer executives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534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Tell a story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534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Narrative story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534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Conference, all-hands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c:tasks/note"/>
          <p:cNvSpPr txBox="1"/>
          <p:nvPr/>
        </p:nvSpPr>
        <p:spPr>
          <a:xfrm>
            <a:off x="548640" y="443484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storylines in all, each works in any of the 6 themes or in your own brand.</a:t>
            </a:r>
            <a:endParaRPr lang="en-US" sz="1000" dirty="0"/>
          </a:p>
        </p:txBody>
      </p:sp>
      <p:sp>
        <p:nvSpPr>
          <p:cNvPr id="6" name="sc:tasks/sources"/>
          <p:cNvSpPr txBox="1"/>
          <p:nvPr/>
        </p:nvSpPr>
        <p:spPr>
          <a:xfrm>
            <a:off x="548640" y="5961888"/>
            <a:ext cx="99971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ts val="960"/>
              </a:lnSpc>
              <a:buNone/>
            </a:pPr>
            <a:r>
              <a:rPr lang="en-US" sz="800" dirty="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</a:t>
            </a:r>
            <a:pPr algn="l" indent="0" marL="0">
              <a:lnSpc>
                <a:spcPts val="960"/>
              </a:lnSpc>
              <a:buNone/>
            </a:pPr>
            <a:r>
              <a:rPr lang="en-US" sz="800" u="sng" dirty="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https://github.com/eiler2005/slidecraft/blob/main/CHANGELOG.md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SlideCraft 0.4 release notes and test suite (Oct 2026)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Craft Title sc:kit/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548640" y="640080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88"/>
              </a:lnSpc>
              <a:buNone/>
            </a:pPr>
            <a:r>
              <a:rPr lang="en-US" sz="2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brief gives you a complete kit, not just slides</a:t>
            </a:r>
            <a:endParaRPr lang="en-US" sz="2400" dirty="0"/>
          </a:p>
        </p:txBody>
      </p:sp>
      <p:sp>
        <p:nvSpPr>
          <p:cNvPr id="2" name="sc:kit/tracker"/>
          <p:cNvSpPr txBox="1"/>
          <p:nvPr/>
        </p:nvSpPr>
        <p:spPr>
          <a:xfrm>
            <a:off x="548640" y="384048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b="1" dirty="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YOU GET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773936"/>
            <a:ext cx="2567864" cy="3474720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773936"/>
            <a:ext cx="2567864" cy="64008"/>
          </a:xfrm>
          <a:prstGeom prst="rect">
            <a:avLst/>
          </a:prstGeom>
          <a:solidFill>
            <a:srgbClr val="1F5FBF"/>
          </a:solidFill>
          <a:ln/>
        </p:spPr>
      </p:sp>
      <p:sp>
        <p:nvSpPr>
          <p:cNvPr id="6" name="Shape 4"/>
          <p:cNvSpPr/>
          <p:nvPr/>
        </p:nvSpPr>
        <p:spPr>
          <a:xfrm>
            <a:off x="3390824" y="1773936"/>
            <a:ext cx="2567864" cy="3474720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7" name="Shape 5"/>
          <p:cNvSpPr/>
          <p:nvPr/>
        </p:nvSpPr>
        <p:spPr>
          <a:xfrm>
            <a:off x="6233008" y="1773936"/>
            <a:ext cx="2567864" cy="3474720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8" name="Shape 6"/>
          <p:cNvSpPr/>
          <p:nvPr/>
        </p:nvSpPr>
        <p:spPr>
          <a:xfrm>
            <a:off x="9075191" y="1773936"/>
            <a:ext cx="2567864" cy="3474720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9" name="sc:kit/tiles/0/label"/>
          <p:cNvSpPr txBox="1"/>
          <p:nvPr/>
        </p:nvSpPr>
        <p:spPr>
          <a:xfrm>
            <a:off x="822960" y="3145536"/>
            <a:ext cx="201922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layouts</a:t>
            </a:r>
            <a:endParaRPr lang="en-US" sz="1400" dirty="0"/>
          </a:p>
        </p:txBody>
      </p:sp>
      <p:sp>
        <p:nvSpPr>
          <p:cNvPr id="10" name="sc:kit/tiles/1/label"/>
          <p:cNvSpPr txBox="1"/>
          <p:nvPr/>
        </p:nvSpPr>
        <p:spPr>
          <a:xfrm>
            <a:off x="3665144" y="3145536"/>
            <a:ext cx="201922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Storylines</a:t>
            </a:r>
            <a:endParaRPr lang="en-US" sz="1400" dirty="0"/>
          </a:p>
        </p:txBody>
      </p:sp>
      <p:sp>
        <p:nvSpPr>
          <p:cNvPr id="11" name="sc:kit/tiles/2/label"/>
          <p:cNvSpPr txBox="1"/>
          <p:nvPr/>
        </p:nvSpPr>
        <p:spPr>
          <a:xfrm>
            <a:off x="6507328" y="3145536"/>
            <a:ext cx="201922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Themes</a:t>
            </a:r>
            <a:endParaRPr lang="en-US" sz="1400" dirty="0"/>
          </a:p>
        </p:txBody>
      </p:sp>
      <p:sp>
        <p:nvSpPr>
          <p:cNvPr id="12" name="sc:kit/tiles/3/label"/>
          <p:cNvSpPr txBox="1"/>
          <p:nvPr/>
        </p:nvSpPr>
        <p:spPr>
          <a:xfrm>
            <a:off x="9349511" y="3145536"/>
            <a:ext cx="201922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 formats</a:t>
            </a:r>
            <a:endParaRPr lang="en-US" sz="1400" dirty="0"/>
          </a:p>
        </p:txBody>
      </p:sp>
      <p:sp>
        <p:nvSpPr>
          <p:cNvPr id="13" name="sc:kit/tiles/0/value"/>
          <p:cNvSpPr txBox="1"/>
          <p:nvPr/>
        </p:nvSpPr>
        <p:spPr>
          <a:xfrm>
            <a:off x="822960" y="2048256"/>
            <a:ext cx="201922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ts val="6480"/>
              </a:lnSpc>
              <a:buNone/>
            </a:pPr>
            <a:r>
              <a:rPr lang="en-US" sz="5400" b="1" dirty="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</a:t>
            </a:r>
            <a:endParaRPr lang="en-US" sz="5400" dirty="0"/>
          </a:p>
        </p:txBody>
      </p:sp>
      <p:sp>
        <p:nvSpPr>
          <p:cNvPr id="14" name="Shape 12"/>
          <p:cNvSpPr/>
          <p:nvPr/>
        </p:nvSpPr>
        <p:spPr>
          <a:xfrm>
            <a:off x="822960" y="4425696"/>
            <a:ext cx="2019224" cy="91"/>
          </a:xfrm>
          <a:prstGeom prst="line">
            <a:avLst/>
          </a:prstGeom>
          <a:noFill/>
          <a:ln w="9525">
            <a:solidFill>
              <a:srgbClr val="C9D2DE"/>
            </a:solidFill>
            <a:prstDash val="solid"/>
          </a:ln>
        </p:spPr>
      </p:sp>
      <p:sp>
        <p:nvSpPr>
          <p:cNvPr id="15" name="sc:kit/tiles/0/note"/>
          <p:cNvSpPr txBox="1"/>
          <p:nvPr/>
        </p:nvSpPr>
        <p:spPr>
          <a:xfrm>
            <a:off x="822960" y="4517136"/>
            <a:ext cx="20192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executive summaries to waterfalls, risk matrices and org charts</a:t>
            </a:r>
            <a:endParaRPr lang="en-US" sz="1000" dirty="0"/>
          </a:p>
        </p:txBody>
      </p:sp>
      <p:sp>
        <p:nvSpPr>
          <p:cNvPr id="16" name="sc:kit/tiles/1/value"/>
          <p:cNvSpPr txBox="1"/>
          <p:nvPr/>
        </p:nvSpPr>
        <p:spPr>
          <a:xfrm>
            <a:off x="3665144" y="2048256"/>
            <a:ext cx="201922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ts val="6480"/>
              </a:lnSpc>
              <a:buNone/>
            </a:pPr>
            <a:r>
              <a:rPr lang="en-US" sz="5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5400" dirty="0"/>
          </a:p>
        </p:txBody>
      </p:sp>
      <p:sp>
        <p:nvSpPr>
          <p:cNvPr id="17" name="Shape 15"/>
          <p:cNvSpPr/>
          <p:nvPr/>
        </p:nvSpPr>
        <p:spPr>
          <a:xfrm>
            <a:off x="3665144" y="4425696"/>
            <a:ext cx="2019224" cy="91"/>
          </a:xfrm>
          <a:prstGeom prst="line">
            <a:avLst/>
          </a:prstGeom>
          <a:noFill/>
          <a:ln w="9525">
            <a:solidFill>
              <a:srgbClr val="C9D2DE"/>
            </a:solidFill>
            <a:prstDash val="solid"/>
          </a:ln>
        </p:spPr>
      </p:sp>
      <p:sp>
        <p:nvSpPr>
          <p:cNvPr id="18" name="sc:kit/tiles/1/note"/>
          <p:cNvSpPr txBox="1"/>
          <p:nvPr/>
        </p:nvSpPr>
        <p:spPr>
          <a:xfrm>
            <a:off x="3665144" y="4517136"/>
            <a:ext cx="20192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Strategy, board update, proposal, pitch, story talk and more</a:t>
            </a:r>
            <a:endParaRPr lang="en-US" sz="1000" dirty="0"/>
          </a:p>
        </p:txBody>
      </p:sp>
      <p:sp>
        <p:nvSpPr>
          <p:cNvPr id="19" name="sc:kit/tiles/2/value"/>
          <p:cNvSpPr txBox="1"/>
          <p:nvPr/>
        </p:nvSpPr>
        <p:spPr>
          <a:xfrm>
            <a:off x="6507328" y="2048256"/>
            <a:ext cx="201922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ts val="6480"/>
              </a:lnSpc>
              <a:buNone/>
            </a:pPr>
            <a:r>
              <a:rPr lang="en-US" sz="5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5400" dirty="0"/>
          </a:p>
        </p:txBody>
      </p:sp>
      <p:sp>
        <p:nvSpPr>
          <p:cNvPr id="20" name="Shape 18"/>
          <p:cNvSpPr/>
          <p:nvPr/>
        </p:nvSpPr>
        <p:spPr>
          <a:xfrm>
            <a:off x="6507328" y="4425696"/>
            <a:ext cx="2019224" cy="91"/>
          </a:xfrm>
          <a:prstGeom prst="line">
            <a:avLst/>
          </a:prstGeom>
          <a:noFill/>
          <a:ln w="9525">
            <a:solidFill>
              <a:srgbClr val="C9D2DE"/>
            </a:solidFill>
            <a:prstDash val="solid"/>
          </a:ln>
        </p:spPr>
      </p:sp>
      <p:sp>
        <p:nvSpPr>
          <p:cNvPr id="21" name="sc:kit/tiles/2/note"/>
          <p:cNvSpPr txBox="1"/>
          <p:nvPr/>
        </p:nvSpPr>
        <p:spPr>
          <a:xfrm>
            <a:off x="6507328" y="4517136"/>
            <a:ext cx="20192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Plus your own brand, imported from a PowerPoint template</a:t>
            </a:r>
            <a:endParaRPr lang="en-US" sz="1000" dirty="0"/>
          </a:p>
        </p:txBody>
      </p:sp>
      <p:sp>
        <p:nvSpPr>
          <p:cNvPr id="22" name="sc:kit/tiles/3/value"/>
          <p:cNvSpPr txBox="1"/>
          <p:nvPr/>
        </p:nvSpPr>
        <p:spPr>
          <a:xfrm>
            <a:off x="9349511" y="2048256"/>
            <a:ext cx="201922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ts val="6480"/>
              </a:lnSpc>
              <a:buNone/>
            </a:pPr>
            <a:r>
              <a:rPr lang="en-US" sz="5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5400" dirty="0"/>
          </a:p>
        </p:txBody>
      </p:sp>
      <p:sp>
        <p:nvSpPr>
          <p:cNvPr id="23" name="Shape 21"/>
          <p:cNvSpPr/>
          <p:nvPr/>
        </p:nvSpPr>
        <p:spPr>
          <a:xfrm>
            <a:off x="9349511" y="4425696"/>
            <a:ext cx="2019224" cy="91"/>
          </a:xfrm>
          <a:prstGeom prst="line">
            <a:avLst/>
          </a:prstGeom>
          <a:noFill/>
          <a:ln w="9525">
            <a:solidFill>
              <a:srgbClr val="C9D2DE"/>
            </a:solidFill>
            <a:prstDash val="solid"/>
          </a:ln>
        </p:spPr>
      </p:sp>
      <p:sp>
        <p:nvSpPr>
          <p:cNvPr id="24" name="sc:kit/tiles/3/note"/>
          <p:cNvSpPr txBox="1"/>
          <p:nvPr/>
        </p:nvSpPr>
        <p:spPr>
          <a:xfrm>
            <a:off x="9349511" y="4517136"/>
            <a:ext cx="20192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PowerPoint, PDF, HTML, images, a one-pager and a Word memo</a:t>
            </a:r>
            <a:endParaRPr lang="en-US" sz="1000" dirty="0"/>
          </a:p>
        </p:txBody>
      </p:sp>
      <p:sp>
        <p:nvSpPr>
          <p:cNvPr id="25" name="sc:kit/sources"/>
          <p:cNvSpPr txBox="1"/>
          <p:nvPr/>
        </p:nvSpPr>
        <p:spPr>
          <a:xfrm>
            <a:off x="548640" y="5961888"/>
            <a:ext cx="99971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ts val="960"/>
              </a:lnSpc>
              <a:buNone/>
            </a:pPr>
            <a:r>
              <a:rPr lang="en-US" sz="800" dirty="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</a:t>
            </a:r>
            <a:pPr algn="l" indent="0" marL="0">
              <a:lnSpc>
                <a:spcPts val="960"/>
              </a:lnSpc>
              <a:buNone/>
            </a:pPr>
            <a:r>
              <a:rPr lang="en-US" sz="800" u="sng" dirty="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https://github.com/eiler2005/slidecraft/blob/main/CHANGELOG.md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SlideCraft 0.4 release notes and test suite (Oct 2026)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Craft Title sc:quality/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548640" y="640080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88"/>
              </a:lnSpc>
              <a:buNone/>
            </a:pPr>
            <a:r>
              <a:rPr lang="en-US" sz="2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deck is checked before you see it, not after the meeting</a:t>
            </a:r>
            <a:endParaRPr lang="en-US" sz="2400" dirty="0"/>
          </a:p>
        </p:txBody>
      </p:sp>
      <p:sp>
        <p:nvSpPr>
          <p:cNvPr id="2" name="sc:quality/tracker"/>
          <p:cNvSpPr txBox="1"/>
          <p:nvPr/>
        </p:nvSpPr>
        <p:spPr>
          <a:xfrm>
            <a:off x="548640" y="384048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b="1" dirty="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QUALITY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682496"/>
            <a:ext cx="2526716" cy="2971800"/>
          </a:xfrm>
          <a:prstGeom prst="roundRect">
            <a:avLst>
              <a:gd name="adj" fmla="val 1572"/>
            </a:avLst>
          </a:prstGeom>
          <a:solidFill>
            <a:srgbClr val="F2F5F9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31520" y="1847088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b="1" dirty="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1868348" y="1828800"/>
            <a:ext cx="1042416" cy="292608"/>
          </a:xfrm>
          <a:prstGeom prst="roundRect">
            <a:avLst>
              <a:gd name="adj" fmla="val 312500"/>
            </a:avLst>
          </a:prstGeom>
          <a:solidFill>
            <a:srgbClr val="2E7D5B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868348" y="1828800"/>
            <a:ext cx="10424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8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Confirmed</a:t>
            </a:r>
            <a:endParaRPr lang="en-US" sz="900" dirty="0"/>
          </a:p>
        </p:txBody>
      </p:sp>
      <p:sp>
        <p:nvSpPr>
          <p:cNvPr id="8" name="sc:quality/steps/0/check"/>
          <p:cNvSpPr txBox="1"/>
          <p:nvPr/>
        </p:nvSpPr>
        <p:spPr>
          <a:xfrm>
            <a:off x="731520" y="2249424"/>
            <a:ext cx="21609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Text fits</a:t>
            </a:r>
            <a:endParaRPr lang="en-US" sz="1400" dirty="0"/>
          </a:p>
        </p:txBody>
      </p:sp>
      <p:sp>
        <p:nvSpPr>
          <p:cNvPr id="9" name="sc:quality/steps/0/finding"/>
          <p:cNvSpPr txBox="1"/>
          <p:nvPr/>
        </p:nvSpPr>
        <p:spPr>
          <a:xfrm>
            <a:off x="731520" y="2852928"/>
            <a:ext cx="216095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98.6% identical line breaks and no overflow, so what fits here fits in PowerPoint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731520" y="4142232"/>
            <a:ext cx="2160956" cy="91"/>
          </a:xfrm>
          <a:prstGeom prst="line">
            <a:avLst/>
          </a:prstGeom>
          <a:noFill/>
          <a:ln w="6350">
            <a:solidFill>
              <a:srgbClr val="C9D2DE"/>
            </a:solidFill>
            <a:prstDash val="solid"/>
          </a:ln>
        </p:spPr>
      </p:sp>
      <p:sp>
        <p:nvSpPr>
          <p:cNvPr id="11" name="sc:quality/steps/0/source"/>
          <p:cNvSpPr txBox="1"/>
          <p:nvPr/>
        </p:nvSpPr>
        <p:spPr>
          <a:xfrm>
            <a:off x="731520" y="4197096"/>
            <a:ext cx="21609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i="1" dirty="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PowerPoint calibration, 144 strings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130220" y="3058668"/>
            <a:ext cx="201168" cy="219456"/>
          </a:xfrm>
          <a:custGeom>
            <a:avLst/>
            <a:gdLst/>
            <a:ahLst/>
            <a:cxnLst/>
            <a:rect l="l" t="t" r="r" b="b"/>
            <a:pathLst>
              <a:path w="201168" h="219456">
                <a:moveTo>
                  <a:pt x="0" y="0"/>
                </a:moveTo>
                <a:lnTo>
                  <a:pt x="201168" y="109728"/>
                </a:lnTo>
                <a:lnTo>
                  <a:pt x="0" y="219456"/>
                </a:lnTo>
                <a:close/>
              </a:path>
            </a:pathLst>
          </a:custGeom>
          <a:solidFill>
            <a:srgbClr val="5B6B7F"/>
          </a:solidFill>
          <a:ln/>
        </p:spPr>
      </p:sp>
      <p:sp>
        <p:nvSpPr>
          <p:cNvPr id="13" name="Shape 11"/>
          <p:cNvSpPr/>
          <p:nvPr/>
        </p:nvSpPr>
        <p:spPr>
          <a:xfrm>
            <a:off x="3404540" y="1682496"/>
            <a:ext cx="2526716" cy="2971800"/>
          </a:xfrm>
          <a:prstGeom prst="roundRect">
            <a:avLst>
              <a:gd name="adj" fmla="val 1572"/>
            </a:avLst>
          </a:prstGeom>
          <a:solidFill>
            <a:srgbClr val="F2F5F9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587420" y="1847088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b="1" dirty="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724248" y="1828800"/>
            <a:ext cx="1042416" cy="292608"/>
          </a:xfrm>
          <a:prstGeom prst="roundRect">
            <a:avLst>
              <a:gd name="adj" fmla="val 312500"/>
            </a:avLst>
          </a:prstGeom>
          <a:solidFill>
            <a:srgbClr val="2E7D5B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724248" y="1828800"/>
            <a:ext cx="10424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8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Confirmed</a:t>
            </a:r>
            <a:endParaRPr lang="en-US" sz="900" dirty="0"/>
          </a:p>
        </p:txBody>
      </p:sp>
      <p:sp>
        <p:nvSpPr>
          <p:cNvPr id="17" name="sc:quality/steps/1/check"/>
          <p:cNvSpPr txBox="1"/>
          <p:nvPr/>
        </p:nvSpPr>
        <p:spPr>
          <a:xfrm>
            <a:off x="3587420" y="2249424"/>
            <a:ext cx="21609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number has a source</a:t>
            </a:r>
            <a:endParaRPr lang="en-US" sz="1400" dirty="0"/>
          </a:p>
        </p:txBody>
      </p:sp>
      <p:sp>
        <p:nvSpPr>
          <p:cNvPr id="18" name="sc:quality/steps/1/finding"/>
          <p:cNvSpPr txBox="1"/>
          <p:nvPr/>
        </p:nvSpPr>
        <p:spPr>
          <a:xfrm>
            <a:off x="3587420" y="2852928"/>
            <a:ext cx="216095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Slides that show numbers without a source are flagged before delivery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587420" y="4142232"/>
            <a:ext cx="2160956" cy="91"/>
          </a:xfrm>
          <a:prstGeom prst="line">
            <a:avLst/>
          </a:prstGeom>
          <a:noFill/>
          <a:ln w="6350">
            <a:solidFill>
              <a:srgbClr val="C9D2DE"/>
            </a:solidFill>
            <a:prstDash val="solid"/>
          </a:ln>
        </p:spPr>
      </p:sp>
      <p:sp>
        <p:nvSpPr>
          <p:cNvPr id="20" name="sc:quality/steps/1/source"/>
          <p:cNvSpPr txBox="1"/>
          <p:nvPr/>
        </p:nvSpPr>
        <p:spPr>
          <a:xfrm>
            <a:off x="3587420" y="4197096"/>
            <a:ext cx="21609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i="1" dirty="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deck's source list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986120" y="3058668"/>
            <a:ext cx="201168" cy="219456"/>
          </a:xfrm>
          <a:custGeom>
            <a:avLst/>
            <a:gdLst/>
            <a:ahLst/>
            <a:cxnLst/>
            <a:rect l="l" t="t" r="r" b="b"/>
            <a:pathLst>
              <a:path w="201168" h="219456">
                <a:moveTo>
                  <a:pt x="0" y="0"/>
                </a:moveTo>
                <a:lnTo>
                  <a:pt x="201168" y="109728"/>
                </a:lnTo>
                <a:lnTo>
                  <a:pt x="0" y="219456"/>
                </a:lnTo>
                <a:close/>
              </a:path>
            </a:pathLst>
          </a:custGeom>
          <a:solidFill>
            <a:srgbClr val="5B6B7F"/>
          </a:solidFill>
          <a:ln/>
        </p:spPr>
      </p:sp>
      <p:sp>
        <p:nvSpPr>
          <p:cNvPr id="22" name="Shape 20"/>
          <p:cNvSpPr/>
          <p:nvPr/>
        </p:nvSpPr>
        <p:spPr>
          <a:xfrm>
            <a:off x="6260440" y="1682496"/>
            <a:ext cx="2526716" cy="2971800"/>
          </a:xfrm>
          <a:prstGeom prst="roundRect">
            <a:avLst>
              <a:gd name="adj" fmla="val 1572"/>
            </a:avLst>
          </a:prstGeom>
          <a:solidFill>
            <a:srgbClr val="F2F5F9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443320" y="1847088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b="1" dirty="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580147" y="1828800"/>
            <a:ext cx="1042416" cy="292608"/>
          </a:xfrm>
          <a:prstGeom prst="roundRect">
            <a:avLst>
              <a:gd name="adj" fmla="val 312500"/>
            </a:avLst>
          </a:prstGeom>
          <a:solidFill>
            <a:srgbClr val="2E7D5B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7580147" y="1828800"/>
            <a:ext cx="10424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8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Confirmed</a:t>
            </a:r>
            <a:endParaRPr lang="en-US" sz="900" dirty="0"/>
          </a:p>
        </p:txBody>
      </p:sp>
      <p:sp>
        <p:nvSpPr>
          <p:cNvPr id="26" name="sc:quality/steps/2/check"/>
          <p:cNvSpPr txBox="1"/>
          <p:nvPr/>
        </p:nvSpPr>
        <p:spPr>
          <a:xfrm>
            <a:off x="6443320" y="2249424"/>
            <a:ext cx="21609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Readable and accessible</a:t>
            </a:r>
            <a:endParaRPr lang="en-US" sz="1400" dirty="0"/>
          </a:p>
        </p:txBody>
      </p:sp>
      <p:sp>
        <p:nvSpPr>
          <p:cNvPr id="27" name="sc:quality/steps/2/finding"/>
          <p:cNvSpPr txBox="1"/>
          <p:nvPr/>
        </p:nvSpPr>
        <p:spPr>
          <a:xfrm>
            <a:off x="6443320" y="2852928"/>
            <a:ext cx="216095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Colour contrast, slide titles and alt text are checked in PowerPoint and PDF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443320" y="4142232"/>
            <a:ext cx="2160956" cy="91"/>
          </a:xfrm>
          <a:prstGeom prst="line">
            <a:avLst/>
          </a:prstGeom>
          <a:noFill/>
          <a:ln w="6350">
            <a:solidFill>
              <a:srgbClr val="C9D2DE"/>
            </a:solidFill>
            <a:prstDash val="solid"/>
          </a:ln>
        </p:spPr>
      </p:sp>
      <p:sp>
        <p:nvSpPr>
          <p:cNvPr id="29" name="sc:quality/steps/2/source"/>
          <p:cNvSpPr txBox="1"/>
          <p:nvPr/>
        </p:nvSpPr>
        <p:spPr>
          <a:xfrm>
            <a:off x="6443320" y="4197096"/>
            <a:ext cx="21609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i="1" dirty="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Contrast and accessibility checks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8842019" y="3058668"/>
            <a:ext cx="201168" cy="219456"/>
          </a:xfrm>
          <a:custGeom>
            <a:avLst/>
            <a:gdLst/>
            <a:ahLst/>
            <a:cxnLst/>
            <a:rect l="l" t="t" r="r" b="b"/>
            <a:pathLst>
              <a:path w="201168" h="219456">
                <a:moveTo>
                  <a:pt x="0" y="0"/>
                </a:moveTo>
                <a:lnTo>
                  <a:pt x="201168" y="109728"/>
                </a:lnTo>
                <a:lnTo>
                  <a:pt x="0" y="219456"/>
                </a:lnTo>
                <a:close/>
              </a:path>
            </a:pathLst>
          </a:custGeom>
          <a:solidFill>
            <a:srgbClr val="5B6B7F"/>
          </a:solidFill>
          <a:ln/>
        </p:spPr>
      </p:sp>
      <p:sp>
        <p:nvSpPr>
          <p:cNvPr id="31" name="Shape 29"/>
          <p:cNvSpPr/>
          <p:nvPr/>
        </p:nvSpPr>
        <p:spPr>
          <a:xfrm>
            <a:off x="9116339" y="1682496"/>
            <a:ext cx="2526716" cy="2971800"/>
          </a:xfrm>
          <a:prstGeom prst="roundRect">
            <a:avLst>
              <a:gd name="adj" fmla="val 1572"/>
            </a:avLst>
          </a:prstGeom>
          <a:solidFill>
            <a:srgbClr val="F2F5F9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9299219" y="1847088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b="1" dirty="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10436047" y="1828800"/>
            <a:ext cx="1042416" cy="292608"/>
          </a:xfrm>
          <a:prstGeom prst="roundRect">
            <a:avLst>
              <a:gd name="adj" fmla="val 312500"/>
            </a:avLst>
          </a:prstGeom>
          <a:solidFill>
            <a:srgbClr val="9AB7E2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10436047" y="1828800"/>
            <a:ext cx="10424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80"/>
              </a:lnSpc>
              <a:buNone/>
            </a:pPr>
            <a:r>
              <a:rPr lang="en-US" sz="9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call</a:t>
            </a:r>
            <a:endParaRPr lang="en-US" sz="900" dirty="0"/>
          </a:p>
        </p:txBody>
      </p:sp>
      <p:sp>
        <p:nvSpPr>
          <p:cNvPr id="35" name="sc:quality/steps/3/check"/>
          <p:cNvSpPr txBox="1"/>
          <p:nvPr/>
        </p:nvSpPr>
        <p:spPr>
          <a:xfrm>
            <a:off x="9299219" y="2249424"/>
            <a:ext cx="21609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Partner-style review</a:t>
            </a:r>
            <a:endParaRPr lang="en-US" sz="1400" dirty="0"/>
          </a:p>
        </p:txBody>
      </p:sp>
      <p:sp>
        <p:nvSpPr>
          <p:cNvPr id="36" name="sc:quality/steps/3/finding"/>
          <p:cNvSpPr txBox="1"/>
          <p:nvPr/>
        </p:nvSpPr>
        <p:spPr>
          <a:xfrm>
            <a:off x="9299219" y="2852928"/>
            <a:ext cx="216095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assistant reviews like a partner; you give the final sign-off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9299219" y="4142232"/>
            <a:ext cx="2160956" cy="91"/>
          </a:xfrm>
          <a:prstGeom prst="line">
            <a:avLst/>
          </a:prstGeom>
          <a:noFill/>
          <a:ln w="6350">
            <a:solidFill>
              <a:srgbClr val="C9D2DE"/>
            </a:solidFill>
            <a:prstDash val="solid"/>
          </a:ln>
        </p:spPr>
      </p:sp>
      <p:sp>
        <p:nvSpPr>
          <p:cNvPr id="38" name="sc:quality/steps/3/source"/>
          <p:cNvSpPr txBox="1"/>
          <p:nvPr/>
        </p:nvSpPr>
        <p:spPr>
          <a:xfrm>
            <a:off x="9299219" y="4197096"/>
            <a:ext cx="21609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i="1" dirty="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review checklist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548640" y="4928616"/>
            <a:ext cx="11094415" cy="731520"/>
          </a:xfrm>
          <a:prstGeom prst="rect">
            <a:avLst/>
          </a:prstGeom>
          <a:solidFill>
            <a:srgbClr val="1F5FBF"/>
          </a:solidFill>
          <a:ln/>
        </p:spPr>
      </p:sp>
      <p:sp>
        <p:nvSpPr>
          <p:cNvPr id="40" name="sc:quality/conclusion"/>
          <p:cNvSpPr txBox="1"/>
          <p:nvPr/>
        </p:nvSpPr>
        <p:spPr>
          <a:xfrm>
            <a:off x="822960" y="4928616"/>
            <a:ext cx="105457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Therefore: </a:t>
            </a:r>
            <a:pPr algn="l" indent="0" marL="0">
              <a:lnSpc>
                <a:spcPts val="168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open a deck that is ready to discuss, not ready to fix</a:t>
            </a:r>
            <a:endParaRPr lang="en-US" sz="1400" dirty="0"/>
          </a:p>
        </p:txBody>
      </p:sp>
      <p:sp>
        <p:nvSpPr>
          <p:cNvPr id="41" name="sc:quality/exception"/>
          <p:cNvSpPr txBox="1"/>
          <p:nvPr/>
        </p:nvSpPr>
        <p:spPr>
          <a:xfrm>
            <a:off x="548640" y="573328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b="1" dirty="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Unless: </a:t>
            </a:r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data behind a slide is missing — then SlideCraft flags the gap instead of inventing it</a:t>
            </a:r>
            <a:endParaRPr lang="en-US" sz="1000" dirty="0"/>
          </a:p>
        </p:txBody>
      </p:sp>
      <p:sp>
        <p:nvSpPr>
          <p:cNvPr id="42" name="sc:quality/sources"/>
          <p:cNvSpPr txBox="1"/>
          <p:nvPr/>
        </p:nvSpPr>
        <p:spPr>
          <a:xfrm>
            <a:off x="548640" y="5961888"/>
            <a:ext cx="99971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ts val="960"/>
              </a:lnSpc>
              <a:buNone/>
            </a:pPr>
            <a:r>
              <a:rPr lang="en-US" sz="800" dirty="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</a:t>
            </a:r>
            <a:pPr algn="l" indent="0" marL="0">
              <a:lnSpc>
                <a:spcPts val="960"/>
              </a:lnSpc>
              <a:buNone/>
            </a:pPr>
            <a:r>
              <a:rPr lang="en-US" sz="800" u="sng" dirty="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https://github.com/eiler2005/slidecraft/blob/main/docs/how-to/apply-brand.md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SlideCraft calibration against Microsoft PowerPoint, 144 strings (Oct 2026)</a:t>
            </a:r>
            <a:pPr algn="l" indent="0" marL="0">
              <a:lnSpc>
                <a:spcPts val="960"/>
              </a:lnSpc>
              <a:buNone/>
            </a:pPr>
            <a:r>
              <a:rPr lang="en-US" sz="800" dirty="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; </a:t>
            </a:r>
            <a:pPr algn="l" indent="0" marL="0">
              <a:lnSpc>
                <a:spcPts val="960"/>
              </a:lnSpc>
              <a:buNone/>
            </a:pPr>
            <a:r>
              <a:rPr lang="en-US" sz="800" u="sng" dirty="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https://github.com/eiler2005/slidecraft/blob/main/CHANGELOG.md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SlideCraft 0.4 release notes and test suite (Oct 2026)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Craft Title sc:brand/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548640" y="640080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88"/>
              </a:lnSpc>
              <a:buNone/>
            </a:pPr>
            <a:r>
              <a:rPr lang="en-US" sz="2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brand, your old decks and your readers all come along</a:t>
            </a:r>
            <a:endParaRPr lang="en-US" sz="2400" dirty="0"/>
          </a:p>
        </p:txBody>
      </p:sp>
      <p:sp>
        <p:nvSpPr>
          <p:cNvPr id="2" name="sc:brand/tracker"/>
          <p:cNvSpPr txBox="1"/>
          <p:nvPr/>
        </p:nvSpPr>
        <p:spPr>
          <a:xfrm>
            <a:off x="548640" y="384048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b="1" dirty="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FITS YOUR WORK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682496"/>
            <a:ext cx="3362858" cy="91"/>
          </a:xfrm>
          <a:prstGeom prst="line">
            <a:avLst/>
          </a:prstGeom>
          <a:noFill/>
          <a:ln w="31750">
            <a:solidFill>
              <a:srgbClr val="1F5FBF"/>
            </a:solidFill>
            <a:prstDash val="solid"/>
          </a:ln>
        </p:spPr>
      </p:sp>
      <p:sp>
        <p:nvSpPr>
          <p:cNvPr id="5" name="sc:brand/points/0/heading"/>
          <p:cNvSpPr txBox="1"/>
          <p:nvPr/>
        </p:nvSpPr>
        <p:spPr>
          <a:xfrm>
            <a:off x="548640" y="1956816"/>
            <a:ext cx="33628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template, your look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414418" y="1682496"/>
            <a:ext cx="3362858" cy="91"/>
          </a:xfrm>
          <a:prstGeom prst="line">
            <a:avLst/>
          </a:prstGeom>
          <a:noFill/>
          <a:ln w="31750">
            <a:solidFill>
              <a:srgbClr val="1F5FBF"/>
            </a:solidFill>
            <a:prstDash val="solid"/>
          </a:ln>
        </p:spPr>
      </p:sp>
      <p:sp>
        <p:nvSpPr>
          <p:cNvPr id="7" name="sc:brand/points/1/heading"/>
          <p:cNvSpPr txBox="1"/>
          <p:nvPr/>
        </p:nvSpPr>
        <p:spPr>
          <a:xfrm>
            <a:off x="4414418" y="1956816"/>
            <a:ext cx="33628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Old decks, restyled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8280197" y="1682496"/>
            <a:ext cx="3362858" cy="91"/>
          </a:xfrm>
          <a:prstGeom prst="line">
            <a:avLst/>
          </a:prstGeom>
          <a:noFill/>
          <a:ln w="31750">
            <a:solidFill>
              <a:srgbClr val="1F5FBF"/>
            </a:solidFill>
            <a:prstDash val="solid"/>
          </a:ln>
        </p:spPr>
      </p:sp>
      <p:sp>
        <p:nvSpPr>
          <p:cNvPr id="9" name="sc:brand/points/2/heading"/>
          <p:cNvSpPr txBox="1"/>
          <p:nvPr/>
        </p:nvSpPr>
        <p:spPr>
          <a:xfrm>
            <a:off x="8280197" y="1956816"/>
            <a:ext cx="33628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format each reader needs</a:t>
            </a:r>
            <a:endParaRPr lang="en-US" sz="1800" dirty="0"/>
          </a:p>
        </p:txBody>
      </p:sp>
      <p:sp>
        <p:nvSpPr>
          <p:cNvPr id="10" name="sc:brand/points/0/body"/>
          <p:cNvSpPr txBox="1"/>
          <p:nvPr/>
        </p:nvSpPr>
        <p:spPr>
          <a:xfrm>
            <a:off x="548640" y="2395728"/>
            <a:ext cx="3362858" cy="3675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Import a .potx once. Colours, fonts, logo and layouts apply, and PowerPoint files are built inside your template.</a:t>
            </a:r>
            <a:endParaRPr lang="en-US" sz="1500" dirty="0"/>
          </a:p>
        </p:txBody>
      </p:sp>
      <p:sp>
        <p:nvSpPr>
          <p:cNvPr id="11" name="sc:brand/points/1/body"/>
          <p:cNvSpPr txBox="1"/>
          <p:nvPr/>
        </p:nvSpPr>
        <p:spPr>
          <a:xfrm>
            <a:off x="4414418" y="2395728"/>
            <a:ext cx="3362858" cy="3675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Bring an existing PowerPoint. The assistant rewrites the titles as claims and rebuilds the charts from the data.</a:t>
            </a:r>
            <a:endParaRPr lang="en-US" sz="1500" dirty="0"/>
          </a:p>
        </p:txBody>
      </p:sp>
      <p:sp>
        <p:nvSpPr>
          <p:cNvPr id="12" name="sc:brand/points/2/body"/>
          <p:cNvSpPr txBox="1"/>
          <p:nvPr/>
        </p:nvSpPr>
        <p:spPr>
          <a:xfrm>
            <a:off x="8280197" y="2395728"/>
            <a:ext cx="3362858" cy="3675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PDF for the board, a one-page summary, a Word memo for pre-reading, an HTML deck for presenting.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Craft Title sc:start/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548640" y="640080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88"/>
              </a:lnSpc>
              <a:buNone/>
            </a:pPr>
            <a:r>
              <a:rPr lang="en-US" sz="2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with your next deck in about ten minutes</a:t>
            </a:r>
            <a:endParaRPr lang="en-US" sz="2400" dirty="0"/>
          </a:p>
        </p:txBody>
      </p:sp>
      <p:sp>
        <p:nvSpPr>
          <p:cNvPr id="2" name="sc:start/tracker"/>
          <p:cNvSpPr txBox="1"/>
          <p:nvPr/>
        </p:nvSpPr>
        <p:spPr>
          <a:xfrm>
            <a:off x="548640" y="384048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b="1" dirty="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 STARTED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682496"/>
            <a:ext cx="4042142" cy="4389120"/>
          </a:xfrm>
          <a:prstGeom prst="rect">
            <a:avLst/>
          </a:prstGeom>
          <a:solidFill>
            <a:srgbClr val="1F5FB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14400" y="2048256"/>
            <a:ext cx="33106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REQUESTED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914400" y="2432304"/>
            <a:ext cx="457200" cy="91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7" name="sc:start/decision"/>
          <p:cNvSpPr txBox="1"/>
          <p:nvPr/>
        </p:nvSpPr>
        <p:spPr>
          <a:xfrm>
            <a:off x="914400" y="2688336"/>
            <a:ext cx="3310622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96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Try SlideCraft on one real deck this week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5047982" y="1682496"/>
            <a:ext cx="6595073" cy="91"/>
          </a:xfrm>
          <a:prstGeom prst="line">
            <a:avLst/>
          </a:prstGeom>
          <a:noFill/>
          <a:ln w="12700">
            <a:solidFill>
              <a:srgbClr val="0B1F3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047982" y="1682496"/>
            <a:ext cx="502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880"/>
              </a:lnSpc>
              <a:buNone/>
            </a:pPr>
            <a:r>
              <a:rPr lang="en-US" sz="2400" b="1" dirty="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400" dirty="0"/>
          </a:p>
        </p:txBody>
      </p:sp>
      <p:sp>
        <p:nvSpPr>
          <p:cNvPr id="10" name="sc:start/steps/0/action"/>
          <p:cNvSpPr txBox="1"/>
          <p:nvPr/>
        </p:nvSpPr>
        <p:spPr>
          <a:xfrm>
            <a:off x="5642342" y="1798320"/>
            <a:ext cx="6000713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Install it for your AI assistant — Claude Code, Codex, Cursor or another</a:t>
            </a:r>
            <a:endParaRPr lang="en-US" sz="1400" dirty="0"/>
          </a:p>
        </p:txBody>
      </p:sp>
      <p:sp>
        <p:nvSpPr>
          <p:cNvPr id="11" name="sc:start/steps/0/owner"/>
          <p:cNvSpPr txBox="1"/>
          <p:nvPr/>
        </p:nvSpPr>
        <p:spPr>
          <a:xfrm>
            <a:off x="5642342" y="2261616"/>
            <a:ext cx="600071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· 2 min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047982" y="2596896"/>
            <a:ext cx="6595073" cy="91"/>
          </a:xfrm>
          <a:prstGeom prst="line">
            <a:avLst/>
          </a:prstGeom>
          <a:noFill/>
          <a:ln w="6350">
            <a:solidFill>
              <a:srgbClr val="C9D2D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047982" y="2596896"/>
            <a:ext cx="502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880"/>
              </a:lnSpc>
              <a:buNone/>
            </a:pPr>
            <a:r>
              <a:rPr lang="en-US" sz="2400" b="1" dirty="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400" dirty="0"/>
          </a:p>
        </p:txBody>
      </p:sp>
      <p:sp>
        <p:nvSpPr>
          <p:cNvPr id="14" name="sc:start/steps/1/action"/>
          <p:cNvSpPr txBox="1"/>
          <p:nvPr/>
        </p:nvSpPr>
        <p:spPr>
          <a:xfrm>
            <a:off x="5642342" y="2819400"/>
            <a:ext cx="6000713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Say what the deck must achieve and for whom</a:t>
            </a:r>
            <a:endParaRPr lang="en-US" sz="1400" dirty="0"/>
          </a:p>
        </p:txBody>
      </p:sp>
      <p:sp>
        <p:nvSpPr>
          <p:cNvPr id="15" name="sc:start/steps/1/owner"/>
          <p:cNvSpPr txBox="1"/>
          <p:nvPr/>
        </p:nvSpPr>
        <p:spPr>
          <a:xfrm>
            <a:off x="5642342" y="3069336"/>
            <a:ext cx="600071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· 1 min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047982" y="3511296"/>
            <a:ext cx="6595073" cy="91"/>
          </a:xfrm>
          <a:prstGeom prst="line">
            <a:avLst/>
          </a:prstGeom>
          <a:noFill/>
          <a:ln w="6350">
            <a:solidFill>
              <a:srgbClr val="C9D2DE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047982" y="3511296"/>
            <a:ext cx="502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880"/>
              </a:lnSpc>
              <a:buNone/>
            </a:pPr>
            <a:r>
              <a:rPr lang="en-US" sz="2400" b="1" dirty="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400" dirty="0"/>
          </a:p>
        </p:txBody>
      </p:sp>
      <p:sp>
        <p:nvSpPr>
          <p:cNvPr id="18" name="sc:start/steps/2/action"/>
          <p:cNvSpPr txBox="1"/>
          <p:nvPr/>
        </p:nvSpPr>
        <p:spPr>
          <a:xfrm>
            <a:off x="5642342" y="3733800"/>
            <a:ext cx="6000713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Approve the template, the titles and the review</a:t>
            </a:r>
            <a:endParaRPr lang="en-US" sz="1400" dirty="0"/>
          </a:p>
        </p:txBody>
      </p:sp>
      <p:sp>
        <p:nvSpPr>
          <p:cNvPr id="19" name="sc:start/steps/2/owner"/>
          <p:cNvSpPr txBox="1"/>
          <p:nvPr/>
        </p:nvSpPr>
        <p:spPr>
          <a:xfrm>
            <a:off x="5642342" y="3983736"/>
            <a:ext cx="600071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· 5 min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047982" y="4425696"/>
            <a:ext cx="6595073" cy="91"/>
          </a:xfrm>
          <a:prstGeom prst="line">
            <a:avLst/>
          </a:prstGeom>
          <a:noFill/>
          <a:ln w="6350">
            <a:solidFill>
              <a:srgbClr val="C9D2DE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047982" y="4425696"/>
            <a:ext cx="502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880"/>
              </a:lnSpc>
              <a:buNone/>
            </a:pPr>
            <a:r>
              <a:rPr lang="en-US" sz="2400" b="1" dirty="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400" dirty="0"/>
          </a:p>
        </p:txBody>
      </p:sp>
      <p:sp>
        <p:nvSpPr>
          <p:cNvPr id="22" name="sc:start/steps/3/action"/>
          <p:cNvSpPr txBox="1"/>
          <p:nvPr/>
        </p:nvSpPr>
        <p:spPr>
          <a:xfrm>
            <a:off x="5642342" y="4648200"/>
            <a:ext cx="6000713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the PowerPoint and PDF, then edit freely</a:t>
            </a:r>
            <a:endParaRPr lang="en-US" sz="1400" dirty="0"/>
          </a:p>
        </p:txBody>
      </p:sp>
      <p:sp>
        <p:nvSpPr>
          <p:cNvPr id="23" name="sc:start/steps/3/owner"/>
          <p:cNvSpPr txBox="1"/>
          <p:nvPr/>
        </p:nvSpPr>
        <p:spPr>
          <a:xfrm>
            <a:off x="5642342" y="4898136"/>
            <a:ext cx="600071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· Done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047982" y="5340096"/>
            <a:ext cx="6595073" cy="91"/>
          </a:xfrm>
          <a:prstGeom prst="line">
            <a:avLst/>
          </a:prstGeom>
          <a:noFill/>
          <a:ln w="6350">
            <a:solidFill>
              <a:srgbClr val="C9D2DE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Craft Title sc:close/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822960" y="2103120"/>
            <a:ext cx="1054577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lnSpc>
                <a:spcPts val="3840"/>
              </a:lnSpc>
              <a:buNone/>
            </a:pPr>
            <a:r>
              <a:rPr lang="en-US" sz="3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Describe the goal. Pick a look. Ship a partner-ready deck.</a:t>
            </a:r>
            <a:endParaRPr lang="en-US" sz="3200" dirty="0"/>
          </a:p>
        </p:txBody>
      </p:sp>
      <p:sp>
        <p:nvSpPr>
          <p:cNvPr id="3" name="sc:close/subtitle"/>
          <p:cNvSpPr txBox="1"/>
          <p:nvPr/>
        </p:nvSpPr>
        <p:spPr>
          <a:xfrm>
            <a:off x="822960" y="3931920"/>
            <a:ext cx="105457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920"/>
              </a:lnSpc>
              <a:buNone/>
            </a:pPr>
            <a:r>
              <a:rPr lang="en-US" sz="1600" dirty="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Free and open source under the MIT licence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547208" y="4617720"/>
            <a:ext cx="1097280" cy="91"/>
          </a:xfrm>
          <a:prstGeom prst="line">
            <a:avLst/>
          </a:prstGeom>
          <a:noFill/>
          <a:ln w="19050">
            <a:solidFill>
              <a:srgbClr val="1F5FBF"/>
            </a:solidFill>
            <a:prstDash val="solid"/>
          </a:ln>
        </p:spPr>
      </p:sp>
      <p:sp>
        <p:nvSpPr>
          <p:cNvPr id="5" name="sc:close/contact"/>
          <p:cNvSpPr txBox="1"/>
          <p:nvPr/>
        </p:nvSpPr>
        <p:spPr>
          <a:xfrm>
            <a:off x="822960" y="4754880"/>
            <a:ext cx="105457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400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github.com/eiler2005/slidecraft</a:t>
            </a:r>
            <a:endParaRPr lang="en-US" sz="1400" dirty="0"/>
          </a:p>
          <a:p>
            <a:pPr algn="ctr" indent="0" marL="0">
              <a:lnSpc>
                <a:spcPts val="1680"/>
              </a:lnSpc>
              <a:buNone/>
            </a:pPr>
            <a:r>
              <a:rPr lang="en-US" sz="1400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eiler2005.github.io/slidecraft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SlideCraft turns a goal into a partner-ready deck you can edit</dc:title>
  <dc:subject>Generated by SlideCraft 0.5.0</dc:subject>
  <dc:creator>Denis Ermilov</dc:creator>
  <cp:lastModifiedBy>Denis Ermilov</cp:lastModifiedBy>
  <cp:revision>1</cp:revision>
  <dcterms:created xsi:type="dcterms:W3CDTF">2026-01-01T00:00:00Z</dcterms:created>
  <dcterms:modified xsi:type="dcterms:W3CDTF">2026-01-01T00:00:00Z</dcterms:modified>
</cp:coreProperties>
</file>