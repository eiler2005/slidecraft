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666"/>
  </p:normalViewPr>
  <p:slideViewPr>
    <p:cSldViewPr snapToGrid="0">
      <p:cViewPr varScale="1">
        <p:scale>
          <a:sx n="142" d="100"/>
          <a:sy n="142" d="100"/>
        </p:scale>
        <p:origin x="45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Открывающая мысль: цифровой рубль нужно сравнивать не только с картой, но и с банковским депозитом как особой формой денег.</a:t>
            </a:r>
          </a:p>
          <a:p>
            <a:endParaRPr/>
          </a:p>
          <a:p>
            <a:r>
              <a:t>[Sources]</a:t>
            </a:r>
          </a:p>
          <a:p>
            <a:r>
              <a:t>- https://www.cbr.ru/faq/dr/</a:t>
            </a:r>
          </a:p>
          <a:p>
            <a:r>
              <a:t>- https://www.cbr.ru/content/document/file/120075/concept_08042021.pdf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https://www.cbr.ru/faq/dr/</a:t>
            </a:r>
          </a:p>
          <a:p>
            <a:r>
              <a:t>- https://www.cbr.ru/press/event/?id=32778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Расчет на слайде: 135,7 трлн руб. M2 / 31,3153 трлн руб. широкой денежной базы ≈ 4,33.</a:t>
            </a:r>
          </a:p>
          <a:p>
            <a:endParaRPr/>
          </a:p>
          <a:p>
            <a:r>
              <a:t>[Sources]</a:t>
            </a:r>
          </a:p>
          <a:p>
            <a:r>
              <a:t>- https://www.bankofengland.co.uk/quarterly-bulletin/2014/q1/money-creation-in-the-modern-economy</a:t>
            </a:r>
          </a:p>
          <a:p>
            <a:r>
              <a:t>- https://www.cbr.ru/statistics/macro_itm/dkfs/monetary_agg/</a:t>
            </a:r>
          </a:p>
          <a:p>
            <a:r>
              <a:t>- https://www.interfax.ru/business/1109341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https://www.cbr.ru/content/document/file/120075/concept_08042021.pdf</a:t>
            </a:r>
          </a:p>
          <a:p>
            <a:r>
              <a:t>- https://www.cbr.ru/press/event/?id=32778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Именно этот балансный разбор — главное содержательное улучшение из приложенного PDF. Прогнозы 2021 года о функциональности не выдаются за текущий статус.</a:t>
            </a:r>
          </a:p>
          <a:p>
            <a:endParaRPr/>
          </a:p>
          <a:p>
            <a:r>
              <a:t>[Sources]</a:t>
            </a:r>
          </a:p>
          <a:p>
            <a:r>
              <a:t>- Приложенный документ: Банк России, Концепция цифрового рубля (2021), раздел 4.2, с. 25–26.</a:t>
            </a:r>
          </a:p>
          <a:p>
            <a:r>
              <a:t>- https://www.cbr.ru/content/document/file/120075/concept_08042021.pdf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https://www.bankofengland.co.uk/quarterly-bulletin/2014/q1/money-creation-in-the-modern-economy</a:t>
            </a:r>
          </a:p>
          <a:p>
            <a:r>
              <a:t>- https://www.bis.org/publications/aer-2020/central-banks-payments-digital-era.htm</a:t>
            </a:r>
          </a:p>
          <a:p>
            <a:r>
              <a:t>- https://www.cbr.ru/content/document/file/120075/concept_08042021.pdf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https://www.cbr.ru/faq/dr/</a:t>
            </a:r>
          </a:p>
          <a:p>
            <a:r>
              <a:t>- https://www.cbr.ru/content/document/file/120075/concept_08042021.pdf</a:t>
            </a:r>
          </a:p>
          <a:p>
            <a:r>
              <a:t>- https://www.cbr.ru/content/document/file/150171/standart_dr_20230807_2.pdf</a:t>
            </a:r>
          </a:p>
          <a:p>
            <a:r>
              <a:t>- https://www.cbr.ru/Content/Document/File/189997/album_dr_20260701.pdf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Тезис для обсуждения: смарт-контракт сам по себе нейтрален; общественный риск определяется полномочиями того, кто может задать условия расходования.</a:t>
            </a:r>
          </a:p>
          <a:p>
            <a:endParaRPr/>
          </a:p>
          <a:p>
            <a:r>
              <a:t>[Sources]</a:t>
            </a:r>
          </a:p>
          <a:p>
            <a:r>
              <a:t>- https://www.cbr.ru/faq/dr/</a:t>
            </a:r>
          </a:p>
          <a:p>
            <a:r>
              <a:t>- https://www.cbr.ru/press/event/?id=32778</a:t>
            </a:r>
          </a:p>
          <a:p>
            <a:r>
              <a:t>- https://www.cbr.ru/content/document/file/120075/concept_08042021.pdf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По опросу BIS за 2024 год 91% из 93 опрошенных центробанков изучали хотя бы одну модель CBDC; оптовые проекты в среднем находились на более продвинутых стадиях.</a:t>
            </a:r>
          </a:p>
          <a:p>
            <a:endParaRPr/>
          </a:p>
          <a:p>
            <a:r>
              <a:t>[Sources]</a:t>
            </a:r>
          </a:p>
          <a:p>
            <a:r>
              <a:t>- https://www.bis.org/publications/paper-159-advancing-tandem-results-2024-bis-survey-central-bank-digital-currencies-and-crypto</a:t>
            </a:r>
          </a:p>
          <a:p>
            <a:r>
              <a:t>- https://www.cbr.ru/PSystem/dr/</a:t>
            </a:r>
          </a:p>
          <a:p>
            <a:r>
              <a:t>- https://www.ecb.europa.eu/euro/digital_euro/html/index.en.html</a:t>
            </a:r>
          </a:p>
          <a:p>
            <a:r>
              <a:t>- https://www.bcb.gov.br/estabilidadefinanceira/drex</a:t>
            </a:r>
          </a:p>
          <a:p>
            <a:r>
              <a:t>- https://www.sanddollar.bs/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Сравнение сводит официальные проектные решения. Формулировка о степени управляемости — аналитический вывод из архитектуры и заявленных функций, а не правовой рейтинг стран.</a:t>
            </a:r>
          </a:p>
          <a:p>
            <a:endParaRPr/>
          </a:p>
          <a:p>
            <a:r>
              <a:t>[Sources]</a:t>
            </a:r>
          </a:p>
          <a:p>
            <a:r>
              <a:t>- https://www.cbr.ru/faq/dr/</a:t>
            </a:r>
          </a:p>
          <a:p>
            <a:r>
              <a:t>- https://www.cbr.ru/content/document/file/120075/concept_08042021.pdf</a:t>
            </a:r>
          </a:p>
          <a:p>
            <a:r>
              <a:t>- https://www.pbc.gov.cn/en/3935690/3935759/4696666/2022110110364344083.pdf</a:t>
            </a:r>
          </a:p>
          <a:p>
            <a:r>
              <a:t>- https://www.ecb.europa.eu/euro/digital_euro/html/index.en.html</a:t>
            </a:r>
          </a:p>
          <a:p>
            <a:r>
              <a:t>- https://www.ecb.europa.eu/euro/digital_euro/features/privacy/html/index.en.html</a:t>
            </a:r>
          </a:p>
          <a:p>
            <a:r>
              <a:t>- https://www.ecb.europa.eu/euro/digital_euro/features/facts/html/index.en.html</a:t>
            </a:r>
          </a:p>
          <a:p>
            <a:r>
              <a:t>- https://www.bcb.gov.br/estabilidadefinanceira/drex</a:t>
            </a:r>
          </a:p>
          <a:p>
            <a:r>
              <a:t>- https://www.sanddollar.bs/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mBridge достиг стадии MVP в 2024 году и показал модель общей multi-CBDC платформы. Project Mariana показал техническую реализуемость трансграничной торговли и расчётов оптовыми CBDC. Это эксперименты, а не гарантия политического или правового доступа России к таким платформам.</a:t>
            </a:r>
          </a:p>
          <a:p>
            <a:endParaRPr/>
          </a:p>
          <a:p>
            <a:r>
              <a:t>[Sources]</a:t>
            </a:r>
          </a:p>
          <a:p>
            <a:r>
              <a:t>- https://www.bis.org/project/mbridge</a:t>
            </a:r>
          </a:p>
          <a:p>
            <a:r>
              <a:t>- https://www.bis.org/project/mariana</a:t>
            </a:r>
          </a:p>
          <a:p>
            <a:r>
              <a:t>- https://www.bis.org/media-releases/20211007-cpmi-calls-ideas-solutions-expand-pvp-settlement</a:t>
            </a:r>
          </a:p>
          <a:p>
            <a:r>
              <a:t>- https://www.cbr.ru/content/document/file/120075/concept_08042021.pdf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Схема показывает действующую модель счёта на платформе Банка России. Клиент может обращаться к одному счёту через приложения банков, в которых он обслуживается. Лимит относится к пополнению со своих банковских счетов.</a:t>
            </a:r>
          </a:p>
          <a:p>
            <a:endParaRPr/>
          </a:p>
          <a:p>
            <a:r>
              <a:t>Источники:</a:t>
            </a:r>
          </a:p>
          <a:p>
            <a:r>
              <a:t>https://www.cnews.ru/articles/2025-12-17_tsifrovoj_rubl_chto_izvestno_o_novoj</a:t>
            </a:r>
          </a:p>
          <a:p>
            <a:r>
              <a:t>https://www.cbr.ru/press/event/?id=32778</a:t>
            </a:r>
          </a:p>
          <a:p>
            <a:r>
              <a:t>Дата проверки: 05.10.2026.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Формы описывают сведения, предоставляемые по запросам налоговых органов. Приказ устанавливает вступление в силу через девять месяцев после официального опубликования, но не ранее 1 июля 2027 года. Наличие поля в форме не означает доступность каждого идентификатора в каждой операции. Технический след сам по себе не доказывает нарушение.</a:t>
            </a:r>
          </a:p>
          <a:p>
            <a:r>
              <a:t>Форма по цифровому рублю: https://www.consultant.ru/document/cons_doc_LAW_543497/5a6d4b21a0250f31330988d96a8934add666f017/</a:t>
            </a:r>
          </a:p>
          <a:p>
            <a:endParaRPr/>
          </a:p>
          <a:p>
            <a:r>
              <a:t>Источники:</a:t>
            </a:r>
          </a:p>
          <a:p>
            <a:r>
              <a:t>https://www.cnews.ru/news/top/2026-09-09_fns_usilit_slezhku_za_tsifrovym</a:t>
            </a:r>
          </a:p>
          <a:p>
            <a:r>
              <a:t>https://www.consultant.ru/document/cons_doc_LAW_543497/</a:t>
            </a:r>
          </a:p>
          <a:p>
            <a:r>
              <a:t>https://www.consultant.ru/document/cons_doc_LAW_350144/6e33d5b25584a9bfae2a6e4a8f4116e7186fd1ed/</a:t>
            </a:r>
          </a:p>
          <a:p>
            <a:r>
              <a:t>Дата проверки: 05.10.2026.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Учебный сценарий оплаты оборудования после подтверждения приёмки. Это объяснение механизма, а не описание доступной сегодня услуги. Проектирование условного платежа требует согласовать событие, источник подтверждения и действия при задержке или споре.</a:t>
            </a:r>
          </a:p>
          <a:p>
            <a:endParaRPr/>
          </a:p>
          <a:p>
            <a:r>
              <a:t>Источники:</a:t>
            </a:r>
          </a:p>
          <a:p>
            <a:r>
              <a:t>https://www.cnews.ru/articles/2026-06-04_smart-kontrakty_novyj_etap_tsifrovizatsii</a:t>
            </a:r>
          </a:p>
          <a:p>
            <a:r>
              <a:t>https://www.cnews.ru/articles/2025-12-17_tsifrovoj_rubl_chto_izvestno_o_novoj</a:t>
            </a:r>
          </a:p>
          <a:p>
            <a:r>
              <a:t>Дата проверки: 05.10.2026.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Упрощённая схема одного из вариантов в концепции. ПКСК рассматривается как отдельный компонент платформы цифрового рубля. Публикация в витрине требует тестирования и проверки. Технические и правовые детали, включая ответственность участников, требуют дальнейшей проработки. Статус на дату проверки: предложенная модель.</a:t>
            </a:r>
          </a:p>
          <a:p>
            <a:endParaRPr/>
          </a:p>
          <a:p>
            <a:r>
              <a:t>Источники:</a:t>
            </a:r>
          </a:p>
          <a:p>
            <a:r>
              <a:t>https://www.cbr.ru/Content/Document/File/193705/commercial_smart_contract_platform.pdf</a:t>
            </a:r>
          </a:p>
          <a:p>
            <a:r>
              <a:t>https://www.cnews.ru/articles/2026-06-04_smart-kontrakty_novyj_etap_tsifrovizatsii</a:t>
            </a:r>
          </a:p>
          <a:p>
            <a:r>
              <a:t>Дата проверки: 05.10.2026.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Авторская систематизация вопросов к условной сделке по материалу CNews. Таблица не описывает обнаруженные уязвимости цифрового рубля. Ошибки публичных криптовалютных контрактов нельзя автоматически переносить на платформу Банка России.</a:t>
            </a:r>
          </a:p>
          <a:p>
            <a:endParaRPr/>
          </a:p>
          <a:p>
            <a:r>
              <a:t>Источники:</a:t>
            </a:r>
          </a:p>
          <a:p>
            <a:r>
              <a:t>https://www.cnews.ru/articles/2026-06-04_smart-kontrakty_novyj_etap_tsifrovizatsii</a:t>
            </a:r>
          </a:p>
          <a:p>
            <a:r>
              <a:t>Дата проверки: 05.10.2026.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Материал CNews помечен как реклама. Возможности и сроки приведены как заявления РБС / БПЦ. Компания сообщает о платежах ЖКХ и частичных возвратах для авиаиндустрии. Срок менее одного дня относится к подключению при выполненных предпосылках. Суммы на слайде — учебный пример, а не данные поставщика.</a:t>
            </a:r>
          </a:p>
          <a:p>
            <a:endParaRPr/>
          </a:p>
          <a:p>
            <a:r>
              <a:t>Источники:</a:t>
            </a:r>
          </a:p>
          <a:p>
            <a:r>
              <a:t>https://www.cnews.ru/articles/2026-09-22_mihail_danilovrbs_uzhe_segodnya_it-resheniya</a:t>
            </a:r>
          </a:p>
          <a:p>
            <a:r>
              <a:t>Дата проверки: 05.10.2026.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Сравнение относится к цифровому рублю и цифровым финансовым активам (ЦФА) в российской практике. ЦФА являются одной из конструкций токенизации.</a:t>
            </a:r>
          </a:p>
          <a:p>
            <a:endParaRPr/>
          </a:p>
          <a:p>
            <a:r>
              <a:t>Источники:</a:t>
            </a:r>
          </a:p>
          <a:p>
            <a:r>
              <a:t>https://www.cbr.ru/faq/dr/</a:t>
            </a:r>
          </a:p>
          <a:p>
            <a:r>
              <a:t>FAQ Банка России, обновление основных ответов 01.09.2026: форма национальной валюты, эмитент Банк России, эквивалентность форм рубля, отсутствие процентов на остаток.</a:t>
            </a:r>
          </a:p>
          <a:p>
            <a:r>
              <a:t>https://www.cbr.ru/finm_infrastructure/digital_oper/</a:t>
            </a:r>
          </a:p>
          <a:p>
            <a:r>
              <a:t>Определение ЦФА и видов прав, оператор информационной системы, решение о выпуске. ЦФА могут предусматривать денежные требования, права по эмиссионным ценным бумагам, участие в капитале непубличного АО и требование передачи эмиссионных ценных бумаг.</a:t>
            </a:r>
          </a:p>
          <a:p>
            <a:r>
              <a:t>Строка о стоимости означает условия обязательства и цену сделки, а не обязательную рыночную котировку каждого выпуска. ЦФА не являются универсальным платёжным средством для обычных внутренних расчётов. Специальные режимы внешнеторговых расчётов в данном сравнении не рассматриваются.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a:t>
            </a:r>
          </a:p>
          <a:p>
            <a:r>
              <a:t>https://www.cbr.ru/press/event/?id=23159</a:t>
            </a:r>
          </a:p>
          <a:p>
            <a:r>
              <a:t>Банк России, 22.11.2024: в российском законодательстве к токенам применима конструкция цифровых прав, в том числе ЦФА, утилитарных и гибридных цифровых прав.</a:t>
            </a:r>
          </a:p>
          <a:p>
            <a:r>
              <a:t>https://www.cbr.ru/finm_infrastructure/digital_oper/</a:t>
            </a:r>
          </a:p>
          <a:p>
            <a:r>
              <a:t>Определение финансовых прав по ЦФА и гибридных прав, объединяющих ЦФА и иные цифровые права.</a:t>
            </a:r>
          </a:p>
          <a:p>
            <a:r>
              <a:t>https://www.cbr.ru/Content/Document/File/170116/analytical_report_22112024.pdf</a:t>
            </a:r>
          </a:p>
          <a:p>
            <a:r>
              <a:t>Доклад Банка России «Токенизация активов реального мира: экономическая природа и опыт регулирования», 2024.</a:t>
            </a:r>
          </a:p>
          <a:p>
            <a:r>
              <a:t>Таблица показывает примеры содержания прав и не перечисляет все допустимые конструкции. Утилитарные цифровые права могут включать требования передачи вещи, исключительных прав или прав использования результатов интеллектуальной деятельности, выполнения работ или оказания услуг. Пример гибридного права условный: конкретное сочетание и порядок исполнения определяются документами выпуска. Права участия в капитале непубличного АО не тождественны собственности на имущество самого общества.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Учебный пример. Числа не являются параметрами реального выпуска или прогнозом доходности.</a:t>
            </a:r>
          </a:p>
          <a:p>
            <a:r>
              <a:t>Цена условного долгового ЦФА составляет 100 000 рублей. Условия выпуска предусматривают денежную выплату 110 000 рублей через один год. Прирост выплаты относительно цены приобретения: (110 000 - 100 000) / 100 000 = 10%. Выплата зависит от исполнения обязательства эмитентом.</a:t>
            </a:r>
          </a:p>
          <a:p>
            <a:r>
              <a:t>Для цифрового рубля показан остаток при отсутствии операций: платформа не начисляет проценты. Это сравнение номинальных сумм, покупательная способность и инфляция не анализируются.</a:t>
            </a:r>
          </a:p>
          <a:p>
            <a:endParaRPr/>
          </a:p>
          <a:p>
            <a:r>
              <a:t>Источники определений и свойств:</a:t>
            </a:r>
          </a:p>
          <a:p>
            <a:r>
              <a:t>https://www.cbr.ru/faq/dr/</a:t>
            </a:r>
          </a:p>
          <a:p>
            <a:r>
              <a:t>https://www.cbr.ru/finm_infrastructure/digital_oper/</a:t>
            </a:r>
          </a:p>
          <a:p>
            <a:r>
              <a:t>Эмитент ЦФА, оператор информационной системы и Банк России исполняют разные функции. Регулирование платформы не превращает обязательство частного эмитента в обязательство Банка России.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a:t>
            </a:r>
          </a:p>
          <a:p>
            <a:r>
              <a:t>https://www.cbr.ru/Content/Document/File/170116/analytical_report_22112024.pdf</a:t>
            </a:r>
          </a:p>
          <a:p>
            <a:r>
              <a:t>Банк России «Токенизация активов реального мира: экономическая природа и опыт регулирования», 2024. В докладе приведён российский пример продуктов, позиционируемых как «токенизированные квадратные метры», которые фактически представляют денежное требование к эмитенту с выплатой, зависящей от изменения индекса недвижимости.</a:t>
            </a:r>
          </a:p>
          <a:p>
            <a:r>
              <a:t>https://www.cbr.ru/press/event/?id=23159</a:t>
            </a:r>
          </a:p>
          <a:p>
            <a:r>
              <a:t>Обзор разных прав по токенизированным активам, 22.11.2024.</a:t>
            </a:r>
          </a:p>
          <a:p>
            <a:r>
              <a:t>https://www.cbr.ru/finm_infrastructure/digital_oper/</a:t>
            </a:r>
          </a:p>
          <a:p>
            <a:r>
              <a:t>Определения ЦФА и гибридных цифровых прав.</a:t>
            </a:r>
          </a:p>
          <a:p>
            <a:r>
              <a:t>Первая и третья строки таблицы являются учебными примерами, а не конкретными выпусками. ЦФА, предусматривающий только денежную выплату по формуле цены золота, даёт денежное требование. Возможность получить металл должна следовать из отдельного содержания соответствующего права. Для права требовать передачу вещи момент перехода права собственности зависит от закона и документов сделки. Юридический результат определяется правами в конкретной конструкции, а не рекламным названием токена.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a:t>
            </a:r>
          </a:p>
          <a:p>
            <a:r>
              <a:t>https://www.cbr.ru/PSystem/dr/doc_dr/albums_r/</a:t>
            </a:r>
          </a:p>
          <a:p>
            <a:r>
              <a:t>https://www.cbr.ru/Content/Document/File/193355/cbdc_album_v2026.09.zip</a:t>
            </a:r>
          </a:p>
          <a:p>
            <a:r>
              <a:t>Альбом электронных сообщений, используемых для взаимодействия субъектов платформы цифрового рубля, версия 2026.09. Глоссарий определяет распределённый реестр как базу данных с идентичными экземплярами на узлах платформы и внесением изменений по протоколу консенсуса. Узлы платформы установлены у оператора. Оператором является Банк России. Правила формирования транзакционного сообщения описывают запись данных в распределённый реестр. Документ подтверждает DLT. Называть конкретный блокчейн-движок или алгоритм консенсуса без отдельного технического источника нельзя.</a:t>
            </a:r>
          </a:p>
          <a:p>
            <a:r>
              <a:t>Проверенные части альбома: Глоссарий и Правила формирования транзакционного сообщения (дайджеста) распределённого реестра, 2026.</a:t>
            </a:r>
          </a:p>
          <a:p>
            <a:r>
              <a:t>https://www.mos.ru/upload/documents/files/5814/Federalniizakonot31072020N259-FZ%28redot08082024.pdf</a:t>
            </a:r>
          </a:p>
          <a:p>
            <a:r>
              <a:t>Статья 1, часть 2 базового закона № 259-ФЗ: выпуск, учёт и обращение ЦФА через записи в информационных системах на основе распределённого реестра, а также в иных информационных системах. Ссылка ведёт на опубликованный текст редакции 08.08.2024.</a:t>
            </a:r>
          </a:p>
          <a:p>
            <a:r>
              <a:t>https://www.cbr.ru/finm_infrastructure/digital_oper/</a:t>
            </a:r>
          </a:p>
          <a:p>
            <a:r>
              <a:t>Требования к оператору информационной системы, определение прав по ЦФА.</a:t>
            </a:r>
          </a:p>
          <a:p>
            <a:r>
              <a:t>Общее пояснение: блокчейн является разновидностью технологии распределённого реестра. Одинаковая технология учёта не означает одинаковый юридический или экономический смысл учитываемых объектов.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cnews.ru/articles/2025-12-17_tsifrovoj_rubl_chto_izvestno_o_novoj"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ww.cbr.ru/press/event/?id=32778"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cnews.ru/news/top/2026-09-09_fns_usilit_slezhku_za_tsifrovym"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www.consultant.ru/document/cons_doc_LAW_350144/6e33d5b25584a9bfae2a6e4a8f4116e7186fd1ed/" TargetMode="External"/><Relationship Id="rId4" Type="http://schemas.openxmlformats.org/officeDocument/2006/relationships/hyperlink" Target="https://www.consultant.ru/document/cons_doc_LAW_543497/"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cnews.ru/articles/2026-06-04_smart-kontrakty_novyj_etap_tsifrovizatsii"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www.cnews.ru/articles/2025-12-17_tsifrovoj_rubl_chto_izvestno_o_novoj"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cbr.ru/Content/Document/File/193705/commercial_smart_contract_platform.pdf"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www.cnews.ru/articles/2026-06-04_smart-kontrakty_novyj_etap_tsifrovizatsii"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cnews.ru/articles/2026-06-04_smart-kontrakty_novyj_etap_tsifrovizatsii"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cnews.ru/articles/2026-09-22_mihail_danilovrbs_uzhe_segodnya_it-resheniya"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cbr.ru/faq/dr/"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www.cbr.ru/finm_infrastructure/digital_oper/"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cbr.ru/press/event/?id=23159"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s://www.cbr.ru/finm_infrastructure/digital_oper/"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cbr.ru/faq/dr/"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https://www.cbr.ru/finm_infrastructure/digital_oper/"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cbr.ru/Content/Document/File/170116/analytical_report_22112024.pdf"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www.cbr.ru/press/event/?id=23159"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cbr.ru/PSystem/dr/doc_dr/albums_r/"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https://www.mos.ru/upload/documents/files/5814/Federalniizakonot31072020N259-FZ%28redot08082024.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D33"/>
        </a:solidFill>
        <a:effectLst/>
      </p:bgPr>
    </p:bg>
    <p:spTree>
      <p:nvGrpSpPr>
        <p:cNvPr id="1" name=""/>
        <p:cNvGrpSpPr/>
        <p:nvPr/>
      </p:nvGrpSpPr>
      <p:grpSpPr>
        <a:xfrm>
          <a:off x="0" y="0"/>
          <a:ext cx="0" cy="0"/>
          <a:chOff x="0" y="0"/>
          <a:chExt cx="0" cy="0"/>
        </a:xfrm>
      </p:grpSpPr>
      <p:sp>
        <p:nvSpPr>
          <p:cNvPr id="19" name="Rounded Rectangle 18">
            <a:extLst>
              <a:ext uri="{FF2B5EF4-FFF2-40B4-BE49-F238E27FC236}">
                <a16:creationId xmlns:a16="http://schemas.microsoft.com/office/drawing/2014/main" id="{E543133E-0F8D-4A76-921C-68C2C95BDB8A}"/>
              </a:ext>
            </a:extLst>
          </p:cNvPr>
          <p:cNvSpPr>
            <a:spLocks noGrp="1"/>
          </p:cNvSpPr>
          <p:nvPr/>
        </p:nvSpPr>
        <p:spPr>
          <a:xfrm>
            <a:off x="0" y="0"/>
            <a:ext cx="12192000" cy="1143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C486EC82-7951-46EB-AD24-AC89131EB5E5}"/>
              </a:ext>
            </a:extLst>
          </p:cNvPr>
          <p:cNvSpPr>
            <a:spLocks noGrp="1"/>
          </p:cNvSpPr>
          <p:nvPr/>
        </p:nvSpPr>
        <p:spPr>
          <a:xfrm>
            <a:off x="742950" y="590550"/>
            <a:ext cx="438150" cy="47625"/>
          </a:xfrm>
          <a:prstGeom prst="roundRect">
            <a:avLst>
              <a:gd name="adj" fmla="val 50000"/>
            </a:avLst>
          </a:prstGeom>
          <a:solidFill>
            <a:srgbClr val="46B8D8"/>
          </a:solidFill>
          <a:ln w="9525">
            <a:solidFill>
              <a:srgbClr val="46B8D8"/>
            </a:solidFill>
            <a:prstDash val="solid"/>
          </a:ln>
        </p:spPr>
      </p:sp>
      <p:sp>
        <p:nvSpPr>
          <p:cNvPr id="3" name="Rectangle 2">
            <a:extLst>
              <a:ext uri="{FF2B5EF4-FFF2-40B4-BE49-F238E27FC236}">
                <a16:creationId xmlns:a16="http://schemas.microsoft.com/office/drawing/2014/main" id="{010E7295-7B6A-4FFA-9A98-FC1BB999CFF2}"/>
              </a:ext>
            </a:extLst>
          </p:cNvPr>
          <p:cNvSpPr>
            <a:spLocks noGrp="1"/>
          </p:cNvSpPr>
          <p:nvPr/>
        </p:nvSpPr>
        <p:spPr>
          <a:xfrm>
            <a:off x="1352550" y="495300"/>
            <a:ext cx="5334000" cy="228600"/>
          </a:xfrm>
          <a:prstGeom prst="rect">
            <a:avLst/>
          </a:prstGeom>
          <a:noFill/>
          <a:ln w="0">
            <a:noFill/>
            <a:prstDash val="solid"/>
          </a:ln>
        </p:spPr>
        <p:txBody>
          <a:bodyPr anchor="t"/>
          <a:lstStyle/>
          <a:p>
            <a:pPr algn="l">
              <a:defRPr sz="1050" b="1">
                <a:solidFill>
                  <a:srgbClr val="46B8D8"/>
                </a:solidFill>
              </a:defRPr>
            </a:pPr>
            <a:r>
              <a:rPr sz="1050" b="1">
                <a:solidFill>
                  <a:srgbClr val="46B8D8"/>
                </a:solidFill>
              </a:rPr>
              <a:t>ЦИФРОВОЙ РУБЛЬ | ОБЪЯСНЯЮЩИЕ СХЕМЫ</a:t>
            </a:r>
          </a:p>
        </p:txBody>
      </p:sp>
      <p:sp>
        <p:nvSpPr>
          <p:cNvPr id="4" name="cover-title">
            <a:extLst>
              <a:ext uri="{FF2B5EF4-FFF2-40B4-BE49-F238E27FC236}">
                <a16:creationId xmlns:a16="http://schemas.microsoft.com/office/drawing/2014/main" id="{DFD6AA17-510F-49F9-BBB0-BB80C4C43948}"/>
              </a:ext>
            </a:extLst>
          </p:cNvPr>
          <p:cNvSpPr>
            <a:spLocks noGrp="1"/>
          </p:cNvSpPr>
          <p:nvPr/>
        </p:nvSpPr>
        <p:spPr>
          <a:xfrm>
            <a:off x="742950" y="1219200"/>
            <a:ext cx="6858000" cy="2247900"/>
          </a:xfrm>
          <a:prstGeom prst="rect">
            <a:avLst/>
          </a:prstGeom>
          <a:noFill/>
          <a:ln w="0">
            <a:noFill/>
            <a:prstDash val="solid"/>
          </a:ln>
        </p:spPr>
        <p:txBody>
          <a:bodyPr anchor="t"/>
          <a:lstStyle/>
          <a:p>
            <a:pPr algn="l">
              <a:defRPr sz="4050" b="1">
                <a:solidFill>
                  <a:srgbClr val="FFFFFF"/>
                </a:solidFill>
              </a:defRPr>
            </a:pPr>
            <a:r>
              <a:rPr sz="4050" b="1">
                <a:solidFill>
                  <a:srgbClr val="FFFFFF"/>
                </a:solidFill>
              </a:rPr>
              <a:t>Цифровой рубль:</a:t>
            </a:r>
          </a:p>
          <a:p>
            <a:pPr algn="l">
              <a:defRPr sz="4050" b="1">
                <a:solidFill>
                  <a:srgbClr val="FFFFFF"/>
                </a:solidFill>
              </a:defRPr>
            </a:pPr>
            <a:r>
              <a:rPr sz="4050" b="1">
                <a:solidFill>
                  <a:srgbClr val="FFFFFF"/>
                </a:solidFill>
              </a:rPr>
              <a:t>новая форма денег —</a:t>
            </a:r>
          </a:p>
          <a:p>
            <a:pPr algn="l">
              <a:defRPr sz="4050" b="1">
                <a:solidFill>
                  <a:srgbClr val="FFFFFF"/>
                </a:solidFill>
              </a:defRPr>
            </a:pPr>
            <a:r>
              <a:rPr sz="4050" b="1">
                <a:solidFill>
                  <a:srgbClr val="FFFFFF"/>
                </a:solidFill>
              </a:rPr>
              <a:t>не новый кредит</a:t>
            </a:r>
          </a:p>
        </p:txBody>
      </p:sp>
      <p:sp>
        <p:nvSpPr>
          <p:cNvPr id="5" name="Rectangle 4">
            <a:extLst>
              <a:ext uri="{FF2B5EF4-FFF2-40B4-BE49-F238E27FC236}">
                <a16:creationId xmlns:a16="http://schemas.microsoft.com/office/drawing/2014/main" id="{09103990-0DD5-415B-91AC-753A466B4003}"/>
              </a:ext>
            </a:extLst>
          </p:cNvPr>
          <p:cNvSpPr>
            <a:spLocks noGrp="1"/>
          </p:cNvSpPr>
          <p:nvPr/>
        </p:nvSpPr>
        <p:spPr>
          <a:xfrm>
            <a:off x="781050" y="3848100"/>
            <a:ext cx="6858000" cy="685800"/>
          </a:xfrm>
          <a:prstGeom prst="rect">
            <a:avLst/>
          </a:prstGeom>
          <a:noFill/>
          <a:ln w="0">
            <a:noFill/>
            <a:prstDash val="solid"/>
          </a:ln>
        </p:spPr>
        <p:txBody>
          <a:bodyPr anchor="t"/>
          <a:lstStyle/>
          <a:p>
            <a:pPr algn="l">
              <a:defRPr sz="1575" b="0">
                <a:solidFill>
                  <a:srgbClr val="CCD5DC"/>
                </a:solidFill>
              </a:defRPr>
            </a:pPr>
            <a:r>
              <a:rPr sz="1575" b="0">
                <a:solidFill>
                  <a:srgbClr val="CCD5DC"/>
                </a:solidFill>
              </a:rPr>
              <a:t>Мультипликатор · банковская ликвидность · контроль</a:t>
            </a:r>
          </a:p>
          <a:p>
            <a:pPr algn="l">
              <a:defRPr sz="1575" b="0">
                <a:solidFill>
                  <a:srgbClr val="CCD5DC"/>
                </a:solidFill>
              </a:defRPr>
            </a:pPr>
            <a:r>
              <a:rPr sz="1575" b="0">
                <a:solidFill>
                  <a:srgbClr val="CCD5DC"/>
                </a:solidFill>
              </a:rPr>
              <a:t>международные модели · трансграничные расчёты</a:t>
            </a:r>
          </a:p>
        </p:txBody>
      </p:sp>
      <p:sp>
        <p:nvSpPr>
          <p:cNvPr id="6" name="Oval 5">
            <a:extLst>
              <a:ext uri="{FF2B5EF4-FFF2-40B4-BE49-F238E27FC236}">
                <a16:creationId xmlns:a16="http://schemas.microsoft.com/office/drawing/2014/main" id="{36926DF5-B6F5-41EA-86FC-378EDCF6C53B}"/>
              </a:ext>
            </a:extLst>
          </p:cNvPr>
          <p:cNvSpPr>
            <a:spLocks noGrp="1"/>
          </p:cNvSpPr>
          <p:nvPr/>
        </p:nvSpPr>
        <p:spPr>
          <a:xfrm>
            <a:off x="8172450" y="1123950"/>
            <a:ext cx="3257550" cy="3257550"/>
          </a:xfrm>
          <a:prstGeom prst="ellipse">
            <a:avLst/>
          </a:prstGeom>
          <a:noFill/>
          <a:ln w="19050">
            <a:solidFill>
              <a:srgbClr val="3D83D5"/>
            </a:solidFill>
            <a:prstDash val="solid"/>
          </a:ln>
        </p:spPr>
      </p:sp>
      <p:sp>
        <p:nvSpPr>
          <p:cNvPr id="7" name="Oval 6">
            <a:extLst>
              <a:ext uri="{FF2B5EF4-FFF2-40B4-BE49-F238E27FC236}">
                <a16:creationId xmlns:a16="http://schemas.microsoft.com/office/drawing/2014/main" id="{AB14BBC1-7892-4593-A9A8-FD2673346FF1}"/>
              </a:ext>
            </a:extLst>
          </p:cNvPr>
          <p:cNvSpPr>
            <a:spLocks noGrp="1"/>
          </p:cNvSpPr>
          <p:nvPr/>
        </p:nvSpPr>
        <p:spPr>
          <a:xfrm>
            <a:off x="8610600" y="1562100"/>
            <a:ext cx="2381250" cy="2381250"/>
          </a:xfrm>
          <a:prstGeom prst="ellipse">
            <a:avLst/>
          </a:prstGeom>
          <a:noFill/>
          <a:ln w="28575">
            <a:solidFill>
              <a:srgbClr val="008A82"/>
            </a:solidFill>
            <a:prstDash val="solid"/>
          </a:ln>
        </p:spPr>
      </p:sp>
      <p:sp>
        <p:nvSpPr>
          <p:cNvPr id="8" name="Oval 7">
            <a:extLst>
              <a:ext uri="{FF2B5EF4-FFF2-40B4-BE49-F238E27FC236}">
                <a16:creationId xmlns:a16="http://schemas.microsoft.com/office/drawing/2014/main" id="{9C1D4D0C-6500-45F8-830B-EC37CB76AF0D}"/>
              </a:ext>
            </a:extLst>
          </p:cNvPr>
          <p:cNvSpPr>
            <a:spLocks noGrp="1"/>
          </p:cNvSpPr>
          <p:nvPr/>
        </p:nvSpPr>
        <p:spPr>
          <a:xfrm>
            <a:off x="9115425" y="2066925"/>
            <a:ext cx="1371600" cy="1371600"/>
          </a:xfrm>
          <a:prstGeom prst="ellipse">
            <a:avLst/>
          </a:prstGeom>
          <a:solidFill>
            <a:srgbClr val="FFFFFF"/>
          </a:solidFill>
          <a:ln w="0">
            <a:solidFill>
              <a:srgbClr val="FFFFFF"/>
            </a:solidFill>
            <a:prstDash val="solid"/>
          </a:ln>
        </p:spPr>
      </p:sp>
      <p:sp>
        <p:nvSpPr>
          <p:cNvPr id="9" name="Rectangle 8">
            <a:extLst>
              <a:ext uri="{FF2B5EF4-FFF2-40B4-BE49-F238E27FC236}">
                <a16:creationId xmlns:a16="http://schemas.microsoft.com/office/drawing/2014/main" id="{10C09F8F-412C-4FD6-9774-BA4835CEAA95}"/>
              </a:ext>
            </a:extLst>
          </p:cNvPr>
          <p:cNvSpPr>
            <a:spLocks noGrp="1"/>
          </p:cNvSpPr>
          <p:nvPr/>
        </p:nvSpPr>
        <p:spPr>
          <a:xfrm>
            <a:off x="9353550" y="2305050"/>
            <a:ext cx="895350" cy="742950"/>
          </a:xfrm>
          <a:prstGeom prst="rect">
            <a:avLst/>
          </a:prstGeom>
          <a:noFill/>
          <a:ln w="0">
            <a:noFill/>
            <a:prstDash val="solid"/>
          </a:ln>
        </p:spPr>
        <p:txBody>
          <a:bodyPr anchor="ctr"/>
          <a:lstStyle/>
          <a:p>
            <a:pPr algn="ctr">
              <a:defRPr sz="4950" b="1">
                <a:solidFill>
                  <a:srgbClr val="071D33"/>
                </a:solidFill>
              </a:defRPr>
            </a:pPr>
            <a:r>
              <a:rPr sz="4950" b="1">
                <a:solidFill>
                  <a:srgbClr val="071D33"/>
                </a:solidFill>
              </a:rPr>
              <a:t>₽</a:t>
            </a:r>
          </a:p>
        </p:txBody>
      </p:sp>
      <p:sp>
        <p:nvSpPr>
          <p:cNvPr id="10" name="Rounded Rectangle 9">
            <a:extLst>
              <a:ext uri="{FF2B5EF4-FFF2-40B4-BE49-F238E27FC236}">
                <a16:creationId xmlns:a16="http://schemas.microsoft.com/office/drawing/2014/main" id="{9577E5B3-C806-47C2-82E9-C40C376BEEAE}"/>
              </a:ext>
            </a:extLst>
          </p:cNvPr>
          <p:cNvSpPr>
            <a:spLocks noGrp="1"/>
          </p:cNvSpPr>
          <p:nvPr/>
        </p:nvSpPr>
        <p:spPr>
          <a:xfrm>
            <a:off x="8029575" y="4800600"/>
            <a:ext cx="1257300" cy="285750"/>
          </a:xfrm>
          <a:prstGeom prst="roundRect">
            <a:avLst>
              <a:gd name="adj" fmla="val 50000"/>
            </a:avLst>
          </a:prstGeom>
          <a:solidFill>
            <a:srgbClr val="EEF2F5"/>
          </a:solidFill>
          <a:ln w="9525">
            <a:solidFill>
              <a:srgbClr val="EEF2F5"/>
            </a:solidFill>
            <a:prstDash val="solid"/>
          </a:ln>
        </p:spPr>
      </p:sp>
      <p:sp>
        <p:nvSpPr>
          <p:cNvPr id="11" name="Rectangle 10">
            <a:extLst>
              <a:ext uri="{FF2B5EF4-FFF2-40B4-BE49-F238E27FC236}">
                <a16:creationId xmlns:a16="http://schemas.microsoft.com/office/drawing/2014/main" id="{809C6261-1614-4149-A5E5-FACFA3D1C496}"/>
              </a:ext>
            </a:extLst>
          </p:cNvPr>
          <p:cNvSpPr>
            <a:spLocks noGrp="1"/>
          </p:cNvSpPr>
          <p:nvPr/>
        </p:nvSpPr>
        <p:spPr>
          <a:xfrm>
            <a:off x="8105775" y="4848225"/>
            <a:ext cx="1104900" cy="190500"/>
          </a:xfrm>
          <a:prstGeom prst="rect">
            <a:avLst/>
          </a:prstGeom>
          <a:noFill/>
          <a:ln w="0">
            <a:noFill/>
            <a:prstDash val="solid"/>
          </a:ln>
        </p:spPr>
        <p:txBody>
          <a:bodyPr anchor="ctr"/>
          <a:lstStyle/>
          <a:p>
            <a:pPr algn="ctr">
              <a:defRPr sz="975" b="1">
                <a:solidFill>
                  <a:srgbClr val="536777"/>
                </a:solidFill>
              </a:defRPr>
            </a:pPr>
            <a:r>
              <a:rPr sz="975" b="1">
                <a:solidFill>
                  <a:srgbClr val="536777"/>
                </a:solidFill>
              </a:rPr>
              <a:t>НАЛИЧНЫЕ</a:t>
            </a:r>
          </a:p>
        </p:txBody>
      </p:sp>
      <p:sp>
        <p:nvSpPr>
          <p:cNvPr id="12" name="Rounded Rectangle 11">
            <a:extLst>
              <a:ext uri="{FF2B5EF4-FFF2-40B4-BE49-F238E27FC236}">
                <a16:creationId xmlns:a16="http://schemas.microsoft.com/office/drawing/2014/main" id="{87DEA3A2-EA65-44E8-8883-746B0FB0BC80}"/>
              </a:ext>
            </a:extLst>
          </p:cNvPr>
          <p:cNvSpPr>
            <a:spLocks noGrp="1"/>
          </p:cNvSpPr>
          <p:nvPr/>
        </p:nvSpPr>
        <p:spPr>
          <a:xfrm>
            <a:off x="9391650" y="4800600"/>
            <a:ext cx="1104900" cy="285750"/>
          </a:xfrm>
          <a:prstGeom prst="roundRect">
            <a:avLst>
              <a:gd name="adj" fmla="val 50000"/>
            </a:avLst>
          </a:prstGeom>
          <a:solidFill>
            <a:srgbClr val="DDEBFA"/>
          </a:solidFill>
          <a:ln w="9525">
            <a:solidFill>
              <a:srgbClr val="DDEBFA"/>
            </a:solidFill>
            <a:prstDash val="solid"/>
          </a:ln>
        </p:spPr>
      </p:sp>
      <p:sp>
        <p:nvSpPr>
          <p:cNvPr id="13" name="Rectangle 12">
            <a:extLst>
              <a:ext uri="{FF2B5EF4-FFF2-40B4-BE49-F238E27FC236}">
                <a16:creationId xmlns:a16="http://schemas.microsoft.com/office/drawing/2014/main" id="{CA181E88-CE20-4891-A0A0-25FBBD946802}"/>
              </a:ext>
            </a:extLst>
          </p:cNvPr>
          <p:cNvSpPr>
            <a:spLocks noGrp="1"/>
          </p:cNvSpPr>
          <p:nvPr/>
        </p:nvSpPr>
        <p:spPr>
          <a:xfrm>
            <a:off x="9467850" y="4848225"/>
            <a:ext cx="952500" cy="190500"/>
          </a:xfrm>
          <a:prstGeom prst="rect">
            <a:avLst/>
          </a:prstGeom>
          <a:noFill/>
          <a:ln w="0">
            <a:noFill/>
            <a:prstDash val="solid"/>
          </a:ln>
        </p:spPr>
        <p:txBody>
          <a:bodyPr anchor="ctr"/>
          <a:lstStyle/>
          <a:p>
            <a:pPr algn="ctr">
              <a:defRPr sz="975" b="1">
                <a:solidFill>
                  <a:srgbClr val="075BCB"/>
                </a:solidFill>
              </a:defRPr>
            </a:pPr>
            <a:r>
              <a:rPr sz="975" b="1">
                <a:solidFill>
                  <a:srgbClr val="075BCB"/>
                </a:solidFill>
              </a:rPr>
              <a:t>ДЕПОЗИТ</a:t>
            </a:r>
          </a:p>
        </p:txBody>
      </p:sp>
      <p:sp>
        <p:nvSpPr>
          <p:cNvPr id="14" name="Rounded Rectangle 13">
            <a:extLst>
              <a:ext uri="{FF2B5EF4-FFF2-40B4-BE49-F238E27FC236}">
                <a16:creationId xmlns:a16="http://schemas.microsoft.com/office/drawing/2014/main" id="{5FD68946-AE4B-4F50-B0D6-58B9E3BC6B5A}"/>
              </a:ext>
            </a:extLst>
          </p:cNvPr>
          <p:cNvSpPr>
            <a:spLocks noGrp="1"/>
          </p:cNvSpPr>
          <p:nvPr/>
        </p:nvSpPr>
        <p:spPr>
          <a:xfrm>
            <a:off x="10591800" y="4800600"/>
            <a:ext cx="876300" cy="285750"/>
          </a:xfrm>
          <a:prstGeom prst="roundRect">
            <a:avLst>
              <a:gd name="adj" fmla="val 50000"/>
            </a:avLst>
          </a:prstGeom>
          <a:solidFill>
            <a:srgbClr val="DDF2EF"/>
          </a:solidFill>
          <a:ln w="9525">
            <a:solidFill>
              <a:srgbClr val="DDF2EF"/>
            </a:solidFill>
            <a:prstDash val="solid"/>
          </a:ln>
        </p:spPr>
      </p:sp>
      <p:sp>
        <p:nvSpPr>
          <p:cNvPr id="15" name="Rectangle 14">
            <a:extLst>
              <a:ext uri="{FF2B5EF4-FFF2-40B4-BE49-F238E27FC236}">
                <a16:creationId xmlns:a16="http://schemas.microsoft.com/office/drawing/2014/main" id="{8048D4EC-6052-44A7-B79E-510237D0DAA9}"/>
              </a:ext>
            </a:extLst>
          </p:cNvPr>
          <p:cNvSpPr>
            <a:spLocks noGrp="1"/>
          </p:cNvSpPr>
          <p:nvPr/>
        </p:nvSpPr>
        <p:spPr>
          <a:xfrm>
            <a:off x="10668000" y="4848225"/>
            <a:ext cx="723900" cy="190500"/>
          </a:xfrm>
          <a:prstGeom prst="rect">
            <a:avLst/>
          </a:prstGeom>
          <a:noFill/>
          <a:ln w="0">
            <a:noFill/>
            <a:prstDash val="solid"/>
          </a:ln>
        </p:spPr>
        <p:txBody>
          <a:bodyPr anchor="ctr"/>
          <a:lstStyle/>
          <a:p>
            <a:pPr algn="ctr">
              <a:defRPr sz="975" b="1">
                <a:solidFill>
                  <a:srgbClr val="008A82"/>
                </a:solidFill>
              </a:defRPr>
            </a:pPr>
            <a:r>
              <a:rPr sz="975" b="1">
                <a:solidFill>
                  <a:srgbClr val="008A82"/>
                </a:solidFill>
              </a:rPr>
              <a:t>CBDC</a:t>
            </a:r>
          </a:p>
        </p:txBody>
      </p:sp>
      <p:sp>
        <p:nvSpPr>
          <p:cNvPr id="16" name="Straight Connector 15">
            <a:extLst>
              <a:ext uri="{FF2B5EF4-FFF2-40B4-BE49-F238E27FC236}">
                <a16:creationId xmlns:a16="http://schemas.microsoft.com/office/drawing/2014/main" id="{B1FF4FB1-79D5-43C0-B291-B5DA7E04D954}"/>
              </a:ext>
            </a:extLst>
          </p:cNvPr>
          <p:cNvSpPr>
            <a:spLocks noGrp="1"/>
          </p:cNvSpPr>
          <p:nvPr/>
        </p:nvSpPr>
        <p:spPr>
          <a:xfrm>
            <a:off x="7810500" y="5410200"/>
            <a:ext cx="3695700" cy="0"/>
          </a:xfrm>
          <a:prstGeom prst="line">
            <a:avLst/>
          </a:prstGeom>
          <a:noFill/>
          <a:ln w="9525">
            <a:solidFill>
              <a:srgbClr val="536777"/>
            </a:solidFill>
            <a:prstDash val="solid"/>
          </a:ln>
        </p:spPr>
      </p:sp>
      <p:sp>
        <p:nvSpPr>
          <p:cNvPr id="17" name="Rectangle 16">
            <a:extLst>
              <a:ext uri="{FF2B5EF4-FFF2-40B4-BE49-F238E27FC236}">
                <a16:creationId xmlns:a16="http://schemas.microsoft.com/office/drawing/2014/main" id="{780EA081-1612-4500-8F27-7AEA52BB1415}"/>
              </a:ext>
            </a:extLst>
          </p:cNvPr>
          <p:cNvSpPr>
            <a:spLocks noGrp="1"/>
          </p:cNvSpPr>
          <p:nvPr/>
        </p:nvSpPr>
        <p:spPr>
          <a:xfrm>
            <a:off x="7829550" y="5562600"/>
            <a:ext cx="3676650" cy="476250"/>
          </a:xfrm>
          <a:prstGeom prst="rect">
            <a:avLst/>
          </a:prstGeom>
          <a:noFill/>
          <a:ln w="0">
            <a:noFill/>
            <a:prstDash val="solid"/>
          </a:ln>
        </p:spPr>
        <p:txBody>
          <a:bodyPr anchor="t"/>
          <a:lstStyle/>
          <a:p>
            <a:pPr algn="ctr">
              <a:defRPr sz="1350" b="1">
                <a:solidFill>
                  <a:srgbClr val="FFFFFF"/>
                </a:solidFill>
              </a:defRPr>
            </a:pPr>
            <a:r>
              <a:rPr sz="1350" b="1">
                <a:solidFill>
                  <a:srgbClr val="FFFFFF"/>
                </a:solidFill>
              </a:rPr>
              <a:t>Одна валюта. Разные балансы, стимулы и правила.</a:t>
            </a:r>
          </a:p>
        </p:txBody>
      </p:sp>
      <p:sp>
        <p:nvSpPr>
          <p:cNvPr id="18" name="Rectangle 17">
            <a:extLst>
              <a:ext uri="{FF2B5EF4-FFF2-40B4-BE49-F238E27FC236}">
                <a16:creationId xmlns:a16="http://schemas.microsoft.com/office/drawing/2014/main" id="{18114E06-1B6F-422C-9043-6AFB6B6979C0}"/>
              </a:ext>
            </a:extLst>
          </p:cNvPr>
          <p:cNvSpPr>
            <a:spLocks noGrp="1"/>
          </p:cNvSpPr>
          <p:nvPr/>
        </p:nvSpPr>
        <p:spPr>
          <a:xfrm>
            <a:off x="781050" y="6191250"/>
            <a:ext cx="2286000" cy="209550"/>
          </a:xfrm>
          <a:prstGeom prst="rect">
            <a:avLst/>
          </a:prstGeom>
          <a:noFill/>
          <a:ln w="0">
            <a:noFill/>
            <a:prstDash val="solid"/>
          </a:ln>
        </p:spPr>
        <p:txBody>
          <a:bodyPr anchor="t"/>
          <a:lstStyle/>
          <a:p>
            <a:pPr algn="l">
              <a:defRPr sz="1125" b="0">
                <a:solidFill>
                  <a:srgbClr val="CCD5DC"/>
                </a:solidFill>
              </a:defRPr>
            </a:pPr>
            <a:r>
              <a:rPr sz="1125" b="0">
                <a:solidFill>
                  <a:srgbClr val="CCD5DC"/>
                </a:solidFill>
              </a:rPr>
              <a:t>Сентябрь 2026</a:t>
            </a:r>
          </a:p>
        </p:txBody>
      </p:sp>
    </p:spTree>
    <p:extLst>
      <p:ext uri="{BB962C8B-B14F-4D97-AF65-F5344CB8AC3E}">
        <p14:creationId xmlns:p14="http://schemas.microsoft.com/office/powerpoint/2010/main" val="1536850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31" name="Rounded Rectangle 30">
            <a:extLst>
              <a:ext uri="{FF2B5EF4-FFF2-40B4-BE49-F238E27FC236}">
                <a16:creationId xmlns:a16="http://schemas.microsoft.com/office/drawing/2014/main" id="{202902C4-6B24-405A-872D-404AF34993AF}"/>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E6836D4C-7F5D-42DF-BFE7-AAFF4096BCB0}"/>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2">
            <a:extLst>
              <a:ext uri="{FF2B5EF4-FFF2-40B4-BE49-F238E27FC236}">
                <a16:creationId xmlns:a16="http://schemas.microsoft.com/office/drawing/2014/main" id="{B0468D52-BFAF-46BF-92F4-3C15E13755F4}"/>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1. ЭКОНОМИЧЕСКАЯ ПРИРОДА</a:t>
            </a:r>
          </a:p>
        </p:txBody>
      </p:sp>
      <p:sp>
        <p:nvSpPr>
          <p:cNvPr id="4" name="title-2">
            <a:extLst>
              <a:ext uri="{FF2B5EF4-FFF2-40B4-BE49-F238E27FC236}">
                <a16:creationId xmlns:a16="http://schemas.microsoft.com/office/drawing/2014/main" id="{690194A9-CB15-40AE-B06D-764888F04DA6}"/>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Три формы рубля различаются прежде всего тем, кто вам должен</a:t>
            </a:r>
          </a:p>
        </p:txBody>
      </p:sp>
      <p:sp>
        <p:nvSpPr>
          <p:cNvPr id="5" name="Straight Connector 4">
            <a:extLst>
              <a:ext uri="{FF2B5EF4-FFF2-40B4-BE49-F238E27FC236}">
                <a16:creationId xmlns:a16="http://schemas.microsoft.com/office/drawing/2014/main" id="{0F1BCEAB-F421-48D7-8F2E-B1DA8BD2F203}"/>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CD556E80-F5C4-4FCD-981B-D5DA5AD60607}"/>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D93ACB0B-EF4A-47BA-9971-D3CD5A0A76C0}"/>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02</a:t>
            </a:r>
          </a:p>
        </p:txBody>
      </p:sp>
      <p:sp>
        <p:nvSpPr>
          <p:cNvPr id="8" name="Straight Connector 7">
            <a:extLst>
              <a:ext uri="{FF2B5EF4-FFF2-40B4-BE49-F238E27FC236}">
                <a16:creationId xmlns:a16="http://schemas.microsoft.com/office/drawing/2014/main" id="{AF54FC30-E174-40E7-A2A6-8ADEB72F982F}"/>
              </a:ext>
            </a:extLst>
          </p:cNvPr>
          <p:cNvSpPr>
            <a:spLocks noGrp="1"/>
          </p:cNvSpPr>
          <p:nvPr/>
        </p:nvSpPr>
        <p:spPr>
          <a:xfrm>
            <a:off x="3924300" y="1809750"/>
            <a:ext cx="0" cy="3352800"/>
          </a:xfrm>
          <a:prstGeom prst="line">
            <a:avLst/>
          </a:prstGeom>
          <a:noFill/>
          <a:ln w="9525">
            <a:solidFill>
              <a:srgbClr val="E2E8ED"/>
            </a:solidFill>
            <a:prstDash val="solid"/>
          </a:ln>
        </p:spPr>
      </p:sp>
      <p:sp>
        <p:nvSpPr>
          <p:cNvPr id="9" name="Straight Connector 8">
            <a:extLst>
              <a:ext uri="{FF2B5EF4-FFF2-40B4-BE49-F238E27FC236}">
                <a16:creationId xmlns:a16="http://schemas.microsoft.com/office/drawing/2014/main" id="{831010DD-A262-48E0-AEAD-F0AC2B2F2EFA}"/>
              </a:ext>
            </a:extLst>
          </p:cNvPr>
          <p:cNvSpPr>
            <a:spLocks noGrp="1"/>
          </p:cNvSpPr>
          <p:nvPr/>
        </p:nvSpPr>
        <p:spPr>
          <a:xfrm>
            <a:off x="7400925" y="1809750"/>
            <a:ext cx="0" cy="3352800"/>
          </a:xfrm>
          <a:prstGeom prst="line">
            <a:avLst/>
          </a:prstGeom>
          <a:noFill/>
          <a:ln w="9525">
            <a:solidFill>
              <a:srgbClr val="E2E8ED"/>
            </a:solidFill>
            <a:prstDash val="solid"/>
          </a:ln>
        </p:spPr>
      </p:sp>
      <p:sp>
        <p:nvSpPr>
          <p:cNvPr id="10" name="Oval 9">
            <a:extLst>
              <a:ext uri="{FF2B5EF4-FFF2-40B4-BE49-F238E27FC236}">
                <a16:creationId xmlns:a16="http://schemas.microsoft.com/office/drawing/2014/main" id="{EBBA92D0-0E84-4369-924F-5E36BA5D487A}"/>
              </a:ext>
            </a:extLst>
          </p:cNvPr>
          <p:cNvSpPr>
            <a:spLocks noGrp="1"/>
          </p:cNvSpPr>
          <p:nvPr/>
        </p:nvSpPr>
        <p:spPr>
          <a:xfrm>
            <a:off x="1752600" y="1657350"/>
            <a:ext cx="685800" cy="685800"/>
          </a:xfrm>
          <a:prstGeom prst="ellipse">
            <a:avLst/>
          </a:prstGeom>
          <a:solidFill>
            <a:srgbClr val="536777"/>
          </a:solidFill>
          <a:ln w="0">
            <a:solidFill>
              <a:srgbClr val="536777"/>
            </a:solidFill>
            <a:prstDash val="solid"/>
          </a:ln>
        </p:spPr>
      </p:sp>
      <p:sp>
        <p:nvSpPr>
          <p:cNvPr id="11" name="Rectangle 10">
            <a:extLst>
              <a:ext uri="{FF2B5EF4-FFF2-40B4-BE49-F238E27FC236}">
                <a16:creationId xmlns:a16="http://schemas.microsoft.com/office/drawing/2014/main" id="{CD7ABBD0-5C1B-4770-BC47-156BC7563B32}"/>
              </a:ext>
            </a:extLst>
          </p:cNvPr>
          <p:cNvSpPr>
            <a:spLocks noGrp="1"/>
          </p:cNvSpPr>
          <p:nvPr/>
        </p:nvSpPr>
        <p:spPr>
          <a:xfrm>
            <a:off x="1828800" y="1790700"/>
            <a:ext cx="533400" cy="400050"/>
          </a:xfrm>
          <a:prstGeom prst="rect">
            <a:avLst/>
          </a:prstGeom>
          <a:noFill/>
          <a:ln w="0">
            <a:noFill/>
            <a:prstDash val="solid"/>
          </a:ln>
        </p:spPr>
        <p:txBody>
          <a:bodyPr anchor="ctr"/>
          <a:lstStyle/>
          <a:p>
            <a:pPr algn="ctr">
              <a:defRPr sz="2625" b="1">
                <a:solidFill>
                  <a:srgbClr val="FFFFFF"/>
                </a:solidFill>
              </a:defRPr>
            </a:pPr>
            <a:r>
              <a:rPr sz="2625" b="1">
                <a:solidFill>
                  <a:srgbClr val="FFFFFF"/>
                </a:solidFill>
              </a:rPr>
              <a:t>₽</a:t>
            </a:r>
          </a:p>
        </p:txBody>
      </p:sp>
      <p:sp>
        <p:nvSpPr>
          <p:cNvPr id="12" name="Rectangle 11">
            <a:extLst>
              <a:ext uri="{FF2B5EF4-FFF2-40B4-BE49-F238E27FC236}">
                <a16:creationId xmlns:a16="http://schemas.microsoft.com/office/drawing/2014/main" id="{863DFB09-478E-4F93-ADDC-4B4067A03F74}"/>
              </a:ext>
            </a:extLst>
          </p:cNvPr>
          <p:cNvSpPr>
            <a:spLocks noGrp="1"/>
          </p:cNvSpPr>
          <p:nvPr/>
        </p:nvSpPr>
        <p:spPr>
          <a:xfrm>
            <a:off x="685800" y="2533650"/>
            <a:ext cx="2819400" cy="342900"/>
          </a:xfrm>
          <a:prstGeom prst="rect">
            <a:avLst/>
          </a:prstGeom>
          <a:noFill/>
          <a:ln w="0">
            <a:noFill/>
            <a:prstDash val="solid"/>
          </a:ln>
        </p:spPr>
        <p:txBody>
          <a:bodyPr anchor="t"/>
          <a:lstStyle/>
          <a:p>
            <a:pPr algn="ctr">
              <a:defRPr sz="1800" b="1">
                <a:solidFill>
                  <a:srgbClr val="071D33"/>
                </a:solidFill>
              </a:defRPr>
            </a:pPr>
            <a:r>
              <a:rPr sz="1800" b="1">
                <a:solidFill>
                  <a:srgbClr val="071D33"/>
                </a:solidFill>
              </a:rPr>
              <a:t>Наличные</a:t>
            </a:r>
          </a:p>
        </p:txBody>
      </p:sp>
      <p:sp>
        <p:nvSpPr>
          <p:cNvPr id="13" name="Rounded Rectangle 12">
            <a:extLst>
              <a:ext uri="{FF2B5EF4-FFF2-40B4-BE49-F238E27FC236}">
                <a16:creationId xmlns:a16="http://schemas.microsoft.com/office/drawing/2014/main" id="{78C0E9A7-9E92-4BE0-805E-939967F4E620}"/>
              </a:ext>
            </a:extLst>
          </p:cNvPr>
          <p:cNvSpPr>
            <a:spLocks noGrp="1"/>
          </p:cNvSpPr>
          <p:nvPr/>
        </p:nvSpPr>
        <p:spPr>
          <a:xfrm>
            <a:off x="914400" y="3048000"/>
            <a:ext cx="2362200" cy="781050"/>
          </a:xfrm>
          <a:prstGeom prst="roundRect">
            <a:avLst>
              <a:gd name="adj" fmla="val 9756"/>
            </a:avLst>
          </a:prstGeom>
          <a:solidFill>
            <a:srgbClr val="EEF2F5"/>
          </a:solidFill>
          <a:ln w="9525">
            <a:solidFill>
              <a:srgbClr val="EEF2F5"/>
            </a:solidFill>
            <a:prstDash val="solid"/>
          </a:ln>
        </p:spPr>
      </p:sp>
      <p:sp>
        <p:nvSpPr>
          <p:cNvPr id="14" name="Rectangle 13">
            <a:extLst>
              <a:ext uri="{FF2B5EF4-FFF2-40B4-BE49-F238E27FC236}">
                <a16:creationId xmlns:a16="http://schemas.microsoft.com/office/drawing/2014/main" id="{E9B04769-6128-4895-B44B-CF3F7576F81B}"/>
              </a:ext>
            </a:extLst>
          </p:cNvPr>
          <p:cNvSpPr>
            <a:spLocks noGrp="1"/>
          </p:cNvSpPr>
          <p:nvPr/>
        </p:nvSpPr>
        <p:spPr>
          <a:xfrm>
            <a:off x="1085850" y="3200400"/>
            <a:ext cx="2019300" cy="495300"/>
          </a:xfrm>
          <a:prstGeom prst="rect">
            <a:avLst/>
          </a:prstGeom>
          <a:noFill/>
          <a:ln w="0">
            <a:noFill/>
            <a:prstDash val="solid"/>
          </a:ln>
        </p:spPr>
        <p:txBody>
          <a:bodyPr anchor="ctr"/>
          <a:lstStyle/>
          <a:p>
            <a:pPr algn="ctr">
              <a:defRPr sz="1350" b="1">
                <a:solidFill>
                  <a:srgbClr val="536777"/>
                </a:solidFill>
              </a:defRPr>
            </a:pPr>
            <a:r>
              <a:rPr sz="1350" b="1">
                <a:solidFill>
                  <a:srgbClr val="536777"/>
                </a:solidFill>
              </a:rPr>
              <a:t>Обязательство</a:t>
            </a:r>
          </a:p>
          <a:p>
            <a:pPr algn="ctr">
              <a:defRPr sz="1350" b="1">
                <a:solidFill>
                  <a:srgbClr val="536777"/>
                </a:solidFill>
              </a:defRPr>
            </a:pPr>
            <a:r>
              <a:rPr sz="1350" b="1">
                <a:solidFill>
                  <a:srgbClr val="536777"/>
                </a:solidFill>
              </a:rPr>
              <a:t>Банка России</a:t>
            </a:r>
          </a:p>
        </p:txBody>
      </p:sp>
      <p:sp>
        <p:nvSpPr>
          <p:cNvPr id="15" name="Rectangle 14">
            <a:extLst>
              <a:ext uri="{FF2B5EF4-FFF2-40B4-BE49-F238E27FC236}">
                <a16:creationId xmlns:a16="http://schemas.microsoft.com/office/drawing/2014/main" id="{C4158794-E9B2-4898-8BD0-309D38CF4707}"/>
              </a:ext>
            </a:extLst>
          </p:cNvPr>
          <p:cNvSpPr>
            <a:spLocks noGrp="1"/>
          </p:cNvSpPr>
          <p:nvPr/>
        </p:nvSpPr>
        <p:spPr>
          <a:xfrm>
            <a:off x="990600" y="4171950"/>
            <a:ext cx="2209800" cy="876300"/>
          </a:xfrm>
          <a:prstGeom prst="rect">
            <a:avLst/>
          </a:prstGeom>
          <a:noFill/>
          <a:ln w="0">
            <a:noFill/>
            <a:prstDash val="solid"/>
          </a:ln>
        </p:spPr>
        <p:txBody>
          <a:bodyPr anchor="t"/>
          <a:lstStyle/>
          <a:p>
            <a:pPr algn="ctr">
              <a:defRPr sz="1275" b="0">
                <a:solidFill>
                  <a:srgbClr val="536777"/>
                </a:solidFill>
              </a:defRPr>
            </a:pPr>
            <a:r>
              <a:rPr sz="1275" b="0">
                <a:solidFill>
                  <a:srgbClr val="536777"/>
                </a:solidFill>
              </a:rPr>
              <a:t>Физический платеж</a:t>
            </a:r>
          </a:p>
          <a:p>
            <a:pPr algn="ctr">
              <a:defRPr sz="1275" b="0">
                <a:solidFill>
                  <a:srgbClr val="536777"/>
                </a:solidFill>
              </a:defRPr>
            </a:pPr>
            <a:r>
              <a:rPr sz="1275" b="0">
                <a:solidFill>
                  <a:srgbClr val="536777"/>
                </a:solidFill>
              </a:rPr>
              <a:t>Практическая анонимность</a:t>
            </a:r>
          </a:p>
          <a:p>
            <a:pPr algn="ctr">
              <a:defRPr sz="1275" b="0">
                <a:solidFill>
                  <a:srgbClr val="536777"/>
                </a:solidFill>
              </a:defRPr>
            </a:pPr>
            <a:r>
              <a:rPr sz="1275" b="0">
                <a:solidFill>
                  <a:srgbClr val="536777"/>
                </a:solidFill>
              </a:rPr>
              <a:t>Нет процентов</a:t>
            </a:r>
          </a:p>
        </p:txBody>
      </p:sp>
      <p:sp>
        <p:nvSpPr>
          <p:cNvPr id="16" name="Oval 15">
            <a:extLst>
              <a:ext uri="{FF2B5EF4-FFF2-40B4-BE49-F238E27FC236}">
                <a16:creationId xmlns:a16="http://schemas.microsoft.com/office/drawing/2014/main" id="{781BDAF0-7BCF-4069-BCD5-4FFCE2CB1290}"/>
              </a:ext>
            </a:extLst>
          </p:cNvPr>
          <p:cNvSpPr>
            <a:spLocks noGrp="1"/>
          </p:cNvSpPr>
          <p:nvPr/>
        </p:nvSpPr>
        <p:spPr>
          <a:xfrm>
            <a:off x="5229225" y="1657350"/>
            <a:ext cx="685800" cy="685800"/>
          </a:xfrm>
          <a:prstGeom prst="ellipse">
            <a:avLst/>
          </a:prstGeom>
          <a:solidFill>
            <a:srgbClr val="075BCB"/>
          </a:solidFill>
          <a:ln w="0">
            <a:solidFill>
              <a:srgbClr val="075BCB"/>
            </a:solidFill>
            <a:prstDash val="solid"/>
          </a:ln>
        </p:spPr>
      </p:sp>
      <p:sp>
        <p:nvSpPr>
          <p:cNvPr id="17" name="Rectangle 16">
            <a:extLst>
              <a:ext uri="{FF2B5EF4-FFF2-40B4-BE49-F238E27FC236}">
                <a16:creationId xmlns:a16="http://schemas.microsoft.com/office/drawing/2014/main" id="{63505878-772C-4E30-94BF-118B213FE472}"/>
              </a:ext>
            </a:extLst>
          </p:cNvPr>
          <p:cNvSpPr>
            <a:spLocks noGrp="1"/>
          </p:cNvSpPr>
          <p:nvPr/>
        </p:nvSpPr>
        <p:spPr>
          <a:xfrm>
            <a:off x="5305425" y="1790700"/>
            <a:ext cx="533400" cy="400050"/>
          </a:xfrm>
          <a:prstGeom prst="rect">
            <a:avLst/>
          </a:prstGeom>
          <a:noFill/>
          <a:ln w="0">
            <a:noFill/>
            <a:prstDash val="solid"/>
          </a:ln>
        </p:spPr>
        <p:txBody>
          <a:bodyPr anchor="ctr"/>
          <a:lstStyle/>
          <a:p>
            <a:pPr algn="ctr">
              <a:defRPr sz="1875" b="1">
                <a:solidFill>
                  <a:srgbClr val="FFFFFF"/>
                </a:solidFill>
              </a:defRPr>
            </a:pPr>
            <a:r>
              <a:rPr sz="1875" b="1">
                <a:solidFill>
                  <a:srgbClr val="FFFFFF"/>
                </a:solidFill>
              </a:rPr>
              <a:t>Б</a:t>
            </a:r>
          </a:p>
        </p:txBody>
      </p:sp>
      <p:sp>
        <p:nvSpPr>
          <p:cNvPr id="18" name="Rectangle 17">
            <a:extLst>
              <a:ext uri="{FF2B5EF4-FFF2-40B4-BE49-F238E27FC236}">
                <a16:creationId xmlns:a16="http://schemas.microsoft.com/office/drawing/2014/main" id="{F65ABB42-D2B1-4104-9AC5-DBF7360D0E56}"/>
              </a:ext>
            </a:extLst>
          </p:cNvPr>
          <p:cNvSpPr>
            <a:spLocks noGrp="1"/>
          </p:cNvSpPr>
          <p:nvPr/>
        </p:nvSpPr>
        <p:spPr>
          <a:xfrm>
            <a:off x="4162425" y="2533650"/>
            <a:ext cx="2819400" cy="342900"/>
          </a:xfrm>
          <a:prstGeom prst="rect">
            <a:avLst/>
          </a:prstGeom>
          <a:noFill/>
          <a:ln w="0">
            <a:noFill/>
            <a:prstDash val="solid"/>
          </a:ln>
        </p:spPr>
        <p:txBody>
          <a:bodyPr anchor="t"/>
          <a:lstStyle/>
          <a:p>
            <a:pPr algn="ctr">
              <a:defRPr sz="1800" b="1">
                <a:solidFill>
                  <a:srgbClr val="071D33"/>
                </a:solidFill>
              </a:defRPr>
            </a:pPr>
            <a:r>
              <a:rPr sz="1800" b="1">
                <a:solidFill>
                  <a:srgbClr val="071D33"/>
                </a:solidFill>
              </a:rPr>
              <a:t>Банковский депозит</a:t>
            </a:r>
          </a:p>
        </p:txBody>
      </p:sp>
      <p:sp>
        <p:nvSpPr>
          <p:cNvPr id="19" name="Rounded Rectangle 18">
            <a:extLst>
              <a:ext uri="{FF2B5EF4-FFF2-40B4-BE49-F238E27FC236}">
                <a16:creationId xmlns:a16="http://schemas.microsoft.com/office/drawing/2014/main" id="{A70BED15-6962-4E75-A28D-D161B447DFF0}"/>
              </a:ext>
            </a:extLst>
          </p:cNvPr>
          <p:cNvSpPr>
            <a:spLocks noGrp="1"/>
          </p:cNvSpPr>
          <p:nvPr/>
        </p:nvSpPr>
        <p:spPr>
          <a:xfrm>
            <a:off x="4391025" y="3048000"/>
            <a:ext cx="2362200" cy="781050"/>
          </a:xfrm>
          <a:prstGeom prst="roundRect">
            <a:avLst>
              <a:gd name="adj" fmla="val 9756"/>
            </a:avLst>
          </a:prstGeom>
          <a:solidFill>
            <a:srgbClr val="DDEBFA"/>
          </a:solidFill>
          <a:ln w="9525">
            <a:solidFill>
              <a:srgbClr val="DDEBFA"/>
            </a:solidFill>
            <a:prstDash val="solid"/>
          </a:ln>
        </p:spPr>
      </p:sp>
      <p:sp>
        <p:nvSpPr>
          <p:cNvPr id="20" name="Rectangle 19">
            <a:extLst>
              <a:ext uri="{FF2B5EF4-FFF2-40B4-BE49-F238E27FC236}">
                <a16:creationId xmlns:a16="http://schemas.microsoft.com/office/drawing/2014/main" id="{67449DA3-D1BB-4CED-95B9-5B99D16E18DE}"/>
              </a:ext>
            </a:extLst>
          </p:cNvPr>
          <p:cNvSpPr>
            <a:spLocks noGrp="1"/>
          </p:cNvSpPr>
          <p:nvPr/>
        </p:nvSpPr>
        <p:spPr>
          <a:xfrm>
            <a:off x="4562475" y="3200400"/>
            <a:ext cx="2019300" cy="495300"/>
          </a:xfrm>
          <a:prstGeom prst="rect">
            <a:avLst/>
          </a:prstGeom>
          <a:noFill/>
          <a:ln w="0">
            <a:noFill/>
            <a:prstDash val="solid"/>
          </a:ln>
        </p:spPr>
        <p:txBody>
          <a:bodyPr anchor="ctr"/>
          <a:lstStyle/>
          <a:p>
            <a:pPr algn="ctr">
              <a:defRPr sz="1350" b="1">
                <a:solidFill>
                  <a:srgbClr val="075BCB"/>
                </a:solidFill>
              </a:defRPr>
            </a:pPr>
            <a:r>
              <a:rPr sz="1350" b="1">
                <a:solidFill>
                  <a:srgbClr val="075BCB"/>
                </a:solidFill>
              </a:rPr>
              <a:t>Обязательство</a:t>
            </a:r>
          </a:p>
          <a:p>
            <a:pPr algn="ctr">
              <a:defRPr sz="1350" b="1">
                <a:solidFill>
                  <a:srgbClr val="075BCB"/>
                </a:solidFill>
              </a:defRPr>
            </a:pPr>
            <a:r>
              <a:rPr sz="1350" b="1">
                <a:solidFill>
                  <a:srgbClr val="075BCB"/>
                </a:solidFill>
              </a:rPr>
              <a:t>коммерческого банка</a:t>
            </a:r>
          </a:p>
        </p:txBody>
      </p:sp>
      <p:sp>
        <p:nvSpPr>
          <p:cNvPr id="21" name="Rectangle 20">
            <a:extLst>
              <a:ext uri="{FF2B5EF4-FFF2-40B4-BE49-F238E27FC236}">
                <a16:creationId xmlns:a16="http://schemas.microsoft.com/office/drawing/2014/main" id="{9B0874DC-8F0F-4646-A65C-A2D4D0312EDA}"/>
              </a:ext>
            </a:extLst>
          </p:cNvPr>
          <p:cNvSpPr>
            <a:spLocks noGrp="1"/>
          </p:cNvSpPr>
          <p:nvPr/>
        </p:nvSpPr>
        <p:spPr>
          <a:xfrm>
            <a:off x="4467225" y="4171950"/>
            <a:ext cx="2209800" cy="876300"/>
          </a:xfrm>
          <a:prstGeom prst="rect">
            <a:avLst/>
          </a:prstGeom>
          <a:noFill/>
          <a:ln w="0">
            <a:noFill/>
            <a:prstDash val="solid"/>
          </a:ln>
        </p:spPr>
        <p:txBody>
          <a:bodyPr anchor="t"/>
          <a:lstStyle/>
          <a:p>
            <a:pPr algn="ctr">
              <a:defRPr sz="1275" b="0">
                <a:solidFill>
                  <a:srgbClr val="536777"/>
                </a:solidFill>
              </a:defRPr>
            </a:pPr>
            <a:r>
              <a:rPr sz="1275" b="0">
                <a:solidFill>
                  <a:srgbClr val="536777"/>
                </a:solidFill>
              </a:rPr>
              <a:t>Платеж + сбережение</a:t>
            </a:r>
          </a:p>
          <a:p>
            <a:pPr algn="ctr">
              <a:defRPr sz="1275" b="0">
                <a:solidFill>
                  <a:srgbClr val="536777"/>
                </a:solidFill>
              </a:defRPr>
            </a:pPr>
            <a:r>
              <a:rPr sz="1275" b="0">
                <a:solidFill>
                  <a:srgbClr val="536777"/>
                </a:solidFill>
              </a:rPr>
              <a:t>Основа фондирования банка</a:t>
            </a:r>
          </a:p>
          <a:p>
            <a:pPr algn="ctr">
              <a:defRPr sz="1275" b="0">
                <a:solidFill>
                  <a:srgbClr val="536777"/>
                </a:solidFill>
              </a:defRPr>
            </a:pPr>
            <a:r>
              <a:rPr sz="1275" b="0">
                <a:solidFill>
                  <a:srgbClr val="536777"/>
                </a:solidFill>
              </a:rPr>
              <a:t>Связан с кредитованием</a:t>
            </a:r>
          </a:p>
        </p:txBody>
      </p:sp>
      <p:sp>
        <p:nvSpPr>
          <p:cNvPr id="22" name="Oval 21">
            <a:extLst>
              <a:ext uri="{FF2B5EF4-FFF2-40B4-BE49-F238E27FC236}">
                <a16:creationId xmlns:a16="http://schemas.microsoft.com/office/drawing/2014/main" id="{0EDEDAA2-AE22-4D78-9410-2E4A2726395A}"/>
              </a:ext>
            </a:extLst>
          </p:cNvPr>
          <p:cNvSpPr>
            <a:spLocks noGrp="1"/>
          </p:cNvSpPr>
          <p:nvPr/>
        </p:nvSpPr>
        <p:spPr>
          <a:xfrm>
            <a:off x="8705850" y="1657350"/>
            <a:ext cx="685800" cy="685800"/>
          </a:xfrm>
          <a:prstGeom prst="ellipse">
            <a:avLst/>
          </a:prstGeom>
          <a:solidFill>
            <a:srgbClr val="008A82"/>
          </a:solidFill>
          <a:ln w="0">
            <a:solidFill>
              <a:srgbClr val="008A82"/>
            </a:solidFill>
            <a:prstDash val="solid"/>
          </a:ln>
        </p:spPr>
      </p:sp>
      <p:sp>
        <p:nvSpPr>
          <p:cNvPr id="23" name="Rectangle 22">
            <a:extLst>
              <a:ext uri="{FF2B5EF4-FFF2-40B4-BE49-F238E27FC236}">
                <a16:creationId xmlns:a16="http://schemas.microsoft.com/office/drawing/2014/main" id="{635033DE-B0D0-4890-871D-8FFF4BA61B24}"/>
              </a:ext>
            </a:extLst>
          </p:cNvPr>
          <p:cNvSpPr>
            <a:spLocks noGrp="1"/>
          </p:cNvSpPr>
          <p:nvPr/>
        </p:nvSpPr>
        <p:spPr>
          <a:xfrm>
            <a:off x="8782050" y="1790700"/>
            <a:ext cx="533400" cy="400050"/>
          </a:xfrm>
          <a:prstGeom prst="rect">
            <a:avLst/>
          </a:prstGeom>
          <a:noFill/>
          <a:ln w="0">
            <a:noFill/>
            <a:prstDash val="solid"/>
          </a:ln>
        </p:spPr>
        <p:txBody>
          <a:bodyPr anchor="ctr"/>
          <a:lstStyle/>
          <a:p>
            <a:pPr algn="ctr">
              <a:defRPr sz="1875" b="1">
                <a:solidFill>
                  <a:srgbClr val="FFFFFF"/>
                </a:solidFill>
              </a:defRPr>
            </a:pPr>
            <a:r>
              <a:rPr sz="1875" b="1">
                <a:solidFill>
                  <a:srgbClr val="FFFFFF"/>
                </a:solidFill>
              </a:rPr>
              <a:t>ЦБ</a:t>
            </a:r>
          </a:p>
        </p:txBody>
      </p:sp>
      <p:sp>
        <p:nvSpPr>
          <p:cNvPr id="24" name="Rectangle 23">
            <a:extLst>
              <a:ext uri="{FF2B5EF4-FFF2-40B4-BE49-F238E27FC236}">
                <a16:creationId xmlns:a16="http://schemas.microsoft.com/office/drawing/2014/main" id="{0FA79A72-EA6D-4AE3-8E29-FB9D02A75F71}"/>
              </a:ext>
            </a:extLst>
          </p:cNvPr>
          <p:cNvSpPr>
            <a:spLocks noGrp="1"/>
          </p:cNvSpPr>
          <p:nvPr/>
        </p:nvSpPr>
        <p:spPr>
          <a:xfrm>
            <a:off x="7639050" y="2533650"/>
            <a:ext cx="2819400" cy="342900"/>
          </a:xfrm>
          <a:prstGeom prst="rect">
            <a:avLst/>
          </a:prstGeom>
          <a:noFill/>
          <a:ln w="0">
            <a:noFill/>
            <a:prstDash val="solid"/>
          </a:ln>
        </p:spPr>
        <p:txBody>
          <a:bodyPr anchor="t"/>
          <a:lstStyle/>
          <a:p>
            <a:pPr algn="ctr">
              <a:defRPr sz="1800" b="1">
                <a:solidFill>
                  <a:srgbClr val="071D33"/>
                </a:solidFill>
              </a:defRPr>
            </a:pPr>
            <a:r>
              <a:rPr sz="1800" b="1">
                <a:solidFill>
                  <a:srgbClr val="071D33"/>
                </a:solidFill>
              </a:rPr>
              <a:t>Цифровой рубль</a:t>
            </a:r>
          </a:p>
        </p:txBody>
      </p:sp>
      <p:sp>
        <p:nvSpPr>
          <p:cNvPr id="25" name="Rounded Rectangle 24">
            <a:extLst>
              <a:ext uri="{FF2B5EF4-FFF2-40B4-BE49-F238E27FC236}">
                <a16:creationId xmlns:a16="http://schemas.microsoft.com/office/drawing/2014/main" id="{E29D9EC6-4F68-4C0E-B844-E02E68E98E9A}"/>
              </a:ext>
            </a:extLst>
          </p:cNvPr>
          <p:cNvSpPr>
            <a:spLocks noGrp="1"/>
          </p:cNvSpPr>
          <p:nvPr/>
        </p:nvSpPr>
        <p:spPr>
          <a:xfrm>
            <a:off x="7867650" y="3048000"/>
            <a:ext cx="2362200" cy="781050"/>
          </a:xfrm>
          <a:prstGeom prst="roundRect">
            <a:avLst>
              <a:gd name="adj" fmla="val 9756"/>
            </a:avLst>
          </a:prstGeom>
          <a:solidFill>
            <a:srgbClr val="DDF2EF"/>
          </a:solidFill>
          <a:ln w="9525">
            <a:solidFill>
              <a:srgbClr val="DDF2EF"/>
            </a:solidFill>
            <a:prstDash val="solid"/>
          </a:ln>
        </p:spPr>
      </p:sp>
      <p:sp>
        <p:nvSpPr>
          <p:cNvPr id="26" name="Rectangle 25">
            <a:extLst>
              <a:ext uri="{FF2B5EF4-FFF2-40B4-BE49-F238E27FC236}">
                <a16:creationId xmlns:a16="http://schemas.microsoft.com/office/drawing/2014/main" id="{F15CBC7B-22F7-49AB-B163-EFFD42D8964E}"/>
              </a:ext>
            </a:extLst>
          </p:cNvPr>
          <p:cNvSpPr>
            <a:spLocks noGrp="1"/>
          </p:cNvSpPr>
          <p:nvPr/>
        </p:nvSpPr>
        <p:spPr>
          <a:xfrm>
            <a:off x="8039100" y="3200400"/>
            <a:ext cx="2019300" cy="495300"/>
          </a:xfrm>
          <a:prstGeom prst="rect">
            <a:avLst/>
          </a:prstGeom>
          <a:noFill/>
          <a:ln w="0">
            <a:noFill/>
            <a:prstDash val="solid"/>
          </a:ln>
        </p:spPr>
        <p:txBody>
          <a:bodyPr anchor="ctr"/>
          <a:lstStyle/>
          <a:p>
            <a:pPr algn="ctr">
              <a:defRPr sz="1350" b="1">
                <a:solidFill>
                  <a:srgbClr val="008A82"/>
                </a:solidFill>
              </a:defRPr>
            </a:pPr>
            <a:r>
              <a:rPr sz="1350" b="1">
                <a:solidFill>
                  <a:srgbClr val="008A82"/>
                </a:solidFill>
              </a:rPr>
              <a:t>Обязательство</a:t>
            </a:r>
          </a:p>
          <a:p>
            <a:pPr algn="ctr">
              <a:defRPr sz="1350" b="1">
                <a:solidFill>
                  <a:srgbClr val="008A82"/>
                </a:solidFill>
              </a:defRPr>
            </a:pPr>
            <a:r>
              <a:rPr sz="1350" b="1">
                <a:solidFill>
                  <a:srgbClr val="008A82"/>
                </a:solidFill>
              </a:rPr>
              <a:t>Банка России</a:t>
            </a:r>
          </a:p>
        </p:txBody>
      </p:sp>
      <p:sp>
        <p:nvSpPr>
          <p:cNvPr id="27" name="Rectangle 26">
            <a:extLst>
              <a:ext uri="{FF2B5EF4-FFF2-40B4-BE49-F238E27FC236}">
                <a16:creationId xmlns:a16="http://schemas.microsoft.com/office/drawing/2014/main" id="{83D0E9B4-B656-43C3-BB7A-0FCAC2BD10B9}"/>
              </a:ext>
            </a:extLst>
          </p:cNvPr>
          <p:cNvSpPr>
            <a:spLocks noGrp="1"/>
          </p:cNvSpPr>
          <p:nvPr/>
        </p:nvSpPr>
        <p:spPr>
          <a:xfrm>
            <a:off x="7943850" y="4171950"/>
            <a:ext cx="2209800" cy="876300"/>
          </a:xfrm>
          <a:prstGeom prst="rect">
            <a:avLst/>
          </a:prstGeom>
          <a:noFill/>
          <a:ln w="0">
            <a:noFill/>
            <a:prstDash val="solid"/>
          </a:ln>
        </p:spPr>
        <p:txBody>
          <a:bodyPr anchor="t"/>
          <a:lstStyle/>
          <a:p>
            <a:pPr algn="ctr">
              <a:defRPr sz="1275" b="0">
                <a:solidFill>
                  <a:srgbClr val="536777"/>
                </a:solidFill>
              </a:defRPr>
            </a:pPr>
            <a:r>
              <a:rPr sz="1275" b="0">
                <a:solidFill>
                  <a:srgbClr val="536777"/>
                </a:solidFill>
              </a:rPr>
              <a:t>Цифровой платеж</a:t>
            </a:r>
          </a:p>
          <a:p>
            <a:pPr algn="ctr">
              <a:defRPr sz="1275" b="0">
                <a:solidFill>
                  <a:srgbClr val="536777"/>
                </a:solidFill>
              </a:defRPr>
            </a:pPr>
            <a:r>
              <a:rPr sz="1275" b="0">
                <a:solidFill>
                  <a:srgbClr val="536777"/>
                </a:solidFill>
              </a:rPr>
              <a:t>Единый реестр операций</a:t>
            </a:r>
          </a:p>
          <a:p>
            <a:pPr algn="ctr">
              <a:defRPr sz="1275" b="0">
                <a:solidFill>
                  <a:srgbClr val="536777"/>
                </a:solidFill>
              </a:defRPr>
            </a:pPr>
            <a:r>
              <a:rPr sz="1275" b="0">
                <a:solidFill>
                  <a:srgbClr val="536777"/>
                </a:solidFill>
              </a:rPr>
              <a:t>Нет процентов и кредитов</a:t>
            </a:r>
          </a:p>
        </p:txBody>
      </p:sp>
      <p:sp>
        <p:nvSpPr>
          <p:cNvPr id="28" name="Rounded Rectangle 27">
            <a:extLst>
              <a:ext uri="{FF2B5EF4-FFF2-40B4-BE49-F238E27FC236}">
                <a16:creationId xmlns:a16="http://schemas.microsoft.com/office/drawing/2014/main" id="{F0F1BD0E-385F-421C-B348-F51F3315B187}"/>
              </a:ext>
            </a:extLst>
          </p:cNvPr>
          <p:cNvSpPr>
            <a:spLocks noGrp="1"/>
          </p:cNvSpPr>
          <p:nvPr/>
        </p:nvSpPr>
        <p:spPr>
          <a:xfrm>
            <a:off x="609600" y="5791200"/>
            <a:ext cx="10972800" cy="590550"/>
          </a:xfrm>
          <a:prstGeom prst="roundRect">
            <a:avLst>
              <a:gd name="adj" fmla="val 9677"/>
            </a:avLst>
          </a:prstGeom>
          <a:solidFill>
            <a:srgbClr val="DDF2EF"/>
          </a:solidFill>
          <a:ln w="9525">
            <a:solidFill>
              <a:srgbClr val="DDF2EF"/>
            </a:solidFill>
            <a:prstDash val="solid"/>
          </a:ln>
        </p:spPr>
      </p:sp>
      <p:sp>
        <p:nvSpPr>
          <p:cNvPr id="29" name="Rounded Rectangle 28">
            <a:extLst>
              <a:ext uri="{FF2B5EF4-FFF2-40B4-BE49-F238E27FC236}">
                <a16:creationId xmlns:a16="http://schemas.microsoft.com/office/drawing/2014/main" id="{0A8AA0DD-CE28-45EF-9FDE-33222CD939EA}"/>
              </a:ext>
            </a:extLst>
          </p:cNvPr>
          <p:cNvSpPr>
            <a:spLocks noGrp="1"/>
          </p:cNvSpPr>
          <p:nvPr/>
        </p:nvSpPr>
        <p:spPr>
          <a:xfrm>
            <a:off x="609600" y="5791200"/>
            <a:ext cx="66675" cy="590550"/>
          </a:xfrm>
          <a:prstGeom prst="roundRect">
            <a:avLst>
              <a:gd name="adj" fmla="val 50000"/>
            </a:avLst>
          </a:prstGeom>
          <a:solidFill>
            <a:srgbClr val="008A82"/>
          </a:solidFill>
          <a:ln w="9525">
            <a:solidFill>
              <a:srgbClr val="008A82"/>
            </a:solidFill>
            <a:prstDash val="solid"/>
          </a:ln>
        </p:spPr>
      </p:sp>
      <p:sp>
        <p:nvSpPr>
          <p:cNvPr id="30" name="Rectangle 29">
            <a:extLst>
              <a:ext uri="{FF2B5EF4-FFF2-40B4-BE49-F238E27FC236}">
                <a16:creationId xmlns:a16="http://schemas.microsoft.com/office/drawing/2014/main" id="{13C069E0-9078-46A3-A90F-8F46731FC3CE}"/>
              </a:ext>
            </a:extLst>
          </p:cNvPr>
          <p:cNvSpPr>
            <a:spLocks noGrp="1"/>
          </p:cNvSpPr>
          <p:nvPr/>
        </p:nvSpPr>
        <p:spPr>
          <a:xfrm>
            <a:off x="838200" y="5924550"/>
            <a:ext cx="10477500" cy="323850"/>
          </a:xfrm>
          <a:prstGeom prst="rect">
            <a:avLst/>
          </a:prstGeom>
          <a:noFill/>
          <a:ln w="0">
            <a:noFill/>
            <a:prstDash val="solid"/>
          </a:ln>
        </p:spPr>
        <p:txBody>
          <a:bodyPr anchor="ctr"/>
          <a:lstStyle/>
          <a:p>
            <a:pPr algn="l">
              <a:defRPr sz="1500" b="1">
                <a:solidFill>
                  <a:srgbClr val="008A82"/>
                </a:solidFill>
              </a:defRPr>
            </a:pPr>
            <a:r>
              <a:rPr sz="1500" b="1">
                <a:solidFill>
                  <a:srgbClr val="008A82"/>
                </a:solidFill>
              </a:rPr>
              <a:t>По экономической природе цифровой рубль ближе к цифровым наличным, чем к банковскому депозиту.</a:t>
            </a:r>
          </a:p>
        </p:txBody>
      </p:sp>
    </p:spTree>
    <p:extLst>
      <p:ext uri="{BB962C8B-B14F-4D97-AF65-F5344CB8AC3E}">
        <p14:creationId xmlns:p14="http://schemas.microsoft.com/office/powerpoint/2010/main" val="2119577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36" name="Rounded Rectangle 35">
            <a:extLst>
              <a:ext uri="{FF2B5EF4-FFF2-40B4-BE49-F238E27FC236}">
                <a16:creationId xmlns:a16="http://schemas.microsoft.com/office/drawing/2014/main" id="{001DEC4C-0A73-4A4D-8C72-A8BA7BB0F440}"/>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563A9537-39EB-4547-BB4E-8B2791185C47}"/>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3">
            <a:extLst>
              <a:ext uri="{FF2B5EF4-FFF2-40B4-BE49-F238E27FC236}">
                <a16:creationId xmlns:a16="http://schemas.microsoft.com/office/drawing/2014/main" id="{126E0EC6-19F0-46AE-A774-FE30D578B39D}"/>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2. МЕХАНИКА БАНКОВСКИХ ДЕНЕГ</a:t>
            </a:r>
          </a:p>
        </p:txBody>
      </p:sp>
      <p:sp>
        <p:nvSpPr>
          <p:cNvPr id="4" name="title-3">
            <a:extLst>
              <a:ext uri="{FF2B5EF4-FFF2-40B4-BE49-F238E27FC236}">
                <a16:creationId xmlns:a16="http://schemas.microsoft.com/office/drawing/2014/main" id="{431CAFB6-EC29-422E-BD35-0C803ECA04F7}"/>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Мультипликатор появляется там, где кредит создает новый депозит</a:t>
            </a:r>
          </a:p>
        </p:txBody>
      </p:sp>
      <p:sp>
        <p:nvSpPr>
          <p:cNvPr id="5" name="Straight Connector 4">
            <a:extLst>
              <a:ext uri="{FF2B5EF4-FFF2-40B4-BE49-F238E27FC236}">
                <a16:creationId xmlns:a16="http://schemas.microsoft.com/office/drawing/2014/main" id="{1A8DB556-263D-44FB-8613-C372BAD3A4D9}"/>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43959F87-DD3C-4B9A-B713-3E75F657F653}"/>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B9F11831-9539-4740-A925-26D4F24C9276}"/>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03</a:t>
            </a:r>
          </a:p>
        </p:txBody>
      </p:sp>
      <p:sp>
        <p:nvSpPr>
          <p:cNvPr id="8" name="Rectangle 7">
            <a:extLst>
              <a:ext uri="{FF2B5EF4-FFF2-40B4-BE49-F238E27FC236}">
                <a16:creationId xmlns:a16="http://schemas.microsoft.com/office/drawing/2014/main" id="{4C7960F3-A289-489C-9D7F-FF8E294F68BD}"/>
              </a:ext>
            </a:extLst>
          </p:cNvPr>
          <p:cNvSpPr>
            <a:spLocks noGrp="1"/>
          </p:cNvSpPr>
          <p:nvPr/>
        </p:nvSpPr>
        <p:spPr>
          <a:xfrm>
            <a:off x="742950" y="1695450"/>
            <a:ext cx="4000500" cy="209550"/>
          </a:xfrm>
          <a:prstGeom prst="rect">
            <a:avLst/>
          </a:prstGeom>
          <a:noFill/>
          <a:ln w="0">
            <a:noFill/>
            <a:prstDash val="solid"/>
          </a:ln>
        </p:spPr>
        <p:txBody>
          <a:bodyPr anchor="t"/>
          <a:lstStyle/>
          <a:p>
            <a:pPr algn="l">
              <a:defRPr sz="975" b="1">
                <a:solidFill>
                  <a:srgbClr val="7A8B99"/>
                </a:solidFill>
              </a:defRPr>
            </a:pPr>
            <a:r>
              <a:rPr sz="975" b="1">
                <a:solidFill>
                  <a:srgbClr val="7A8B99"/>
                </a:solidFill>
              </a:rPr>
              <a:t>УЧЕБНАЯ СХЕМА ПРИ НОРМЕ 20%</a:t>
            </a:r>
          </a:p>
        </p:txBody>
      </p:sp>
      <p:sp>
        <p:nvSpPr>
          <p:cNvPr id="9" name="Right Arrow 8">
            <a:extLst>
              <a:ext uri="{FF2B5EF4-FFF2-40B4-BE49-F238E27FC236}">
                <a16:creationId xmlns:a16="http://schemas.microsoft.com/office/drawing/2014/main" id="{2F3F3668-92A9-42F5-A9C4-3B299528D178}"/>
              </a:ext>
            </a:extLst>
          </p:cNvPr>
          <p:cNvSpPr>
            <a:spLocks noGrp="1"/>
          </p:cNvSpPr>
          <p:nvPr/>
        </p:nvSpPr>
        <p:spPr>
          <a:xfrm rot="5400000">
            <a:off x="4972050" y="2219325"/>
            <a:ext cx="266700" cy="209550"/>
          </a:xfrm>
          <a:prstGeom prst="rightArrow">
            <a:avLst/>
          </a:prstGeom>
          <a:solidFill>
            <a:srgbClr val="CCD5DC"/>
          </a:solidFill>
          <a:ln w="0">
            <a:solidFill>
              <a:srgbClr val="CCD5DC"/>
            </a:solidFill>
            <a:prstDash val="solid"/>
          </a:ln>
        </p:spPr>
      </p:sp>
      <p:sp>
        <p:nvSpPr>
          <p:cNvPr id="10" name="Right Arrow 9">
            <a:extLst>
              <a:ext uri="{FF2B5EF4-FFF2-40B4-BE49-F238E27FC236}">
                <a16:creationId xmlns:a16="http://schemas.microsoft.com/office/drawing/2014/main" id="{759455CC-D5EA-4165-B2BC-A2122A3EC220}"/>
              </a:ext>
            </a:extLst>
          </p:cNvPr>
          <p:cNvSpPr>
            <a:spLocks noGrp="1"/>
          </p:cNvSpPr>
          <p:nvPr/>
        </p:nvSpPr>
        <p:spPr>
          <a:xfrm rot="5400000">
            <a:off x="4972050" y="3067050"/>
            <a:ext cx="266700" cy="209550"/>
          </a:xfrm>
          <a:prstGeom prst="rightArrow">
            <a:avLst/>
          </a:prstGeom>
          <a:solidFill>
            <a:srgbClr val="CCD5DC"/>
          </a:solidFill>
          <a:ln w="0">
            <a:solidFill>
              <a:srgbClr val="CCD5DC"/>
            </a:solidFill>
            <a:prstDash val="solid"/>
          </a:ln>
        </p:spPr>
      </p:sp>
      <p:sp>
        <p:nvSpPr>
          <p:cNvPr id="11" name="Right Arrow 10">
            <a:extLst>
              <a:ext uri="{FF2B5EF4-FFF2-40B4-BE49-F238E27FC236}">
                <a16:creationId xmlns:a16="http://schemas.microsoft.com/office/drawing/2014/main" id="{D8E88C0B-3649-4EF3-AAD4-9CAEC9F4C2C4}"/>
              </a:ext>
            </a:extLst>
          </p:cNvPr>
          <p:cNvSpPr>
            <a:spLocks noGrp="1"/>
          </p:cNvSpPr>
          <p:nvPr/>
        </p:nvSpPr>
        <p:spPr>
          <a:xfrm rot="5400000">
            <a:off x="4972050" y="3914775"/>
            <a:ext cx="266700" cy="209550"/>
          </a:xfrm>
          <a:prstGeom prst="rightArrow">
            <a:avLst/>
          </a:prstGeom>
          <a:solidFill>
            <a:srgbClr val="CCD5DC"/>
          </a:solidFill>
          <a:ln w="0">
            <a:solidFill>
              <a:srgbClr val="CCD5DC"/>
            </a:solidFill>
            <a:prstDash val="solid"/>
          </a:ln>
        </p:spPr>
      </p:sp>
      <p:sp>
        <p:nvSpPr>
          <p:cNvPr id="12" name="Rounded Rectangle 11">
            <a:extLst>
              <a:ext uri="{FF2B5EF4-FFF2-40B4-BE49-F238E27FC236}">
                <a16:creationId xmlns:a16="http://schemas.microsoft.com/office/drawing/2014/main" id="{593A3AFB-1E27-434A-8FAE-6A7ABBC43327}"/>
              </a:ext>
            </a:extLst>
          </p:cNvPr>
          <p:cNvSpPr>
            <a:spLocks noGrp="1"/>
          </p:cNvSpPr>
          <p:nvPr/>
        </p:nvSpPr>
        <p:spPr>
          <a:xfrm>
            <a:off x="762000" y="2000250"/>
            <a:ext cx="3143250" cy="590550"/>
          </a:xfrm>
          <a:prstGeom prst="roundRect">
            <a:avLst>
              <a:gd name="adj" fmla="val 9677"/>
            </a:avLst>
          </a:prstGeom>
          <a:solidFill>
            <a:srgbClr val="071D33"/>
          </a:solidFill>
          <a:ln w="9525">
            <a:solidFill>
              <a:srgbClr val="071D33"/>
            </a:solidFill>
            <a:prstDash val="solid"/>
          </a:ln>
        </p:spPr>
      </p:sp>
      <p:sp>
        <p:nvSpPr>
          <p:cNvPr id="13" name="Rectangle 12">
            <a:extLst>
              <a:ext uri="{FF2B5EF4-FFF2-40B4-BE49-F238E27FC236}">
                <a16:creationId xmlns:a16="http://schemas.microsoft.com/office/drawing/2014/main" id="{8B2299A2-81D4-49F8-8E64-836AD74037B0}"/>
              </a:ext>
            </a:extLst>
          </p:cNvPr>
          <p:cNvSpPr>
            <a:spLocks noGrp="1"/>
          </p:cNvSpPr>
          <p:nvPr/>
        </p:nvSpPr>
        <p:spPr>
          <a:xfrm>
            <a:off x="933450" y="2124075"/>
            <a:ext cx="2800350" cy="285750"/>
          </a:xfrm>
          <a:prstGeom prst="rect">
            <a:avLst/>
          </a:prstGeom>
          <a:noFill/>
          <a:ln w="0">
            <a:noFill/>
            <a:prstDash val="solid"/>
          </a:ln>
        </p:spPr>
        <p:txBody>
          <a:bodyPr anchor="t"/>
          <a:lstStyle/>
          <a:p>
            <a:pPr algn="l">
              <a:defRPr sz="1650" b="1">
                <a:solidFill>
                  <a:srgbClr val="FFFFFF"/>
                </a:solidFill>
              </a:defRPr>
            </a:pPr>
            <a:r>
              <a:rPr sz="1650" b="1">
                <a:solidFill>
                  <a:srgbClr val="FFFFFF"/>
                </a:solidFill>
              </a:rPr>
              <a:t>Депозит 1 000</a:t>
            </a:r>
          </a:p>
        </p:txBody>
      </p:sp>
      <p:sp>
        <p:nvSpPr>
          <p:cNvPr id="14" name="Rectangle 13">
            <a:extLst>
              <a:ext uri="{FF2B5EF4-FFF2-40B4-BE49-F238E27FC236}">
                <a16:creationId xmlns:a16="http://schemas.microsoft.com/office/drawing/2014/main" id="{4912C34F-FBA2-4E73-B997-1F76D833F44C}"/>
              </a:ext>
            </a:extLst>
          </p:cNvPr>
          <p:cNvSpPr>
            <a:spLocks noGrp="1"/>
          </p:cNvSpPr>
          <p:nvPr/>
        </p:nvSpPr>
        <p:spPr>
          <a:xfrm>
            <a:off x="3943350" y="2095500"/>
            <a:ext cx="952500" cy="381000"/>
          </a:xfrm>
          <a:prstGeom prst="rect">
            <a:avLst/>
          </a:prstGeom>
          <a:noFill/>
          <a:ln w="0">
            <a:noFill/>
            <a:prstDash val="solid"/>
          </a:ln>
        </p:spPr>
        <p:txBody>
          <a:bodyPr anchor="t"/>
          <a:lstStyle/>
          <a:p>
            <a:pPr algn="ctr">
              <a:defRPr sz="975" b="0">
                <a:solidFill>
                  <a:srgbClr val="536777"/>
                </a:solidFill>
              </a:defRPr>
            </a:pPr>
            <a:r>
              <a:rPr sz="975" b="0">
                <a:solidFill>
                  <a:srgbClr val="536777"/>
                </a:solidFill>
              </a:rPr>
              <a:t>начальная</a:t>
            </a:r>
          </a:p>
          <a:p>
            <a:pPr algn="ctr">
              <a:defRPr sz="975" b="0">
                <a:solidFill>
                  <a:srgbClr val="536777"/>
                </a:solidFill>
              </a:defRPr>
            </a:pPr>
            <a:r>
              <a:rPr sz="975" b="0">
                <a:solidFill>
                  <a:srgbClr val="536777"/>
                </a:solidFill>
              </a:rPr>
              <a:t>запись</a:t>
            </a:r>
          </a:p>
        </p:txBody>
      </p:sp>
      <p:sp>
        <p:nvSpPr>
          <p:cNvPr id="15" name="Rounded Rectangle 14">
            <a:extLst>
              <a:ext uri="{FF2B5EF4-FFF2-40B4-BE49-F238E27FC236}">
                <a16:creationId xmlns:a16="http://schemas.microsoft.com/office/drawing/2014/main" id="{F793E0EC-5F40-4336-854D-8D3812CFCED9}"/>
              </a:ext>
            </a:extLst>
          </p:cNvPr>
          <p:cNvSpPr>
            <a:spLocks noGrp="1"/>
          </p:cNvSpPr>
          <p:nvPr/>
        </p:nvSpPr>
        <p:spPr>
          <a:xfrm>
            <a:off x="762000" y="2847975"/>
            <a:ext cx="2514600" cy="590550"/>
          </a:xfrm>
          <a:prstGeom prst="roundRect">
            <a:avLst>
              <a:gd name="adj" fmla="val 9677"/>
            </a:avLst>
          </a:prstGeom>
          <a:solidFill>
            <a:srgbClr val="075BCB"/>
          </a:solidFill>
          <a:ln w="9525">
            <a:solidFill>
              <a:srgbClr val="075BCB"/>
            </a:solidFill>
            <a:prstDash val="solid"/>
          </a:ln>
        </p:spPr>
      </p:sp>
      <p:sp>
        <p:nvSpPr>
          <p:cNvPr id="16" name="Rectangle 15">
            <a:extLst>
              <a:ext uri="{FF2B5EF4-FFF2-40B4-BE49-F238E27FC236}">
                <a16:creationId xmlns:a16="http://schemas.microsoft.com/office/drawing/2014/main" id="{16D30A9E-7DBE-4528-A196-1742CBBD053F}"/>
              </a:ext>
            </a:extLst>
          </p:cNvPr>
          <p:cNvSpPr>
            <a:spLocks noGrp="1"/>
          </p:cNvSpPr>
          <p:nvPr/>
        </p:nvSpPr>
        <p:spPr>
          <a:xfrm>
            <a:off x="933450" y="2971800"/>
            <a:ext cx="2171700" cy="285750"/>
          </a:xfrm>
          <a:prstGeom prst="rect">
            <a:avLst/>
          </a:prstGeom>
          <a:noFill/>
          <a:ln w="0">
            <a:noFill/>
            <a:prstDash val="solid"/>
          </a:ln>
        </p:spPr>
        <p:txBody>
          <a:bodyPr anchor="t"/>
          <a:lstStyle/>
          <a:p>
            <a:pPr algn="l">
              <a:defRPr sz="1650" b="1">
                <a:solidFill>
                  <a:srgbClr val="FFFFFF"/>
                </a:solidFill>
              </a:defRPr>
            </a:pPr>
            <a:r>
              <a:rPr sz="1650" b="1">
                <a:solidFill>
                  <a:srgbClr val="FFFFFF"/>
                </a:solidFill>
              </a:rPr>
              <a:t>+800</a:t>
            </a:r>
          </a:p>
        </p:txBody>
      </p:sp>
      <p:sp>
        <p:nvSpPr>
          <p:cNvPr id="17" name="Rectangle 16">
            <a:extLst>
              <a:ext uri="{FF2B5EF4-FFF2-40B4-BE49-F238E27FC236}">
                <a16:creationId xmlns:a16="http://schemas.microsoft.com/office/drawing/2014/main" id="{D3596EA0-176C-46F5-9D29-83EF857F1C7D}"/>
              </a:ext>
            </a:extLst>
          </p:cNvPr>
          <p:cNvSpPr>
            <a:spLocks noGrp="1"/>
          </p:cNvSpPr>
          <p:nvPr/>
        </p:nvSpPr>
        <p:spPr>
          <a:xfrm>
            <a:off x="3943350" y="2943225"/>
            <a:ext cx="952500" cy="381000"/>
          </a:xfrm>
          <a:prstGeom prst="rect">
            <a:avLst/>
          </a:prstGeom>
          <a:noFill/>
          <a:ln w="0">
            <a:noFill/>
            <a:prstDash val="solid"/>
          </a:ln>
        </p:spPr>
        <p:txBody>
          <a:bodyPr anchor="t"/>
          <a:lstStyle/>
          <a:p>
            <a:pPr algn="ctr">
              <a:defRPr sz="975" b="0">
                <a:solidFill>
                  <a:srgbClr val="536777"/>
                </a:solidFill>
              </a:defRPr>
            </a:pPr>
            <a:r>
              <a:rPr sz="975" b="0">
                <a:solidFill>
                  <a:srgbClr val="536777"/>
                </a:solidFill>
              </a:rPr>
              <a:t>кредит →</a:t>
            </a:r>
          </a:p>
          <a:p>
            <a:pPr algn="ctr">
              <a:defRPr sz="975" b="0">
                <a:solidFill>
                  <a:srgbClr val="536777"/>
                </a:solidFill>
              </a:defRPr>
            </a:pPr>
            <a:r>
              <a:rPr sz="975" b="0">
                <a:solidFill>
                  <a:srgbClr val="536777"/>
                </a:solidFill>
              </a:rPr>
              <a:t>депозит</a:t>
            </a:r>
          </a:p>
        </p:txBody>
      </p:sp>
      <p:sp>
        <p:nvSpPr>
          <p:cNvPr id="18" name="Rounded Rectangle 17">
            <a:extLst>
              <a:ext uri="{FF2B5EF4-FFF2-40B4-BE49-F238E27FC236}">
                <a16:creationId xmlns:a16="http://schemas.microsoft.com/office/drawing/2014/main" id="{1EEDF152-6E68-4FCB-95B3-8492895DD371}"/>
              </a:ext>
            </a:extLst>
          </p:cNvPr>
          <p:cNvSpPr>
            <a:spLocks noGrp="1"/>
          </p:cNvSpPr>
          <p:nvPr/>
        </p:nvSpPr>
        <p:spPr>
          <a:xfrm>
            <a:off x="762000" y="3695700"/>
            <a:ext cx="2009775" cy="590550"/>
          </a:xfrm>
          <a:prstGeom prst="roundRect">
            <a:avLst>
              <a:gd name="adj" fmla="val 9677"/>
            </a:avLst>
          </a:prstGeom>
          <a:solidFill>
            <a:srgbClr val="3D83D5"/>
          </a:solidFill>
          <a:ln w="9525">
            <a:solidFill>
              <a:srgbClr val="3D83D5"/>
            </a:solidFill>
            <a:prstDash val="solid"/>
          </a:ln>
        </p:spPr>
      </p:sp>
      <p:sp>
        <p:nvSpPr>
          <p:cNvPr id="19" name="Rectangle 18">
            <a:extLst>
              <a:ext uri="{FF2B5EF4-FFF2-40B4-BE49-F238E27FC236}">
                <a16:creationId xmlns:a16="http://schemas.microsoft.com/office/drawing/2014/main" id="{453A40F2-3AC0-4ABB-BF03-2DA2C2A18594}"/>
              </a:ext>
            </a:extLst>
          </p:cNvPr>
          <p:cNvSpPr>
            <a:spLocks noGrp="1"/>
          </p:cNvSpPr>
          <p:nvPr/>
        </p:nvSpPr>
        <p:spPr>
          <a:xfrm>
            <a:off x="933450" y="3819525"/>
            <a:ext cx="1666875" cy="285750"/>
          </a:xfrm>
          <a:prstGeom prst="rect">
            <a:avLst/>
          </a:prstGeom>
          <a:noFill/>
          <a:ln w="0">
            <a:noFill/>
            <a:prstDash val="solid"/>
          </a:ln>
        </p:spPr>
        <p:txBody>
          <a:bodyPr anchor="t"/>
          <a:lstStyle/>
          <a:p>
            <a:pPr algn="l">
              <a:defRPr sz="1650" b="1">
                <a:solidFill>
                  <a:srgbClr val="FFFFFF"/>
                </a:solidFill>
              </a:defRPr>
            </a:pPr>
            <a:r>
              <a:rPr sz="1650" b="1">
                <a:solidFill>
                  <a:srgbClr val="FFFFFF"/>
                </a:solidFill>
              </a:rPr>
              <a:t>+640</a:t>
            </a:r>
          </a:p>
        </p:txBody>
      </p:sp>
      <p:sp>
        <p:nvSpPr>
          <p:cNvPr id="20" name="Rectangle 19">
            <a:extLst>
              <a:ext uri="{FF2B5EF4-FFF2-40B4-BE49-F238E27FC236}">
                <a16:creationId xmlns:a16="http://schemas.microsoft.com/office/drawing/2014/main" id="{2C49DF7A-E7F7-48EA-A97B-8C952F127A4C}"/>
              </a:ext>
            </a:extLst>
          </p:cNvPr>
          <p:cNvSpPr>
            <a:spLocks noGrp="1"/>
          </p:cNvSpPr>
          <p:nvPr/>
        </p:nvSpPr>
        <p:spPr>
          <a:xfrm>
            <a:off x="3943350" y="3790950"/>
            <a:ext cx="952500" cy="381000"/>
          </a:xfrm>
          <a:prstGeom prst="rect">
            <a:avLst/>
          </a:prstGeom>
          <a:noFill/>
          <a:ln w="0">
            <a:noFill/>
            <a:prstDash val="solid"/>
          </a:ln>
        </p:spPr>
        <p:txBody>
          <a:bodyPr anchor="t"/>
          <a:lstStyle/>
          <a:p>
            <a:pPr algn="ctr">
              <a:defRPr sz="975" b="0">
                <a:solidFill>
                  <a:srgbClr val="536777"/>
                </a:solidFill>
              </a:defRPr>
            </a:pPr>
            <a:r>
              <a:rPr sz="975" b="0">
                <a:solidFill>
                  <a:srgbClr val="536777"/>
                </a:solidFill>
              </a:rPr>
              <a:t>следующий</a:t>
            </a:r>
          </a:p>
          <a:p>
            <a:pPr algn="ctr">
              <a:defRPr sz="975" b="0">
                <a:solidFill>
                  <a:srgbClr val="536777"/>
                </a:solidFill>
              </a:defRPr>
            </a:pPr>
            <a:r>
              <a:rPr sz="975" b="0">
                <a:solidFill>
                  <a:srgbClr val="536777"/>
                </a:solidFill>
              </a:rPr>
              <a:t>раунд</a:t>
            </a:r>
          </a:p>
        </p:txBody>
      </p:sp>
      <p:sp>
        <p:nvSpPr>
          <p:cNvPr id="21" name="Rounded Rectangle 20">
            <a:extLst>
              <a:ext uri="{FF2B5EF4-FFF2-40B4-BE49-F238E27FC236}">
                <a16:creationId xmlns:a16="http://schemas.microsoft.com/office/drawing/2014/main" id="{E01D9515-7BFF-44DE-BD8E-E0CE253AC58E}"/>
              </a:ext>
            </a:extLst>
          </p:cNvPr>
          <p:cNvSpPr>
            <a:spLocks noGrp="1"/>
          </p:cNvSpPr>
          <p:nvPr/>
        </p:nvSpPr>
        <p:spPr>
          <a:xfrm>
            <a:off x="762000" y="4543425"/>
            <a:ext cx="1609725" cy="590550"/>
          </a:xfrm>
          <a:prstGeom prst="roundRect">
            <a:avLst>
              <a:gd name="adj" fmla="val 9677"/>
            </a:avLst>
          </a:prstGeom>
          <a:solidFill>
            <a:srgbClr val="008A82"/>
          </a:solidFill>
          <a:ln w="9525">
            <a:solidFill>
              <a:srgbClr val="008A82"/>
            </a:solidFill>
            <a:prstDash val="solid"/>
          </a:ln>
        </p:spPr>
      </p:sp>
      <p:sp>
        <p:nvSpPr>
          <p:cNvPr id="22" name="Rectangle 21">
            <a:extLst>
              <a:ext uri="{FF2B5EF4-FFF2-40B4-BE49-F238E27FC236}">
                <a16:creationId xmlns:a16="http://schemas.microsoft.com/office/drawing/2014/main" id="{3956E453-237C-4879-A93C-4BF4210A0FC3}"/>
              </a:ext>
            </a:extLst>
          </p:cNvPr>
          <p:cNvSpPr>
            <a:spLocks noGrp="1"/>
          </p:cNvSpPr>
          <p:nvPr/>
        </p:nvSpPr>
        <p:spPr>
          <a:xfrm>
            <a:off x="933450" y="4667250"/>
            <a:ext cx="1266825" cy="285750"/>
          </a:xfrm>
          <a:prstGeom prst="rect">
            <a:avLst/>
          </a:prstGeom>
          <a:noFill/>
          <a:ln w="0">
            <a:noFill/>
            <a:prstDash val="solid"/>
          </a:ln>
        </p:spPr>
        <p:txBody>
          <a:bodyPr anchor="t"/>
          <a:lstStyle/>
          <a:p>
            <a:pPr algn="l">
              <a:defRPr sz="1650" b="1">
                <a:solidFill>
                  <a:srgbClr val="FFFFFF"/>
                </a:solidFill>
              </a:defRPr>
            </a:pPr>
            <a:r>
              <a:rPr sz="1650" b="1">
                <a:solidFill>
                  <a:srgbClr val="FFFFFF"/>
                </a:solidFill>
              </a:rPr>
              <a:t>+512…</a:t>
            </a:r>
          </a:p>
        </p:txBody>
      </p:sp>
      <p:sp>
        <p:nvSpPr>
          <p:cNvPr id="23" name="Rectangle 22">
            <a:extLst>
              <a:ext uri="{FF2B5EF4-FFF2-40B4-BE49-F238E27FC236}">
                <a16:creationId xmlns:a16="http://schemas.microsoft.com/office/drawing/2014/main" id="{84F8B573-E3DD-4E3A-880A-584EA5314FAC}"/>
              </a:ext>
            </a:extLst>
          </p:cNvPr>
          <p:cNvSpPr>
            <a:spLocks noGrp="1"/>
          </p:cNvSpPr>
          <p:nvPr/>
        </p:nvSpPr>
        <p:spPr>
          <a:xfrm>
            <a:off x="3943350" y="4638675"/>
            <a:ext cx="952500" cy="381000"/>
          </a:xfrm>
          <a:prstGeom prst="rect">
            <a:avLst/>
          </a:prstGeom>
          <a:noFill/>
          <a:ln w="0">
            <a:noFill/>
            <a:prstDash val="solid"/>
          </a:ln>
        </p:spPr>
        <p:txBody>
          <a:bodyPr anchor="t"/>
          <a:lstStyle/>
          <a:p>
            <a:pPr algn="ctr">
              <a:defRPr sz="975" b="0">
                <a:solidFill>
                  <a:srgbClr val="536777"/>
                </a:solidFill>
              </a:defRPr>
            </a:pPr>
            <a:r>
              <a:rPr sz="975" b="0">
                <a:solidFill>
                  <a:srgbClr val="536777"/>
                </a:solidFill>
              </a:rPr>
              <a:t>и далее…</a:t>
            </a:r>
          </a:p>
        </p:txBody>
      </p:sp>
      <p:sp>
        <p:nvSpPr>
          <p:cNvPr id="24" name="Rounded Rectangle 23">
            <a:extLst>
              <a:ext uri="{FF2B5EF4-FFF2-40B4-BE49-F238E27FC236}">
                <a16:creationId xmlns:a16="http://schemas.microsoft.com/office/drawing/2014/main" id="{CC227137-B756-4CD4-987B-70624D6F1871}"/>
              </a:ext>
            </a:extLst>
          </p:cNvPr>
          <p:cNvSpPr>
            <a:spLocks noGrp="1"/>
          </p:cNvSpPr>
          <p:nvPr/>
        </p:nvSpPr>
        <p:spPr>
          <a:xfrm>
            <a:off x="5334000" y="1695450"/>
            <a:ext cx="6191250" cy="3562350"/>
          </a:xfrm>
          <a:prstGeom prst="roundRect">
            <a:avLst>
              <a:gd name="adj" fmla="val 3209"/>
            </a:avLst>
          </a:prstGeom>
          <a:solidFill>
            <a:srgbClr val="FFFFFF"/>
          </a:solidFill>
          <a:ln w="9525">
            <a:solidFill>
              <a:srgbClr val="E2E8ED"/>
            </a:solidFill>
            <a:prstDash val="solid"/>
          </a:ln>
        </p:spPr>
        <p:style>
          <a:lnRef idx="0">
            <a:scrgbClr r="0" g="0" b="0"/>
          </a:lnRef>
          <a:fillRef idx="0">
            <a:scrgbClr r="0" g="0" b="0"/>
          </a:fillRef>
          <a:effectRef idx="4">
            <a:scrgbClr r="0" g="0" b="0"/>
          </a:effectRef>
          <a:fontRef idx="major"/>
        </p:style>
      </p:sp>
      <p:sp>
        <p:nvSpPr>
          <p:cNvPr id="25" name="Rounded Rectangle 24">
            <a:extLst>
              <a:ext uri="{FF2B5EF4-FFF2-40B4-BE49-F238E27FC236}">
                <a16:creationId xmlns:a16="http://schemas.microsoft.com/office/drawing/2014/main" id="{D761B110-FC0F-4B58-8DBB-FE8E72DFA975}"/>
              </a:ext>
            </a:extLst>
          </p:cNvPr>
          <p:cNvSpPr>
            <a:spLocks noGrp="1"/>
          </p:cNvSpPr>
          <p:nvPr/>
        </p:nvSpPr>
        <p:spPr>
          <a:xfrm>
            <a:off x="5695950" y="1962150"/>
            <a:ext cx="1828800" cy="285750"/>
          </a:xfrm>
          <a:prstGeom prst="roundRect">
            <a:avLst>
              <a:gd name="adj" fmla="val 50000"/>
            </a:avLst>
          </a:prstGeom>
          <a:solidFill>
            <a:srgbClr val="DDEBFA"/>
          </a:solidFill>
          <a:ln w="9525">
            <a:solidFill>
              <a:srgbClr val="DDEBFA"/>
            </a:solidFill>
            <a:prstDash val="solid"/>
          </a:ln>
        </p:spPr>
      </p:sp>
      <p:sp>
        <p:nvSpPr>
          <p:cNvPr id="26" name="Rectangle 25">
            <a:extLst>
              <a:ext uri="{FF2B5EF4-FFF2-40B4-BE49-F238E27FC236}">
                <a16:creationId xmlns:a16="http://schemas.microsoft.com/office/drawing/2014/main" id="{195EB0A5-BCBB-4F2B-A9C9-6A2105ABF43C}"/>
              </a:ext>
            </a:extLst>
          </p:cNvPr>
          <p:cNvSpPr>
            <a:spLocks noGrp="1"/>
          </p:cNvSpPr>
          <p:nvPr/>
        </p:nvSpPr>
        <p:spPr>
          <a:xfrm>
            <a:off x="5772150" y="2009775"/>
            <a:ext cx="1676400" cy="190500"/>
          </a:xfrm>
          <a:prstGeom prst="rect">
            <a:avLst/>
          </a:prstGeom>
          <a:noFill/>
          <a:ln w="0">
            <a:noFill/>
            <a:prstDash val="solid"/>
          </a:ln>
        </p:spPr>
        <p:txBody>
          <a:bodyPr anchor="ctr"/>
          <a:lstStyle/>
          <a:p>
            <a:pPr algn="ctr">
              <a:defRPr sz="975" b="1">
                <a:solidFill>
                  <a:srgbClr val="075BCB"/>
                </a:solidFill>
              </a:defRPr>
            </a:pPr>
            <a:r>
              <a:rPr sz="975" b="1">
                <a:solidFill>
                  <a:srgbClr val="075BCB"/>
                </a:solidFill>
              </a:rPr>
              <a:t>РОССИЯ · 01.08.2026</a:t>
            </a:r>
          </a:p>
        </p:txBody>
      </p:sp>
      <p:sp>
        <p:nvSpPr>
          <p:cNvPr id="27" name="Rectangle 26">
            <a:extLst>
              <a:ext uri="{FF2B5EF4-FFF2-40B4-BE49-F238E27FC236}">
                <a16:creationId xmlns:a16="http://schemas.microsoft.com/office/drawing/2014/main" id="{70DE6F36-ADBF-47DE-BF3C-5CBF5A11D3A2}"/>
              </a:ext>
            </a:extLst>
          </p:cNvPr>
          <p:cNvSpPr>
            <a:spLocks noGrp="1"/>
          </p:cNvSpPr>
          <p:nvPr/>
        </p:nvSpPr>
        <p:spPr>
          <a:xfrm>
            <a:off x="5695950" y="2400300"/>
            <a:ext cx="2667000" cy="819150"/>
          </a:xfrm>
          <a:prstGeom prst="rect">
            <a:avLst/>
          </a:prstGeom>
          <a:noFill/>
          <a:ln w="0">
            <a:noFill/>
            <a:prstDash val="solid"/>
          </a:ln>
        </p:spPr>
        <p:txBody>
          <a:bodyPr anchor="t"/>
          <a:lstStyle/>
          <a:p>
            <a:pPr algn="l">
              <a:defRPr sz="4500" b="1">
                <a:solidFill>
                  <a:srgbClr val="071D33"/>
                </a:solidFill>
              </a:defRPr>
            </a:pPr>
            <a:r>
              <a:rPr sz="4500" b="1">
                <a:solidFill>
                  <a:srgbClr val="071D33"/>
                </a:solidFill>
              </a:rPr>
              <a:t>≈ 4,3×</a:t>
            </a:r>
          </a:p>
        </p:txBody>
      </p:sp>
      <p:sp>
        <p:nvSpPr>
          <p:cNvPr id="28" name="Rectangle 27">
            <a:extLst>
              <a:ext uri="{FF2B5EF4-FFF2-40B4-BE49-F238E27FC236}">
                <a16:creationId xmlns:a16="http://schemas.microsoft.com/office/drawing/2014/main" id="{53151450-243E-47B0-B5E0-C2A326F490E2}"/>
              </a:ext>
            </a:extLst>
          </p:cNvPr>
          <p:cNvSpPr>
            <a:spLocks noGrp="1"/>
          </p:cNvSpPr>
          <p:nvPr/>
        </p:nvSpPr>
        <p:spPr>
          <a:xfrm>
            <a:off x="5715000" y="3219450"/>
            <a:ext cx="3238500" cy="285750"/>
          </a:xfrm>
          <a:prstGeom prst="rect">
            <a:avLst/>
          </a:prstGeom>
          <a:noFill/>
          <a:ln w="0">
            <a:noFill/>
            <a:prstDash val="solid"/>
          </a:ln>
        </p:spPr>
        <p:txBody>
          <a:bodyPr anchor="t"/>
          <a:lstStyle/>
          <a:p>
            <a:pPr algn="l">
              <a:defRPr sz="1500" b="1">
                <a:solidFill>
                  <a:srgbClr val="536777"/>
                </a:solidFill>
              </a:defRPr>
            </a:pPr>
            <a:r>
              <a:rPr sz="1500" b="1">
                <a:solidFill>
                  <a:srgbClr val="536777"/>
                </a:solidFill>
              </a:rPr>
              <a:t>M2 / широкая денежная база</a:t>
            </a:r>
          </a:p>
        </p:txBody>
      </p:sp>
      <p:sp>
        <p:nvSpPr>
          <p:cNvPr id="29" name="Straight Connector 28">
            <a:extLst>
              <a:ext uri="{FF2B5EF4-FFF2-40B4-BE49-F238E27FC236}">
                <a16:creationId xmlns:a16="http://schemas.microsoft.com/office/drawing/2014/main" id="{FE1F5D69-8BC6-47F3-B07E-0F5BE4D8899E}"/>
              </a:ext>
            </a:extLst>
          </p:cNvPr>
          <p:cNvSpPr>
            <a:spLocks noGrp="1"/>
          </p:cNvSpPr>
          <p:nvPr/>
        </p:nvSpPr>
        <p:spPr>
          <a:xfrm>
            <a:off x="5695950" y="3733800"/>
            <a:ext cx="5429250" cy="0"/>
          </a:xfrm>
          <a:prstGeom prst="line">
            <a:avLst/>
          </a:prstGeom>
          <a:noFill/>
          <a:ln w="9525">
            <a:solidFill>
              <a:srgbClr val="E2E8ED"/>
            </a:solidFill>
            <a:prstDash val="solid"/>
          </a:ln>
        </p:spPr>
      </p:sp>
      <p:sp>
        <p:nvSpPr>
          <p:cNvPr id="30" name="Rectangle 29">
            <a:extLst>
              <a:ext uri="{FF2B5EF4-FFF2-40B4-BE49-F238E27FC236}">
                <a16:creationId xmlns:a16="http://schemas.microsoft.com/office/drawing/2014/main" id="{E32BB744-0180-4592-A6B9-3ECD57208D79}"/>
              </a:ext>
            </a:extLst>
          </p:cNvPr>
          <p:cNvSpPr>
            <a:spLocks noGrp="1"/>
          </p:cNvSpPr>
          <p:nvPr/>
        </p:nvSpPr>
        <p:spPr>
          <a:xfrm>
            <a:off x="5695950" y="3962400"/>
            <a:ext cx="4953000" cy="609600"/>
          </a:xfrm>
          <a:prstGeom prst="rect">
            <a:avLst/>
          </a:prstGeom>
          <a:noFill/>
          <a:ln w="0">
            <a:noFill/>
            <a:prstDash val="solid"/>
          </a:ln>
        </p:spPr>
        <p:txBody>
          <a:bodyPr anchor="t"/>
          <a:lstStyle/>
          <a:p>
            <a:pPr algn="l">
              <a:defRPr sz="1500" b="0">
                <a:solidFill>
                  <a:srgbClr val="263746"/>
                </a:solidFill>
              </a:defRPr>
            </a:pPr>
            <a:r>
              <a:rPr sz="1500" b="0">
                <a:solidFill>
                  <a:srgbClr val="263746"/>
                </a:solidFill>
              </a:rPr>
              <a:t>Это наблюдаемое соотношение,</a:t>
            </a:r>
          </a:p>
          <a:p>
            <a:pPr algn="l">
              <a:defRPr sz="1500" b="0">
                <a:solidFill>
                  <a:srgbClr val="263746"/>
                </a:solidFill>
              </a:defRPr>
            </a:pPr>
            <a:r>
              <a:rPr sz="1500" b="0">
                <a:solidFill>
                  <a:srgbClr val="263746"/>
                </a:solidFill>
              </a:rPr>
              <a:t>а не разрешение банку выдать 4,3× кредита.</a:t>
            </a:r>
          </a:p>
        </p:txBody>
      </p:sp>
      <p:sp>
        <p:nvSpPr>
          <p:cNvPr id="31" name="Rounded Rectangle 30">
            <a:extLst>
              <a:ext uri="{FF2B5EF4-FFF2-40B4-BE49-F238E27FC236}">
                <a16:creationId xmlns:a16="http://schemas.microsoft.com/office/drawing/2014/main" id="{51D47955-1F3B-46F3-B711-5715680202CF}"/>
              </a:ext>
            </a:extLst>
          </p:cNvPr>
          <p:cNvSpPr>
            <a:spLocks noGrp="1"/>
          </p:cNvSpPr>
          <p:nvPr/>
        </p:nvSpPr>
        <p:spPr>
          <a:xfrm>
            <a:off x="5695950" y="4686300"/>
            <a:ext cx="5391150" cy="361950"/>
          </a:xfrm>
          <a:prstGeom prst="roundRect">
            <a:avLst>
              <a:gd name="adj" fmla="val 15789"/>
            </a:avLst>
          </a:prstGeom>
          <a:solidFill>
            <a:srgbClr val="FFF0D8"/>
          </a:solidFill>
          <a:ln w="9525">
            <a:solidFill>
              <a:srgbClr val="FFF0D8"/>
            </a:solidFill>
            <a:prstDash val="solid"/>
          </a:ln>
        </p:spPr>
      </p:sp>
      <p:sp>
        <p:nvSpPr>
          <p:cNvPr id="32" name="Rectangle 31">
            <a:extLst>
              <a:ext uri="{FF2B5EF4-FFF2-40B4-BE49-F238E27FC236}">
                <a16:creationId xmlns:a16="http://schemas.microsoft.com/office/drawing/2014/main" id="{15957492-42C4-40E0-B9C4-504DB17E55C5}"/>
              </a:ext>
            </a:extLst>
          </p:cNvPr>
          <p:cNvSpPr>
            <a:spLocks noGrp="1"/>
          </p:cNvSpPr>
          <p:nvPr/>
        </p:nvSpPr>
        <p:spPr>
          <a:xfrm>
            <a:off x="5829300" y="4781550"/>
            <a:ext cx="5124450" cy="190500"/>
          </a:xfrm>
          <a:prstGeom prst="rect">
            <a:avLst/>
          </a:prstGeom>
          <a:noFill/>
          <a:ln w="0">
            <a:noFill/>
            <a:prstDash val="solid"/>
          </a:ln>
        </p:spPr>
        <p:txBody>
          <a:bodyPr anchor="t"/>
          <a:lstStyle/>
          <a:p>
            <a:pPr algn="l">
              <a:defRPr sz="1125" b="1">
                <a:solidFill>
                  <a:srgbClr val="D98216"/>
                </a:solidFill>
              </a:defRPr>
            </a:pPr>
            <a:r>
              <a:rPr sz="1125" b="1">
                <a:solidFill>
                  <a:srgbClr val="D98216"/>
                </a:solidFill>
              </a:rPr>
              <a:t>Ограничители: капитал · ликвидность · спрос · ставка · риск</a:t>
            </a:r>
          </a:p>
        </p:txBody>
      </p:sp>
      <p:sp>
        <p:nvSpPr>
          <p:cNvPr id="33" name="Rounded Rectangle 32">
            <a:extLst>
              <a:ext uri="{FF2B5EF4-FFF2-40B4-BE49-F238E27FC236}">
                <a16:creationId xmlns:a16="http://schemas.microsoft.com/office/drawing/2014/main" id="{DA6F365A-1982-418F-9561-231C9B49609D}"/>
              </a:ext>
            </a:extLst>
          </p:cNvPr>
          <p:cNvSpPr>
            <a:spLocks noGrp="1"/>
          </p:cNvSpPr>
          <p:nvPr/>
        </p:nvSpPr>
        <p:spPr>
          <a:xfrm>
            <a:off x="609600" y="5791200"/>
            <a:ext cx="10972800" cy="590550"/>
          </a:xfrm>
          <a:prstGeom prst="roundRect">
            <a:avLst>
              <a:gd name="adj" fmla="val 9677"/>
            </a:avLst>
          </a:prstGeom>
          <a:solidFill>
            <a:srgbClr val="DDEBFA"/>
          </a:solidFill>
          <a:ln w="9525">
            <a:solidFill>
              <a:srgbClr val="DDEBFA"/>
            </a:solidFill>
            <a:prstDash val="solid"/>
          </a:ln>
        </p:spPr>
      </p:sp>
      <p:sp>
        <p:nvSpPr>
          <p:cNvPr id="34" name="Rounded Rectangle 33">
            <a:extLst>
              <a:ext uri="{FF2B5EF4-FFF2-40B4-BE49-F238E27FC236}">
                <a16:creationId xmlns:a16="http://schemas.microsoft.com/office/drawing/2014/main" id="{9479F86A-A91B-4CCD-A9E3-2ED1CDE2BC26}"/>
              </a:ext>
            </a:extLst>
          </p:cNvPr>
          <p:cNvSpPr>
            <a:spLocks noGrp="1"/>
          </p:cNvSpPr>
          <p:nvPr/>
        </p:nvSpPr>
        <p:spPr>
          <a:xfrm>
            <a:off x="609600" y="5791200"/>
            <a:ext cx="66675" cy="590550"/>
          </a:xfrm>
          <a:prstGeom prst="roundRect">
            <a:avLst>
              <a:gd name="adj" fmla="val 50000"/>
            </a:avLst>
          </a:prstGeom>
          <a:solidFill>
            <a:srgbClr val="075BCB"/>
          </a:solidFill>
          <a:ln w="9525">
            <a:solidFill>
              <a:srgbClr val="075BCB"/>
            </a:solidFill>
            <a:prstDash val="solid"/>
          </a:ln>
        </p:spPr>
      </p:sp>
      <p:sp>
        <p:nvSpPr>
          <p:cNvPr id="35" name="Rectangle 34">
            <a:extLst>
              <a:ext uri="{FF2B5EF4-FFF2-40B4-BE49-F238E27FC236}">
                <a16:creationId xmlns:a16="http://schemas.microsoft.com/office/drawing/2014/main" id="{03DC5CE8-89F4-4DBF-A1AB-8ACC467A966B}"/>
              </a:ext>
            </a:extLst>
          </p:cNvPr>
          <p:cNvSpPr>
            <a:spLocks noGrp="1"/>
          </p:cNvSpPr>
          <p:nvPr/>
        </p:nvSpPr>
        <p:spPr>
          <a:xfrm>
            <a:off x="838200" y="5924550"/>
            <a:ext cx="10477500" cy="323850"/>
          </a:xfrm>
          <a:prstGeom prst="rect">
            <a:avLst/>
          </a:prstGeom>
          <a:noFill/>
          <a:ln w="0">
            <a:noFill/>
            <a:prstDash val="solid"/>
          </a:ln>
        </p:spPr>
        <p:txBody>
          <a:bodyPr anchor="ctr"/>
          <a:lstStyle/>
          <a:p>
            <a:pPr algn="l">
              <a:defRPr sz="1500" b="1">
                <a:solidFill>
                  <a:srgbClr val="075BCB"/>
                </a:solidFill>
              </a:defRPr>
            </a:pPr>
            <a:r>
              <a:rPr sz="1500" b="1">
                <a:solidFill>
                  <a:srgbClr val="075BCB"/>
                </a:solidFill>
              </a:rPr>
              <a:t>Современный банк не «перекладывает» ваш депозит заемщику: при выдаче кредита он одновременно создает депозит.</a:t>
            </a:r>
          </a:p>
        </p:txBody>
      </p:sp>
    </p:spTree>
    <p:extLst>
      <p:ext uri="{BB962C8B-B14F-4D97-AF65-F5344CB8AC3E}">
        <p14:creationId xmlns:p14="http://schemas.microsoft.com/office/powerpoint/2010/main" val="1556026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37" name="Rounded Rectangle 36">
            <a:extLst>
              <a:ext uri="{FF2B5EF4-FFF2-40B4-BE49-F238E27FC236}">
                <a16:creationId xmlns:a16="http://schemas.microsoft.com/office/drawing/2014/main" id="{615167BE-D6B8-44D7-885E-E76F7A902547}"/>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93202DC5-2634-41EA-9669-12C201C78DA2}"/>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4">
            <a:extLst>
              <a:ext uri="{FF2B5EF4-FFF2-40B4-BE49-F238E27FC236}">
                <a16:creationId xmlns:a16="http://schemas.microsoft.com/office/drawing/2014/main" id="{1BE79FB7-4F75-4052-AE40-70A388C00974}"/>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3. ЧТО ПРОИСХОДИТ С 1 000 РУБЛЕЙ</a:t>
            </a:r>
          </a:p>
        </p:txBody>
      </p:sp>
      <p:sp>
        <p:nvSpPr>
          <p:cNvPr id="4" name="title-4">
            <a:extLst>
              <a:ext uri="{FF2B5EF4-FFF2-40B4-BE49-F238E27FC236}">
                <a16:creationId xmlns:a16="http://schemas.microsoft.com/office/drawing/2014/main" id="{218D1E47-29D5-4E93-B290-0ADCC1CBFF28}"/>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Конвертация в цифровой рубль меняет должника — но не создает новые деньги</a:t>
            </a:r>
          </a:p>
        </p:txBody>
      </p:sp>
      <p:sp>
        <p:nvSpPr>
          <p:cNvPr id="5" name="Straight Connector 4">
            <a:extLst>
              <a:ext uri="{FF2B5EF4-FFF2-40B4-BE49-F238E27FC236}">
                <a16:creationId xmlns:a16="http://schemas.microsoft.com/office/drawing/2014/main" id="{0A08F4D6-F54B-44E8-B97C-6EF3C2E26EF8}"/>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604BD91B-A783-4AC2-AF22-778159BA71EE}"/>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D239FFF0-1724-4260-AACB-A9844FE038C2}"/>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04</a:t>
            </a:r>
          </a:p>
        </p:txBody>
      </p:sp>
      <p:sp>
        <p:nvSpPr>
          <p:cNvPr id="8" name="Right Arrow 7">
            <a:extLst>
              <a:ext uri="{FF2B5EF4-FFF2-40B4-BE49-F238E27FC236}">
                <a16:creationId xmlns:a16="http://schemas.microsoft.com/office/drawing/2014/main" id="{D9C319A8-B22C-4085-99BA-BE93B5A542D2}"/>
              </a:ext>
            </a:extLst>
          </p:cNvPr>
          <p:cNvSpPr>
            <a:spLocks noGrp="1"/>
          </p:cNvSpPr>
          <p:nvPr/>
        </p:nvSpPr>
        <p:spPr>
          <a:xfrm>
            <a:off x="4991100" y="2047875"/>
            <a:ext cx="1524000" cy="495300"/>
          </a:xfrm>
          <a:prstGeom prst="rightArrow">
            <a:avLst/>
          </a:prstGeom>
          <a:solidFill>
            <a:srgbClr val="CCD5DC"/>
          </a:solidFill>
          <a:ln w="0">
            <a:solidFill>
              <a:srgbClr val="CCD5DC"/>
            </a:solidFill>
            <a:prstDash val="solid"/>
          </a:ln>
        </p:spPr>
      </p:sp>
      <p:sp>
        <p:nvSpPr>
          <p:cNvPr id="9" name="Rounded Rectangle 8">
            <a:extLst>
              <a:ext uri="{FF2B5EF4-FFF2-40B4-BE49-F238E27FC236}">
                <a16:creationId xmlns:a16="http://schemas.microsoft.com/office/drawing/2014/main" id="{94AA6BCB-333D-4231-A331-DACBD7BB8746}"/>
              </a:ext>
            </a:extLst>
          </p:cNvPr>
          <p:cNvSpPr>
            <a:spLocks noGrp="1"/>
          </p:cNvSpPr>
          <p:nvPr/>
        </p:nvSpPr>
        <p:spPr>
          <a:xfrm>
            <a:off x="723900" y="1771650"/>
            <a:ext cx="4095750" cy="1466850"/>
          </a:xfrm>
          <a:prstGeom prst="roundRect">
            <a:avLst>
              <a:gd name="adj" fmla="val 7792"/>
            </a:avLst>
          </a:prstGeom>
          <a:solidFill>
            <a:srgbClr val="DDEBFA"/>
          </a:solidFill>
          <a:ln w="14288">
            <a:solidFill>
              <a:srgbClr val="075BCB"/>
            </a:solidFill>
            <a:prstDash val="solid"/>
          </a:ln>
        </p:spPr>
      </p:sp>
      <p:sp>
        <p:nvSpPr>
          <p:cNvPr id="10" name="Rectangle 9">
            <a:extLst>
              <a:ext uri="{FF2B5EF4-FFF2-40B4-BE49-F238E27FC236}">
                <a16:creationId xmlns:a16="http://schemas.microsoft.com/office/drawing/2014/main" id="{D1548A77-A4BD-4AA2-8B69-8F175DB63433}"/>
              </a:ext>
            </a:extLst>
          </p:cNvPr>
          <p:cNvSpPr>
            <a:spLocks noGrp="1"/>
          </p:cNvSpPr>
          <p:nvPr/>
        </p:nvSpPr>
        <p:spPr>
          <a:xfrm>
            <a:off x="971550" y="1943100"/>
            <a:ext cx="666750" cy="228600"/>
          </a:xfrm>
          <a:prstGeom prst="rect">
            <a:avLst/>
          </a:prstGeom>
          <a:noFill/>
          <a:ln w="0">
            <a:noFill/>
            <a:prstDash val="solid"/>
          </a:ln>
        </p:spPr>
        <p:txBody>
          <a:bodyPr anchor="t"/>
          <a:lstStyle/>
          <a:p>
            <a:pPr algn="l">
              <a:defRPr sz="1050" b="1">
                <a:solidFill>
                  <a:srgbClr val="075BCB"/>
                </a:solidFill>
              </a:defRPr>
            </a:pPr>
            <a:r>
              <a:rPr sz="1050" b="1">
                <a:solidFill>
                  <a:srgbClr val="075BCB"/>
                </a:solidFill>
              </a:rPr>
              <a:t>ДО</a:t>
            </a:r>
          </a:p>
        </p:txBody>
      </p:sp>
      <p:sp>
        <p:nvSpPr>
          <p:cNvPr id="11" name="Rectangle 10">
            <a:extLst>
              <a:ext uri="{FF2B5EF4-FFF2-40B4-BE49-F238E27FC236}">
                <a16:creationId xmlns:a16="http://schemas.microsoft.com/office/drawing/2014/main" id="{6B85037C-1F57-43BE-B019-961278225AD7}"/>
              </a:ext>
            </a:extLst>
          </p:cNvPr>
          <p:cNvSpPr>
            <a:spLocks noGrp="1"/>
          </p:cNvSpPr>
          <p:nvPr/>
        </p:nvSpPr>
        <p:spPr>
          <a:xfrm>
            <a:off x="971550" y="2324100"/>
            <a:ext cx="3581400" cy="361950"/>
          </a:xfrm>
          <a:prstGeom prst="rect">
            <a:avLst/>
          </a:prstGeom>
          <a:noFill/>
          <a:ln w="0">
            <a:noFill/>
            <a:prstDash val="solid"/>
          </a:ln>
        </p:spPr>
        <p:txBody>
          <a:bodyPr anchor="t"/>
          <a:lstStyle/>
          <a:p>
            <a:pPr algn="l">
              <a:defRPr sz="1875" b="1">
                <a:solidFill>
                  <a:srgbClr val="071D33"/>
                </a:solidFill>
              </a:defRPr>
            </a:pPr>
            <a:r>
              <a:rPr sz="1875" b="1">
                <a:solidFill>
                  <a:srgbClr val="071D33"/>
                </a:solidFill>
              </a:rPr>
              <a:t>1 000 ₽ на счете в банке</a:t>
            </a:r>
          </a:p>
        </p:txBody>
      </p:sp>
      <p:sp>
        <p:nvSpPr>
          <p:cNvPr id="12" name="Rectangle 11">
            <a:extLst>
              <a:ext uri="{FF2B5EF4-FFF2-40B4-BE49-F238E27FC236}">
                <a16:creationId xmlns:a16="http://schemas.microsoft.com/office/drawing/2014/main" id="{2FFE76CE-5CA7-4366-A2FA-3C057DAA750D}"/>
              </a:ext>
            </a:extLst>
          </p:cNvPr>
          <p:cNvSpPr>
            <a:spLocks noGrp="1"/>
          </p:cNvSpPr>
          <p:nvPr/>
        </p:nvSpPr>
        <p:spPr>
          <a:xfrm>
            <a:off x="971550" y="2857500"/>
            <a:ext cx="3581400" cy="228600"/>
          </a:xfrm>
          <a:prstGeom prst="rect">
            <a:avLst/>
          </a:prstGeom>
          <a:noFill/>
          <a:ln w="0">
            <a:noFill/>
            <a:prstDash val="solid"/>
          </a:ln>
        </p:spPr>
        <p:txBody>
          <a:bodyPr anchor="t"/>
          <a:lstStyle/>
          <a:p>
            <a:pPr algn="l">
              <a:defRPr sz="1125" b="0">
                <a:solidFill>
                  <a:srgbClr val="536777"/>
                </a:solidFill>
              </a:defRPr>
            </a:pPr>
            <a:r>
              <a:rPr sz="1125" b="0">
                <a:solidFill>
                  <a:srgbClr val="536777"/>
                </a:solidFill>
              </a:rPr>
              <a:t>Ваш актив = требование к коммерческому банку</a:t>
            </a:r>
          </a:p>
        </p:txBody>
      </p:sp>
      <p:sp>
        <p:nvSpPr>
          <p:cNvPr id="13" name="Rectangle 12">
            <a:extLst>
              <a:ext uri="{FF2B5EF4-FFF2-40B4-BE49-F238E27FC236}">
                <a16:creationId xmlns:a16="http://schemas.microsoft.com/office/drawing/2014/main" id="{0CBCB5B7-A14C-4591-AAFF-63D8ACCA3A7F}"/>
              </a:ext>
            </a:extLst>
          </p:cNvPr>
          <p:cNvSpPr>
            <a:spLocks noGrp="1"/>
          </p:cNvSpPr>
          <p:nvPr/>
        </p:nvSpPr>
        <p:spPr>
          <a:xfrm>
            <a:off x="5334000" y="1924050"/>
            <a:ext cx="857250" cy="266700"/>
          </a:xfrm>
          <a:prstGeom prst="rect">
            <a:avLst/>
          </a:prstGeom>
          <a:noFill/>
          <a:ln w="0">
            <a:noFill/>
            <a:prstDash val="solid"/>
          </a:ln>
        </p:spPr>
        <p:txBody>
          <a:bodyPr anchor="t"/>
          <a:lstStyle/>
          <a:p>
            <a:pPr algn="ctr">
              <a:defRPr sz="1350" b="1">
                <a:solidFill>
                  <a:srgbClr val="536777"/>
                </a:solidFill>
              </a:defRPr>
            </a:pPr>
            <a:r>
              <a:rPr sz="1350" b="1">
                <a:solidFill>
                  <a:srgbClr val="536777"/>
                </a:solidFill>
              </a:rPr>
              <a:t>1 : 1</a:t>
            </a:r>
          </a:p>
        </p:txBody>
      </p:sp>
      <p:sp>
        <p:nvSpPr>
          <p:cNvPr id="14" name="Rectangle 13">
            <a:extLst>
              <a:ext uri="{FF2B5EF4-FFF2-40B4-BE49-F238E27FC236}">
                <a16:creationId xmlns:a16="http://schemas.microsoft.com/office/drawing/2014/main" id="{442B6B51-E34F-4928-AA94-E9D15F17F536}"/>
              </a:ext>
            </a:extLst>
          </p:cNvPr>
          <p:cNvSpPr>
            <a:spLocks noGrp="1"/>
          </p:cNvSpPr>
          <p:nvPr/>
        </p:nvSpPr>
        <p:spPr>
          <a:xfrm>
            <a:off x="5162550" y="2781300"/>
            <a:ext cx="1200150" cy="209550"/>
          </a:xfrm>
          <a:prstGeom prst="rect">
            <a:avLst/>
          </a:prstGeom>
          <a:noFill/>
          <a:ln w="0">
            <a:noFill/>
            <a:prstDash val="solid"/>
          </a:ln>
        </p:spPr>
        <p:txBody>
          <a:bodyPr anchor="t"/>
          <a:lstStyle/>
          <a:p>
            <a:pPr algn="ctr">
              <a:defRPr sz="1050" b="0">
                <a:solidFill>
                  <a:srgbClr val="7A8B99"/>
                </a:solidFill>
              </a:defRPr>
            </a:pPr>
            <a:r>
              <a:rPr sz="1050" b="0">
                <a:solidFill>
                  <a:srgbClr val="7A8B99"/>
                </a:solidFill>
              </a:rPr>
              <a:t>конвертация</a:t>
            </a:r>
          </a:p>
        </p:txBody>
      </p:sp>
      <p:sp>
        <p:nvSpPr>
          <p:cNvPr id="15" name="Rounded Rectangle 14">
            <a:extLst>
              <a:ext uri="{FF2B5EF4-FFF2-40B4-BE49-F238E27FC236}">
                <a16:creationId xmlns:a16="http://schemas.microsoft.com/office/drawing/2014/main" id="{C81E3348-65B7-4BD6-AD6E-4AAA936299AE}"/>
              </a:ext>
            </a:extLst>
          </p:cNvPr>
          <p:cNvSpPr>
            <a:spLocks noGrp="1"/>
          </p:cNvSpPr>
          <p:nvPr/>
        </p:nvSpPr>
        <p:spPr>
          <a:xfrm>
            <a:off x="6686550" y="1771650"/>
            <a:ext cx="4762500" cy="1466850"/>
          </a:xfrm>
          <a:prstGeom prst="roundRect">
            <a:avLst>
              <a:gd name="adj" fmla="val 7792"/>
            </a:avLst>
          </a:prstGeom>
          <a:solidFill>
            <a:srgbClr val="DDF2EF"/>
          </a:solidFill>
          <a:ln w="14288">
            <a:solidFill>
              <a:srgbClr val="008A82"/>
            </a:solidFill>
            <a:prstDash val="solid"/>
          </a:ln>
        </p:spPr>
      </p:sp>
      <p:sp>
        <p:nvSpPr>
          <p:cNvPr id="16" name="Rectangle 15">
            <a:extLst>
              <a:ext uri="{FF2B5EF4-FFF2-40B4-BE49-F238E27FC236}">
                <a16:creationId xmlns:a16="http://schemas.microsoft.com/office/drawing/2014/main" id="{6A797C54-B00A-456E-A527-F9B90B53F7DD}"/>
              </a:ext>
            </a:extLst>
          </p:cNvPr>
          <p:cNvSpPr>
            <a:spLocks noGrp="1"/>
          </p:cNvSpPr>
          <p:nvPr/>
        </p:nvSpPr>
        <p:spPr>
          <a:xfrm>
            <a:off x="6934200" y="1943100"/>
            <a:ext cx="857250" cy="228600"/>
          </a:xfrm>
          <a:prstGeom prst="rect">
            <a:avLst/>
          </a:prstGeom>
          <a:noFill/>
          <a:ln w="0">
            <a:noFill/>
            <a:prstDash val="solid"/>
          </a:ln>
        </p:spPr>
        <p:txBody>
          <a:bodyPr anchor="t"/>
          <a:lstStyle/>
          <a:p>
            <a:pPr algn="l">
              <a:defRPr sz="1050" b="1">
                <a:solidFill>
                  <a:srgbClr val="008A82"/>
                </a:solidFill>
              </a:defRPr>
            </a:pPr>
            <a:r>
              <a:rPr sz="1050" b="1">
                <a:solidFill>
                  <a:srgbClr val="008A82"/>
                </a:solidFill>
              </a:rPr>
              <a:t>ПОСЛЕ</a:t>
            </a:r>
          </a:p>
        </p:txBody>
      </p:sp>
      <p:sp>
        <p:nvSpPr>
          <p:cNvPr id="17" name="Rectangle 16">
            <a:extLst>
              <a:ext uri="{FF2B5EF4-FFF2-40B4-BE49-F238E27FC236}">
                <a16:creationId xmlns:a16="http://schemas.microsoft.com/office/drawing/2014/main" id="{4DE656FE-563A-4D60-9154-79525F68AF49}"/>
              </a:ext>
            </a:extLst>
          </p:cNvPr>
          <p:cNvSpPr>
            <a:spLocks noGrp="1"/>
          </p:cNvSpPr>
          <p:nvPr/>
        </p:nvSpPr>
        <p:spPr>
          <a:xfrm>
            <a:off x="6934200" y="2324100"/>
            <a:ext cx="4229100" cy="361950"/>
          </a:xfrm>
          <a:prstGeom prst="rect">
            <a:avLst/>
          </a:prstGeom>
          <a:noFill/>
          <a:ln w="0">
            <a:noFill/>
            <a:prstDash val="solid"/>
          </a:ln>
        </p:spPr>
        <p:txBody>
          <a:bodyPr anchor="t"/>
          <a:lstStyle/>
          <a:p>
            <a:pPr algn="l">
              <a:defRPr sz="1800" b="1">
                <a:solidFill>
                  <a:srgbClr val="071D33"/>
                </a:solidFill>
              </a:defRPr>
            </a:pPr>
            <a:r>
              <a:rPr sz="1800" b="1">
                <a:solidFill>
                  <a:srgbClr val="071D33"/>
                </a:solidFill>
              </a:rPr>
              <a:t>1 000 ₽ в цифровом кошельке</a:t>
            </a:r>
          </a:p>
        </p:txBody>
      </p:sp>
      <p:sp>
        <p:nvSpPr>
          <p:cNvPr id="18" name="Rectangle 17">
            <a:extLst>
              <a:ext uri="{FF2B5EF4-FFF2-40B4-BE49-F238E27FC236}">
                <a16:creationId xmlns:a16="http://schemas.microsoft.com/office/drawing/2014/main" id="{452285B1-FA45-4A14-8B2E-68F085696A8F}"/>
              </a:ext>
            </a:extLst>
          </p:cNvPr>
          <p:cNvSpPr>
            <a:spLocks noGrp="1"/>
          </p:cNvSpPr>
          <p:nvPr/>
        </p:nvSpPr>
        <p:spPr>
          <a:xfrm>
            <a:off x="6934200" y="2857500"/>
            <a:ext cx="4229100" cy="228600"/>
          </a:xfrm>
          <a:prstGeom prst="rect">
            <a:avLst/>
          </a:prstGeom>
          <a:noFill/>
          <a:ln w="0">
            <a:noFill/>
            <a:prstDash val="solid"/>
          </a:ln>
        </p:spPr>
        <p:txBody>
          <a:bodyPr anchor="t"/>
          <a:lstStyle/>
          <a:p>
            <a:pPr algn="l">
              <a:defRPr sz="1125" b="0">
                <a:solidFill>
                  <a:srgbClr val="536777"/>
                </a:solidFill>
              </a:defRPr>
            </a:pPr>
            <a:r>
              <a:rPr sz="1125" b="0">
                <a:solidFill>
                  <a:srgbClr val="536777"/>
                </a:solidFill>
              </a:rPr>
              <a:t>Ваш актив = прямое требование к Банку России</a:t>
            </a:r>
          </a:p>
        </p:txBody>
      </p:sp>
      <p:sp>
        <p:nvSpPr>
          <p:cNvPr id="19" name="Rounded Rectangle 18">
            <a:extLst>
              <a:ext uri="{FF2B5EF4-FFF2-40B4-BE49-F238E27FC236}">
                <a16:creationId xmlns:a16="http://schemas.microsoft.com/office/drawing/2014/main" id="{3D944EBA-15A1-4607-8AFD-1E081F1D2F4A}"/>
              </a:ext>
            </a:extLst>
          </p:cNvPr>
          <p:cNvSpPr>
            <a:spLocks noGrp="1"/>
          </p:cNvSpPr>
          <p:nvPr/>
        </p:nvSpPr>
        <p:spPr>
          <a:xfrm>
            <a:off x="723900" y="3524250"/>
            <a:ext cx="5105400" cy="1695450"/>
          </a:xfrm>
          <a:prstGeom prst="roundRect">
            <a:avLst>
              <a:gd name="adj" fmla="val 4494"/>
            </a:avLst>
          </a:prstGeom>
          <a:solidFill>
            <a:srgbClr val="FFFFFF"/>
          </a:solidFill>
          <a:ln w="9525">
            <a:solidFill>
              <a:srgbClr val="E2E8ED"/>
            </a:solidFill>
            <a:prstDash val="solid"/>
          </a:ln>
        </p:spPr>
      </p:sp>
      <p:sp>
        <p:nvSpPr>
          <p:cNvPr id="20" name="Rectangle 19">
            <a:extLst>
              <a:ext uri="{FF2B5EF4-FFF2-40B4-BE49-F238E27FC236}">
                <a16:creationId xmlns:a16="http://schemas.microsoft.com/office/drawing/2014/main" id="{8D09CB73-7C6B-4AEC-89BF-4D0A66170685}"/>
              </a:ext>
            </a:extLst>
          </p:cNvPr>
          <p:cNvSpPr>
            <a:spLocks noGrp="1"/>
          </p:cNvSpPr>
          <p:nvPr/>
        </p:nvSpPr>
        <p:spPr>
          <a:xfrm>
            <a:off x="990600" y="3733800"/>
            <a:ext cx="2952750" cy="228600"/>
          </a:xfrm>
          <a:prstGeom prst="rect">
            <a:avLst/>
          </a:prstGeom>
          <a:noFill/>
          <a:ln w="0">
            <a:noFill/>
            <a:prstDash val="solid"/>
          </a:ln>
        </p:spPr>
        <p:txBody>
          <a:bodyPr anchor="t"/>
          <a:lstStyle/>
          <a:p>
            <a:pPr algn="l">
              <a:defRPr sz="1200" b="1">
                <a:solidFill>
                  <a:srgbClr val="075BCB"/>
                </a:solidFill>
              </a:defRPr>
            </a:pPr>
            <a:r>
              <a:rPr sz="1200" b="1">
                <a:solidFill>
                  <a:srgbClr val="075BCB"/>
                </a:solidFill>
              </a:rPr>
              <a:t>КОММЕРЧЕСКИЙ БАНК</a:t>
            </a:r>
          </a:p>
        </p:txBody>
      </p:sp>
      <p:sp>
        <p:nvSpPr>
          <p:cNvPr id="21" name="Rectangle 20">
            <a:extLst>
              <a:ext uri="{FF2B5EF4-FFF2-40B4-BE49-F238E27FC236}">
                <a16:creationId xmlns:a16="http://schemas.microsoft.com/office/drawing/2014/main" id="{1B2FD6E8-83CC-4B87-9B3E-F6977C690A44}"/>
              </a:ext>
            </a:extLst>
          </p:cNvPr>
          <p:cNvSpPr>
            <a:spLocks noGrp="1"/>
          </p:cNvSpPr>
          <p:nvPr/>
        </p:nvSpPr>
        <p:spPr>
          <a:xfrm>
            <a:off x="990600" y="4057650"/>
            <a:ext cx="1238250" cy="209550"/>
          </a:xfrm>
          <a:prstGeom prst="rect">
            <a:avLst/>
          </a:prstGeom>
          <a:noFill/>
          <a:ln w="0">
            <a:noFill/>
            <a:prstDash val="solid"/>
          </a:ln>
        </p:spPr>
        <p:txBody>
          <a:bodyPr anchor="t"/>
          <a:lstStyle/>
          <a:p>
            <a:pPr algn="l">
              <a:defRPr sz="1050" b="1">
                <a:solidFill>
                  <a:srgbClr val="7A8B99"/>
                </a:solidFill>
              </a:defRPr>
            </a:pPr>
            <a:r>
              <a:rPr sz="1050" b="1">
                <a:solidFill>
                  <a:srgbClr val="7A8B99"/>
                </a:solidFill>
              </a:rPr>
              <a:t>Пассивы</a:t>
            </a:r>
          </a:p>
        </p:txBody>
      </p:sp>
      <p:sp>
        <p:nvSpPr>
          <p:cNvPr id="22" name="Rectangle 21">
            <a:extLst>
              <a:ext uri="{FF2B5EF4-FFF2-40B4-BE49-F238E27FC236}">
                <a16:creationId xmlns:a16="http://schemas.microsoft.com/office/drawing/2014/main" id="{7F981F39-70A9-43E9-91E7-601E926AF0C7}"/>
              </a:ext>
            </a:extLst>
          </p:cNvPr>
          <p:cNvSpPr>
            <a:spLocks noGrp="1"/>
          </p:cNvSpPr>
          <p:nvPr/>
        </p:nvSpPr>
        <p:spPr>
          <a:xfrm>
            <a:off x="990600" y="4305300"/>
            <a:ext cx="2095500" cy="238125"/>
          </a:xfrm>
          <a:prstGeom prst="rect">
            <a:avLst/>
          </a:prstGeom>
          <a:noFill/>
          <a:ln w="0">
            <a:noFill/>
            <a:prstDash val="solid"/>
          </a:ln>
        </p:spPr>
        <p:txBody>
          <a:bodyPr anchor="t"/>
          <a:lstStyle/>
          <a:p>
            <a:pPr algn="l">
              <a:defRPr sz="1350" b="0">
                <a:solidFill>
                  <a:srgbClr val="263746"/>
                </a:solidFill>
              </a:defRPr>
            </a:pPr>
            <a:r>
              <a:rPr sz="1350" b="0">
                <a:solidFill>
                  <a:srgbClr val="263746"/>
                </a:solidFill>
              </a:rPr>
              <a:t>Депозит клиента</a:t>
            </a:r>
          </a:p>
        </p:txBody>
      </p:sp>
      <p:sp>
        <p:nvSpPr>
          <p:cNvPr id="23" name="Rectangle 22">
            <a:extLst>
              <a:ext uri="{FF2B5EF4-FFF2-40B4-BE49-F238E27FC236}">
                <a16:creationId xmlns:a16="http://schemas.microsoft.com/office/drawing/2014/main" id="{4B9B3317-73DA-494D-9C95-8F5D34B91970}"/>
              </a:ext>
            </a:extLst>
          </p:cNvPr>
          <p:cNvSpPr>
            <a:spLocks noGrp="1"/>
          </p:cNvSpPr>
          <p:nvPr/>
        </p:nvSpPr>
        <p:spPr>
          <a:xfrm>
            <a:off x="4229100" y="4305300"/>
            <a:ext cx="1143000" cy="238125"/>
          </a:xfrm>
          <a:prstGeom prst="rect">
            <a:avLst/>
          </a:prstGeom>
          <a:noFill/>
          <a:ln w="0">
            <a:noFill/>
            <a:prstDash val="solid"/>
          </a:ln>
        </p:spPr>
        <p:txBody>
          <a:bodyPr anchor="t"/>
          <a:lstStyle/>
          <a:p>
            <a:pPr algn="r">
              <a:defRPr sz="1500" b="1">
                <a:solidFill>
                  <a:srgbClr val="C64A52"/>
                </a:solidFill>
              </a:defRPr>
            </a:pPr>
            <a:r>
              <a:rPr sz="1500" b="1">
                <a:solidFill>
                  <a:srgbClr val="C64A52"/>
                </a:solidFill>
              </a:rPr>
              <a:t>–1 000</a:t>
            </a:r>
          </a:p>
        </p:txBody>
      </p:sp>
      <p:sp>
        <p:nvSpPr>
          <p:cNvPr id="24" name="Rectangle 23">
            <a:extLst>
              <a:ext uri="{FF2B5EF4-FFF2-40B4-BE49-F238E27FC236}">
                <a16:creationId xmlns:a16="http://schemas.microsoft.com/office/drawing/2014/main" id="{F134B6A7-2525-4066-A420-8DAAC69659E5}"/>
              </a:ext>
            </a:extLst>
          </p:cNvPr>
          <p:cNvSpPr>
            <a:spLocks noGrp="1"/>
          </p:cNvSpPr>
          <p:nvPr/>
        </p:nvSpPr>
        <p:spPr>
          <a:xfrm>
            <a:off x="990600" y="4629150"/>
            <a:ext cx="1238250" cy="209550"/>
          </a:xfrm>
          <a:prstGeom prst="rect">
            <a:avLst/>
          </a:prstGeom>
          <a:noFill/>
          <a:ln w="0">
            <a:noFill/>
            <a:prstDash val="solid"/>
          </a:ln>
        </p:spPr>
        <p:txBody>
          <a:bodyPr anchor="t"/>
          <a:lstStyle/>
          <a:p>
            <a:pPr algn="l">
              <a:defRPr sz="1050" b="1">
                <a:solidFill>
                  <a:srgbClr val="7A8B99"/>
                </a:solidFill>
              </a:defRPr>
            </a:pPr>
            <a:r>
              <a:rPr sz="1050" b="1">
                <a:solidFill>
                  <a:srgbClr val="7A8B99"/>
                </a:solidFill>
              </a:rPr>
              <a:t>Активы</a:t>
            </a:r>
          </a:p>
        </p:txBody>
      </p:sp>
      <p:sp>
        <p:nvSpPr>
          <p:cNvPr id="25" name="Rectangle 24">
            <a:extLst>
              <a:ext uri="{FF2B5EF4-FFF2-40B4-BE49-F238E27FC236}">
                <a16:creationId xmlns:a16="http://schemas.microsoft.com/office/drawing/2014/main" id="{8EAFF3D0-F729-4970-B2B2-A0BC74AB251E}"/>
              </a:ext>
            </a:extLst>
          </p:cNvPr>
          <p:cNvSpPr>
            <a:spLocks noGrp="1"/>
          </p:cNvSpPr>
          <p:nvPr/>
        </p:nvSpPr>
        <p:spPr>
          <a:xfrm>
            <a:off x="990600" y="4857750"/>
            <a:ext cx="2286000" cy="238125"/>
          </a:xfrm>
          <a:prstGeom prst="rect">
            <a:avLst/>
          </a:prstGeom>
          <a:noFill/>
          <a:ln w="0">
            <a:noFill/>
            <a:prstDash val="solid"/>
          </a:ln>
        </p:spPr>
        <p:txBody>
          <a:bodyPr anchor="t"/>
          <a:lstStyle/>
          <a:p>
            <a:pPr algn="l">
              <a:defRPr sz="1350" b="0">
                <a:solidFill>
                  <a:srgbClr val="263746"/>
                </a:solidFill>
              </a:defRPr>
            </a:pPr>
            <a:r>
              <a:rPr sz="1350" b="0">
                <a:solidFill>
                  <a:srgbClr val="263746"/>
                </a:solidFill>
              </a:rPr>
              <a:t>Резервы / корсчет</a:t>
            </a:r>
          </a:p>
        </p:txBody>
      </p:sp>
      <p:sp>
        <p:nvSpPr>
          <p:cNvPr id="26" name="Rectangle 25">
            <a:extLst>
              <a:ext uri="{FF2B5EF4-FFF2-40B4-BE49-F238E27FC236}">
                <a16:creationId xmlns:a16="http://schemas.microsoft.com/office/drawing/2014/main" id="{DDE12266-0186-4F23-9AB8-C61912AF6E0A}"/>
              </a:ext>
            </a:extLst>
          </p:cNvPr>
          <p:cNvSpPr>
            <a:spLocks noGrp="1"/>
          </p:cNvSpPr>
          <p:nvPr/>
        </p:nvSpPr>
        <p:spPr>
          <a:xfrm>
            <a:off x="4229100" y="4857750"/>
            <a:ext cx="1143000" cy="238125"/>
          </a:xfrm>
          <a:prstGeom prst="rect">
            <a:avLst/>
          </a:prstGeom>
          <a:noFill/>
          <a:ln w="0">
            <a:noFill/>
            <a:prstDash val="solid"/>
          </a:ln>
        </p:spPr>
        <p:txBody>
          <a:bodyPr anchor="t"/>
          <a:lstStyle/>
          <a:p>
            <a:pPr algn="r">
              <a:defRPr sz="1500" b="1">
                <a:solidFill>
                  <a:srgbClr val="C64A52"/>
                </a:solidFill>
              </a:defRPr>
            </a:pPr>
            <a:r>
              <a:rPr sz="1500" b="1">
                <a:solidFill>
                  <a:srgbClr val="C64A52"/>
                </a:solidFill>
              </a:rPr>
              <a:t>–1 000</a:t>
            </a:r>
          </a:p>
        </p:txBody>
      </p:sp>
      <p:sp>
        <p:nvSpPr>
          <p:cNvPr id="27" name="Rounded Rectangle 26">
            <a:extLst>
              <a:ext uri="{FF2B5EF4-FFF2-40B4-BE49-F238E27FC236}">
                <a16:creationId xmlns:a16="http://schemas.microsoft.com/office/drawing/2014/main" id="{0088D63F-AB9E-4CB2-BF63-B83D83D0346F}"/>
              </a:ext>
            </a:extLst>
          </p:cNvPr>
          <p:cNvSpPr>
            <a:spLocks noGrp="1"/>
          </p:cNvSpPr>
          <p:nvPr/>
        </p:nvSpPr>
        <p:spPr>
          <a:xfrm>
            <a:off x="6115050" y="3524250"/>
            <a:ext cx="5334000" cy="1695450"/>
          </a:xfrm>
          <a:prstGeom prst="roundRect">
            <a:avLst>
              <a:gd name="adj" fmla="val 4494"/>
            </a:avLst>
          </a:prstGeom>
          <a:solidFill>
            <a:srgbClr val="FFFFFF"/>
          </a:solidFill>
          <a:ln w="9525">
            <a:solidFill>
              <a:srgbClr val="E2E8ED"/>
            </a:solidFill>
            <a:prstDash val="solid"/>
          </a:ln>
        </p:spPr>
      </p:sp>
      <p:sp>
        <p:nvSpPr>
          <p:cNvPr id="28" name="Rectangle 27">
            <a:extLst>
              <a:ext uri="{FF2B5EF4-FFF2-40B4-BE49-F238E27FC236}">
                <a16:creationId xmlns:a16="http://schemas.microsoft.com/office/drawing/2014/main" id="{F2222CB7-4B95-47E3-AB8B-240E4A3D2F73}"/>
              </a:ext>
            </a:extLst>
          </p:cNvPr>
          <p:cNvSpPr>
            <a:spLocks noGrp="1"/>
          </p:cNvSpPr>
          <p:nvPr/>
        </p:nvSpPr>
        <p:spPr>
          <a:xfrm>
            <a:off x="6381750" y="3733800"/>
            <a:ext cx="3048000" cy="228600"/>
          </a:xfrm>
          <a:prstGeom prst="rect">
            <a:avLst/>
          </a:prstGeom>
          <a:noFill/>
          <a:ln w="0">
            <a:noFill/>
            <a:prstDash val="solid"/>
          </a:ln>
        </p:spPr>
        <p:txBody>
          <a:bodyPr anchor="t"/>
          <a:lstStyle/>
          <a:p>
            <a:pPr algn="l">
              <a:defRPr sz="1200" b="1">
                <a:solidFill>
                  <a:srgbClr val="008A82"/>
                </a:solidFill>
              </a:defRPr>
            </a:pPr>
            <a:r>
              <a:rPr sz="1200" b="1">
                <a:solidFill>
                  <a:srgbClr val="008A82"/>
                </a:solidFill>
              </a:rPr>
              <a:t>БАЛАНС БАНКА РОССИИ</a:t>
            </a:r>
          </a:p>
        </p:txBody>
      </p:sp>
      <p:sp>
        <p:nvSpPr>
          <p:cNvPr id="29" name="Rectangle 28">
            <a:extLst>
              <a:ext uri="{FF2B5EF4-FFF2-40B4-BE49-F238E27FC236}">
                <a16:creationId xmlns:a16="http://schemas.microsoft.com/office/drawing/2014/main" id="{0CB8D980-A943-401D-821E-29E3DE6B1A1F}"/>
              </a:ext>
            </a:extLst>
          </p:cNvPr>
          <p:cNvSpPr>
            <a:spLocks noGrp="1"/>
          </p:cNvSpPr>
          <p:nvPr/>
        </p:nvSpPr>
        <p:spPr>
          <a:xfrm>
            <a:off x="6381750" y="4171950"/>
            <a:ext cx="2952750" cy="238125"/>
          </a:xfrm>
          <a:prstGeom prst="rect">
            <a:avLst/>
          </a:prstGeom>
          <a:noFill/>
          <a:ln w="0">
            <a:noFill/>
            <a:prstDash val="solid"/>
          </a:ln>
        </p:spPr>
        <p:txBody>
          <a:bodyPr anchor="t"/>
          <a:lstStyle/>
          <a:p>
            <a:pPr algn="l">
              <a:defRPr sz="1350" b="0">
                <a:solidFill>
                  <a:srgbClr val="263746"/>
                </a:solidFill>
              </a:defRPr>
            </a:pPr>
            <a:r>
              <a:rPr sz="1350" b="0">
                <a:solidFill>
                  <a:srgbClr val="263746"/>
                </a:solidFill>
              </a:rPr>
              <a:t>Обязательство перед банком</a:t>
            </a:r>
          </a:p>
        </p:txBody>
      </p:sp>
      <p:sp>
        <p:nvSpPr>
          <p:cNvPr id="30" name="Rectangle 29">
            <a:extLst>
              <a:ext uri="{FF2B5EF4-FFF2-40B4-BE49-F238E27FC236}">
                <a16:creationId xmlns:a16="http://schemas.microsoft.com/office/drawing/2014/main" id="{775F827F-1052-4457-A2A2-88A2FEF08E8E}"/>
              </a:ext>
            </a:extLst>
          </p:cNvPr>
          <p:cNvSpPr>
            <a:spLocks noGrp="1"/>
          </p:cNvSpPr>
          <p:nvPr/>
        </p:nvSpPr>
        <p:spPr>
          <a:xfrm>
            <a:off x="9886950" y="4171950"/>
            <a:ext cx="1104900" cy="238125"/>
          </a:xfrm>
          <a:prstGeom prst="rect">
            <a:avLst/>
          </a:prstGeom>
          <a:noFill/>
          <a:ln w="0">
            <a:noFill/>
            <a:prstDash val="solid"/>
          </a:ln>
        </p:spPr>
        <p:txBody>
          <a:bodyPr anchor="t"/>
          <a:lstStyle/>
          <a:p>
            <a:pPr algn="r">
              <a:defRPr sz="1500" b="1">
                <a:solidFill>
                  <a:srgbClr val="C64A52"/>
                </a:solidFill>
              </a:defRPr>
            </a:pPr>
            <a:r>
              <a:rPr sz="1500" b="1">
                <a:solidFill>
                  <a:srgbClr val="C64A52"/>
                </a:solidFill>
              </a:rPr>
              <a:t>–1 000</a:t>
            </a:r>
          </a:p>
        </p:txBody>
      </p:sp>
      <p:sp>
        <p:nvSpPr>
          <p:cNvPr id="31" name="Rectangle 30">
            <a:extLst>
              <a:ext uri="{FF2B5EF4-FFF2-40B4-BE49-F238E27FC236}">
                <a16:creationId xmlns:a16="http://schemas.microsoft.com/office/drawing/2014/main" id="{17E2977D-3998-46E3-9576-84F30F91BA3E}"/>
              </a:ext>
            </a:extLst>
          </p:cNvPr>
          <p:cNvSpPr>
            <a:spLocks noGrp="1"/>
          </p:cNvSpPr>
          <p:nvPr/>
        </p:nvSpPr>
        <p:spPr>
          <a:xfrm>
            <a:off x="6381750" y="4629150"/>
            <a:ext cx="3143250" cy="238125"/>
          </a:xfrm>
          <a:prstGeom prst="rect">
            <a:avLst/>
          </a:prstGeom>
          <a:noFill/>
          <a:ln w="0">
            <a:noFill/>
            <a:prstDash val="solid"/>
          </a:ln>
        </p:spPr>
        <p:txBody>
          <a:bodyPr anchor="t"/>
          <a:lstStyle/>
          <a:p>
            <a:pPr algn="l">
              <a:defRPr sz="1350" b="0">
                <a:solidFill>
                  <a:srgbClr val="263746"/>
                </a:solidFill>
              </a:defRPr>
            </a:pPr>
            <a:r>
              <a:rPr sz="1350" b="0">
                <a:solidFill>
                  <a:srgbClr val="263746"/>
                </a:solidFill>
              </a:rPr>
              <a:t>Цифровой кошелек гражданина</a:t>
            </a:r>
          </a:p>
        </p:txBody>
      </p:sp>
      <p:sp>
        <p:nvSpPr>
          <p:cNvPr id="32" name="Rectangle 31">
            <a:extLst>
              <a:ext uri="{FF2B5EF4-FFF2-40B4-BE49-F238E27FC236}">
                <a16:creationId xmlns:a16="http://schemas.microsoft.com/office/drawing/2014/main" id="{ED11A28F-A073-4308-995E-E3A630DC964B}"/>
              </a:ext>
            </a:extLst>
          </p:cNvPr>
          <p:cNvSpPr>
            <a:spLocks noGrp="1"/>
          </p:cNvSpPr>
          <p:nvPr/>
        </p:nvSpPr>
        <p:spPr>
          <a:xfrm>
            <a:off x="9886950" y="4629150"/>
            <a:ext cx="1104900" cy="238125"/>
          </a:xfrm>
          <a:prstGeom prst="rect">
            <a:avLst/>
          </a:prstGeom>
          <a:noFill/>
          <a:ln w="0">
            <a:noFill/>
            <a:prstDash val="solid"/>
          </a:ln>
        </p:spPr>
        <p:txBody>
          <a:bodyPr anchor="t"/>
          <a:lstStyle/>
          <a:p>
            <a:pPr algn="r">
              <a:defRPr sz="1500" b="1">
                <a:solidFill>
                  <a:srgbClr val="008A82"/>
                </a:solidFill>
              </a:defRPr>
            </a:pPr>
            <a:r>
              <a:rPr sz="1500" b="1">
                <a:solidFill>
                  <a:srgbClr val="008A82"/>
                </a:solidFill>
              </a:rPr>
              <a:t>+1 000</a:t>
            </a:r>
          </a:p>
        </p:txBody>
      </p:sp>
      <p:sp>
        <p:nvSpPr>
          <p:cNvPr id="33" name="Rectangle 32">
            <a:extLst>
              <a:ext uri="{FF2B5EF4-FFF2-40B4-BE49-F238E27FC236}">
                <a16:creationId xmlns:a16="http://schemas.microsoft.com/office/drawing/2014/main" id="{EE0AB784-5A24-4895-8634-DB6E0D971CA2}"/>
              </a:ext>
            </a:extLst>
          </p:cNvPr>
          <p:cNvSpPr>
            <a:spLocks noGrp="1"/>
          </p:cNvSpPr>
          <p:nvPr/>
        </p:nvSpPr>
        <p:spPr>
          <a:xfrm>
            <a:off x="6381750" y="4953000"/>
            <a:ext cx="4191000" cy="190500"/>
          </a:xfrm>
          <a:prstGeom prst="rect">
            <a:avLst/>
          </a:prstGeom>
          <a:noFill/>
          <a:ln w="0">
            <a:noFill/>
            <a:prstDash val="solid"/>
          </a:ln>
        </p:spPr>
        <p:txBody>
          <a:bodyPr anchor="t"/>
          <a:lstStyle/>
          <a:p>
            <a:pPr algn="l">
              <a:defRPr sz="1050" b="0">
                <a:solidFill>
                  <a:srgbClr val="7A8B99"/>
                </a:solidFill>
              </a:defRPr>
            </a:pPr>
            <a:r>
              <a:rPr sz="1050" b="0">
                <a:solidFill>
                  <a:srgbClr val="7A8B99"/>
                </a:solidFill>
              </a:rPr>
              <a:t>Меняется структура пассивов ЦБ</a:t>
            </a:r>
          </a:p>
        </p:txBody>
      </p:sp>
      <p:sp>
        <p:nvSpPr>
          <p:cNvPr id="34" name="Rounded Rectangle 33">
            <a:extLst>
              <a:ext uri="{FF2B5EF4-FFF2-40B4-BE49-F238E27FC236}">
                <a16:creationId xmlns:a16="http://schemas.microsoft.com/office/drawing/2014/main" id="{881D7A83-0908-446F-B6C2-96D3891D3048}"/>
              </a:ext>
            </a:extLst>
          </p:cNvPr>
          <p:cNvSpPr>
            <a:spLocks noGrp="1"/>
          </p:cNvSpPr>
          <p:nvPr/>
        </p:nvSpPr>
        <p:spPr>
          <a:xfrm>
            <a:off x="609600" y="5791200"/>
            <a:ext cx="10972800" cy="590550"/>
          </a:xfrm>
          <a:prstGeom prst="roundRect">
            <a:avLst>
              <a:gd name="adj" fmla="val 9677"/>
            </a:avLst>
          </a:prstGeom>
          <a:solidFill>
            <a:srgbClr val="EEF2F5"/>
          </a:solidFill>
          <a:ln w="9525">
            <a:solidFill>
              <a:srgbClr val="EEF2F5"/>
            </a:solidFill>
            <a:prstDash val="solid"/>
          </a:ln>
        </p:spPr>
      </p:sp>
      <p:sp>
        <p:nvSpPr>
          <p:cNvPr id="35" name="Rounded Rectangle 34">
            <a:extLst>
              <a:ext uri="{FF2B5EF4-FFF2-40B4-BE49-F238E27FC236}">
                <a16:creationId xmlns:a16="http://schemas.microsoft.com/office/drawing/2014/main" id="{8457DF1C-4283-4148-BD0D-83A61AE500AF}"/>
              </a:ext>
            </a:extLst>
          </p:cNvPr>
          <p:cNvSpPr>
            <a:spLocks noGrp="1"/>
          </p:cNvSpPr>
          <p:nvPr/>
        </p:nvSpPr>
        <p:spPr>
          <a:xfrm>
            <a:off x="609600" y="5791200"/>
            <a:ext cx="66675" cy="590550"/>
          </a:xfrm>
          <a:prstGeom prst="roundRect">
            <a:avLst>
              <a:gd name="adj" fmla="val 50000"/>
            </a:avLst>
          </a:prstGeom>
          <a:solidFill>
            <a:srgbClr val="071D33"/>
          </a:solidFill>
          <a:ln w="9525">
            <a:solidFill>
              <a:srgbClr val="071D33"/>
            </a:solidFill>
            <a:prstDash val="solid"/>
          </a:ln>
        </p:spPr>
      </p:sp>
      <p:sp>
        <p:nvSpPr>
          <p:cNvPr id="36" name="Rectangle 35">
            <a:extLst>
              <a:ext uri="{FF2B5EF4-FFF2-40B4-BE49-F238E27FC236}">
                <a16:creationId xmlns:a16="http://schemas.microsoft.com/office/drawing/2014/main" id="{4771C01A-800F-46EE-9DAA-198C28C5085E}"/>
              </a:ext>
            </a:extLst>
          </p:cNvPr>
          <p:cNvSpPr>
            <a:spLocks noGrp="1"/>
          </p:cNvSpPr>
          <p:nvPr/>
        </p:nvSpPr>
        <p:spPr>
          <a:xfrm>
            <a:off x="838200" y="5924550"/>
            <a:ext cx="10477500" cy="323850"/>
          </a:xfrm>
          <a:prstGeom prst="rect">
            <a:avLst/>
          </a:prstGeom>
          <a:noFill/>
          <a:ln w="0">
            <a:noFill/>
            <a:prstDash val="solid"/>
          </a:ln>
        </p:spPr>
        <p:txBody>
          <a:bodyPr anchor="ctr"/>
          <a:lstStyle/>
          <a:p>
            <a:pPr algn="l">
              <a:defRPr sz="1500" b="1">
                <a:solidFill>
                  <a:srgbClr val="071D33"/>
                </a:solidFill>
              </a:defRPr>
            </a:pPr>
            <a:r>
              <a:rPr sz="1500" b="1">
                <a:solidFill>
                  <a:srgbClr val="071D33"/>
                </a:solidFill>
              </a:rPr>
              <a:t>Покупательная способность не выросла: форма денег изменилась, баланс коммерческого банка сократился.</a:t>
            </a:r>
          </a:p>
        </p:txBody>
      </p:sp>
    </p:spTree>
    <p:extLst>
      <p:ext uri="{BB962C8B-B14F-4D97-AF65-F5344CB8AC3E}">
        <p14:creationId xmlns:p14="http://schemas.microsoft.com/office/powerpoint/2010/main" val="1292404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42" name="Rounded Rectangle 41">
            <a:extLst>
              <a:ext uri="{FF2B5EF4-FFF2-40B4-BE49-F238E27FC236}">
                <a16:creationId xmlns:a16="http://schemas.microsoft.com/office/drawing/2014/main" id="{F051FA71-58B9-4106-953F-C644DEFEA1CE}"/>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ED27FD16-A182-49D5-85C0-D51F50B18546}"/>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5">
            <a:extLst>
              <a:ext uri="{FF2B5EF4-FFF2-40B4-BE49-F238E27FC236}">
                <a16:creationId xmlns:a16="http://schemas.microsoft.com/office/drawing/2014/main" id="{03D08A6A-081B-4F00-AC75-E1D783CE17F2}"/>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4. ГЛАВНЫЙ ВЫВОД ИЗ КОНЦЕПЦИИ БАНКА РОССИИ</a:t>
            </a:r>
          </a:p>
        </p:txBody>
      </p:sp>
      <p:sp>
        <p:nvSpPr>
          <p:cNvPr id="4" name="title-5">
            <a:extLst>
              <a:ext uri="{FF2B5EF4-FFF2-40B4-BE49-F238E27FC236}">
                <a16:creationId xmlns:a16="http://schemas.microsoft.com/office/drawing/2014/main" id="{C6F494E2-DBA4-403E-9EE5-594919296CB2}"/>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Макроэффект зависит от того, какие деньги вытесняет цифровой рубль</a:t>
            </a:r>
          </a:p>
        </p:txBody>
      </p:sp>
      <p:sp>
        <p:nvSpPr>
          <p:cNvPr id="5" name="Straight Connector 4">
            <a:extLst>
              <a:ext uri="{FF2B5EF4-FFF2-40B4-BE49-F238E27FC236}">
                <a16:creationId xmlns:a16="http://schemas.microsoft.com/office/drawing/2014/main" id="{465FEC8A-0736-432D-9C0A-18DF2347E4D9}"/>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E249D7BD-AEA9-4EC8-9E8A-00DC03929D80}"/>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AFB2E4C9-1692-4D6A-9402-E9A786463DE4}"/>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05</a:t>
            </a:r>
          </a:p>
        </p:txBody>
      </p:sp>
      <p:sp>
        <p:nvSpPr>
          <p:cNvPr id="8" name="Rounded Rectangle 7">
            <a:extLst>
              <a:ext uri="{FF2B5EF4-FFF2-40B4-BE49-F238E27FC236}">
                <a16:creationId xmlns:a16="http://schemas.microsoft.com/office/drawing/2014/main" id="{74723454-E836-4830-9242-C0269BB89709}"/>
              </a:ext>
            </a:extLst>
          </p:cNvPr>
          <p:cNvSpPr>
            <a:spLocks noGrp="1"/>
          </p:cNvSpPr>
          <p:nvPr/>
        </p:nvSpPr>
        <p:spPr>
          <a:xfrm>
            <a:off x="781050" y="1714500"/>
            <a:ext cx="1257300" cy="285750"/>
          </a:xfrm>
          <a:prstGeom prst="roundRect">
            <a:avLst>
              <a:gd name="adj" fmla="val 50000"/>
            </a:avLst>
          </a:prstGeom>
          <a:solidFill>
            <a:srgbClr val="EEF2F5"/>
          </a:solidFill>
          <a:ln w="9525">
            <a:solidFill>
              <a:srgbClr val="EEF2F5"/>
            </a:solidFill>
            <a:prstDash val="solid"/>
          </a:ln>
        </p:spPr>
      </p:sp>
      <p:sp>
        <p:nvSpPr>
          <p:cNvPr id="9" name="Rectangle 8">
            <a:extLst>
              <a:ext uri="{FF2B5EF4-FFF2-40B4-BE49-F238E27FC236}">
                <a16:creationId xmlns:a16="http://schemas.microsoft.com/office/drawing/2014/main" id="{7BFDF2BA-1D05-443F-8894-5DBCEC5B0642}"/>
              </a:ext>
            </a:extLst>
          </p:cNvPr>
          <p:cNvSpPr>
            <a:spLocks noGrp="1"/>
          </p:cNvSpPr>
          <p:nvPr/>
        </p:nvSpPr>
        <p:spPr>
          <a:xfrm>
            <a:off x="857250" y="1762125"/>
            <a:ext cx="1104900" cy="190500"/>
          </a:xfrm>
          <a:prstGeom prst="rect">
            <a:avLst/>
          </a:prstGeom>
          <a:noFill/>
          <a:ln w="0">
            <a:noFill/>
            <a:prstDash val="solid"/>
          </a:ln>
        </p:spPr>
        <p:txBody>
          <a:bodyPr anchor="ctr"/>
          <a:lstStyle/>
          <a:p>
            <a:pPr algn="ctr">
              <a:defRPr sz="975" b="1">
                <a:solidFill>
                  <a:srgbClr val="536777"/>
                </a:solidFill>
              </a:defRPr>
            </a:pPr>
            <a:r>
              <a:rPr sz="975" b="1">
                <a:solidFill>
                  <a:srgbClr val="536777"/>
                </a:solidFill>
              </a:rPr>
              <a:t>СЦЕНАРИЙ A</a:t>
            </a:r>
          </a:p>
        </p:txBody>
      </p:sp>
      <p:sp>
        <p:nvSpPr>
          <p:cNvPr id="10" name="Rectangle 9">
            <a:extLst>
              <a:ext uri="{FF2B5EF4-FFF2-40B4-BE49-F238E27FC236}">
                <a16:creationId xmlns:a16="http://schemas.microsoft.com/office/drawing/2014/main" id="{C27EDB33-905A-4D87-8A9B-252CAC621C65}"/>
              </a:ext>
            </a:extLst>
          </p:cNvPr>
          <p:cNvSpPr>
            <a:spLocks noGrp="1"/>
          </p:cNvSpPr>
          <p:nvPr/>
        </p:nvSpPr>
        <p:spPr>
          <a:xfrm>
            <a:off x="781050" y="2095500"/>
            <a:ext cx="4762500" cy="342900"/>
          </a:xfrm>
          <a:prstGeom prst="rect">
            <a:avLst/>
          </a:prstGeom>
          <a:noFill/>
          <a:ln w="0">
            <a:noFill/>
            <a:prstDash val="solid"/>
          </a:ln>
        </p:spPr>
        <p:txBody>
          <a:bodyPr anchor="t"/>
          <a:lstStyle/>
          <a:p>
            <a:pPr algn="l">
              <a:defRPr sz="2025" b="1">
                <a:solidFill>
                  <a:srgbClr val="071D33"/>
                </a:solidFill>
              </a:defRPr>
            </a:pPr>
            <a:r>
              <a:rPr sz="2025" b="1">
                <a:solidFill>
                  <a:srgbClr val="071D33"/>
                </a:solidFill>
              </a:rPr>
              <a:t>Вместо наличных</a:t>
            </a:r>
          </a:p>
        </p:txBody>
      </p:sp>
      <p:sp>
        <p:nvSpPr>
          <p:cNvPr id="11" name="Rounded Rectangle 10">
            <a:extLst>
              <a:ext uri="{FF2B5EF4-FFF2-40B4-BE49-F238E27FC236}">
                <a16:creationId xmlns:a16="http://schemas.microsoft.com/office/drawing/2014/main" id="{C8634AF2-A2D7-426F-8E50-E74009CF918F}"/>
              </a:ext>
            </a:extLst>
          </p:cNvPr>
          <p:cNvSpPr>
            <a:spLocks noGrp="1"/>
          </p:cNvSpPr>
          <p:nvPr/>
        </p:nvSpPr>
        <p:spPr>
          <a:xfrm>
            <a:off x="704850" y="2571750"/>
            <a:ext cx="5067300" cy="2667000"/>
          </a:xfrm>
          <a:prstGeom prst="roundRect">
            <a:avLst>
              <a:gd name="adj" fmla="val 2857"/>
            </a:avLst>
          </a:prstGeom>
          <a:solidFill>
            <a:srgbClr val="FFFFFF"/>
          </a:solidFill>
          <a:ln w="9525">
            <a:solidFill>
              <a:srgbClr val="E2E8ED"/>
            </a:solidFill>
            <a:prstDash val="solid"/>
          </a:ln>
        </p:spPr>
      </p:sp>
      <p:sp>
        <p:nvSpPr>
          <p:cNvPr id="12" name="Rounded Rectangle 11">
            <a:extLst>
              <a:ext uri="{FF2B5EF4-FFF2-40B4-BE49-F238E27FC236}">
                <a16:creationId xmlns:a16="http://schemas.microsoft.com/office/drawing/2014/main" id="{D4C05470-4699-410A-94CE-692B058B7E9F}"/>
              </a:ext>
            </a:extLst>
          </p:cNvPr>
          <p:cNvSpPr>
            <a:spLocks noGrp="1"/>
          </p:cNvSpPr>
          <p:nvPr/>
        </p:nvSpPr>
        <p:spPr>
          <a:xfrm>
            <a:off x="952500" y="2819400"/>
            <a:ext cx="1695450" cy="647700"/>
          </a:xfrm>
          <a:prstGeom prst="roundRect">
            <a:avLst>
              <a:gd name="adj" fmla="val 8824"/>
            </a:avLst>
          </a:prstGeom>
          <a:solidFill>
            <a:srgbClr val="EEF2F5"/>
          </a:solidFill>
          <a:ln w="9525">
            <a:solidFill>
              <a:srgbClr val="CCD5DC"/>
            </a:solidFill>
            <a:prstDash val="solid"/>
          </a:ln>
        </p:spPr>
      </p:sp>
      <p:sp>
        <p:nvSpPr>
          <p:cNvPr id="13" name="Rectangle 12">
            <a:extLst>
              <a:ext uri="{FF2B5EF4-FFF2-40B4-BE49-F238E27FC236}">
                <a16:creationId xmlns:a16="http://schemas.microsoft.com/office/drawing/2014/main" id="{B9761802-672D-4E2F-ADA4-EE1B5058A950}"/>
              </a:ext>
            </a:extLst>
          </p:cNvPr>
          <p:cNvSpPr>
            <a:spLocks noGrp="1"/>
          </p:cNvSpPr>
          <p:nvPr/>
        </p:nvSpPr>
        <p:spPr>
          <a:xfrm>
            <a:off x="1143000" y="2914650"/>
            <a:ext cx="1314450" cy="438150"/>
          </a:xfrm>
          <a:prstGeom prst="rect">
            <a:avLst/>
          </a:prstGeom>
          <a:noFill/>
          <a:ln w="0">
            <a:noFill/>
            <a:prstDash val="solid"/>
          </a:ln>
        </p:spPr>
        <p:txBody>
          <a:bodyPr anchor="ctr"/>
          <a:lstStyle/>
          <a:p>
            <a:pPr algn="ctr">
              <a:defRPr sz="1350" b="1">
                <a:solidFill>
                  <a:srgbClr val="536777"/>
                </a:solidFill>
              </a:defRPr>
            </a:pPr>
            <a:r>
              <a:rPr sz="1350" b="1">
                <a:solidFill>
                  <a:srgbClr val="536777"/>
                </a:solidFill>
              </a:rPr>
              <a:t>Наличные</a:t>
            </a:r>
          </a:p>
          <a:p>
            <a:pPr algn="ctr">
              <a:defRPr sz="1350" b="1">
                <a:solidFill>
                  <a:srgbClr val="536777"/>
                </a:solidFill>
              </a:defRPr>
            </a:pPr>
            <a:r>
              <a:rPr sz="1350" b="1">
                <a:solidFill>
                  <a:srgbClr val="536777"/>
                </a:solidFill>
              </a:rPr>
              <a:t>–1 000 ₽</a:t>
            </a:r>
          </a:p>
        </p:txBody>
      </p:sp>
      <p:sp>
        <p:nvSpPr>
          <p:cNvPr id="14" name="Right Arrow 13">
            <a:extLst>
              <a:ext uri="{FF2B5EF4-FFF2-40B4-BE49-F238E27FC236}">
                <a16:creationId xmlns:a16="http://schemas.microsoft.com/office/drawing/2014/main" id="{29A11E30-78C2-47D6-9559-ED696A1D97B2}"/>
              </a:ext>
            </a:extLst>
          </p:cNvPr>
          <p:cNvSpPr>
            <a:spLocks noGrp="1"/>
          </p:cNvSpPr>
          <p:nvPr/>
        </p:nvSpPr>
        <p:spPr>
          <a:xfrm>
            <a:off x="2781300" y="3019425"/>
            <a:ext cx="685800" cy="228600"/>
          </a:xfrm>
          <a:prstGeom prst="rightArrow">
            <a:avLst/>
          </a:prstGeom>
          <a:solidFill>
            <a:srgbClr val="CCD5DC"/>
          </a:solidFill>
          <a:ln w="0">
            <a:solidFill>
              <a:srgbClr val="CCD5DC"/>
            </a:solidFill>
            <a:prstDash val="solid"/>
          </a:ln>
        </p:spPr>
      </p:sp>
      <p:sp>
        <p:nvSpPr>
          <p:cNvPr id="15" name="Rounded Rectangle 14">
            <a:extLst>
              <a:ext uri="{FF2B5EF4-FFF2-40B4-BE49-F238E27FC236}">
                <a16:creationId xmlns:a16="http://schemas.microsoft.com/office/drawing/2014/main" id="{34DD4DCD-8337-4329-A3B9-E447EE0B4577}"/>
              </a:ext>
            </a:extLst>
          </p:cNvPr>
          <p:cNvSpPr>
            <a:spLocks noGrp="1"/>
          </p:cNvSpPr>
          <p:nvPr/>
        </p:nvSpPr>
        <p:spPr>
          <a:xfrm>
            <a:off x="3619500" y="2819400"/>
            <a:ext cx="1885950" cy="647700"/>
          </a:xfrm>
          <a:prstGeom prst="roundRect">
            <a:avLst>
              <a:gd name="adj" fmla="val 8824"/>
            </a:avLst>
          </a:prstGeom>
          <a:solidFill>
            <a:srgbClr val="DDF2EF"/>
          </a:solidFill>
          <a:ln w="9525">
            <a:solidFill>
              <a:srgbClr val="008A82"/>
            </a:solidFill>
            <a:prstDash val="solid"/>
          </a:ln>
        </p:spPr>
      </p:sp>
      <p:sp>
        <p:nvSpPr>
          <p:cNvPr id="16" name="Rectangle 15">
            <a:extLst>
              <a:ext uri="{FF2B5EF4-FFF2-40B4-BE49-F238E27FC236}">
                <a16:creationId xmlns:a16="http://schemas.microsoft.com/office/drawing/2014/main" id="{8CFDF2E2-3A0C-412D-8C59-5FD11823454E}"/>
              </a:ext>
            </a:extLst>
          </p:cNvPr>
          <p:cNvSpPr>
            <a:spLocks noGrp="1"/>
          </p:cNvSpPr>
          <p:nvPr/>
        </p:nvSpPr>
        <p:spPr>
          <a:xfrm>
            <a:off x="3790950" y="2914650"/>
            <a:ext cx="1543050" cy="438150"/>
          </a:xfrm>
          <a:prstGeom prst="rect">
            <a:avLst/>
          </a:prstGeom>
          <a:noFill/>
          <a:ln w="0">
            <a:noFill/>
            <a:prstDash val="solid"/>
          </a:ln>
        </p:spPr>
        <p:txBody>
          <a:bodyPr anchor="ctr"/>
          <a:lstStyle/>
          <a:p>
            <a:pPr algn="ctr">
              <a:defRPr sz="1350" b="1">
                <a:solidFill>
                  <a:srgbClr val="008A82"/>
                </a:solidFill>
              </a:defRPr>
            </a:pPr>
            <a:r>
              <a:rPr sz="1350" b="1">
                <a:solidFill>
                  <a:srgbClr val="008A82"/>
                </a:solidFill>
              </a:rPr>
              <a:t>Цифровой рубль</a:t>
            </a:r>
          </a:p>
          <a:p>
            <a:pPr algn="ctr">
              <a:defRPr sz="1350" b="1">
                <a:solidFill>
                  <a:srgbClr val="008A82"/>
                </a:solidFill>
              </a:defRPr>
            </a:pPr>
            <a:r>
              <a:rPr sz="1350" b="1">
                <a:solidFill>
                  <a:srgbClr val="008A82"/>
                </a:solidFill>
              </a:rPr>
              <a:t>+1 000 ₽</a:t>
            </a:r>
          </a:p>
        </p:txBody>
      </p:sp>
      <p:sp>
        <p:nvSpPr>
          <p:cNvPr id="17" name="Straight Connector 16">
            <a:extLst>
              <a:ext uri="{FF2B5EF4-FFF2-40B4-BE49-F238E27FC236}">
                <a16:creationId xmlns:a16="http://schemas.microsoft.com/office/drawing/2014/main" id="{01401B69-92B5-488B-8DAD-DC3E3BC93BCC}"/>
              </a:ext>
            </a:extLst>
          </p:cNvPr>
          <p:cNvSpPr>
            <a:spLocks noGrp="1"/>
          </p:cNvSpPr>
          <p:nvPr/>
        </p:nvSpPr>
        <p:spPr>
          <a:xfrm>
            <a:off x="952500" y="3695700"/>
            <a:ext cx="4552950" cy="0"/>
          </a:xfrm>
          <a:prstGeom prst="line">
            <a:avLst/>
          </a:prstGeom>
          <a:noFill/>
          <a:ln w="9525">
            <a:solidFill>
              <a:srgbClr val="E2E8ED"/>
            </a:solidFill>
            <a:prstDash val="solid"/>
          </a:ln>
        </p:spPr>
      </p:sp>
      <p:sp>
        <p:nvSpPr>
          <p:cNvPr id="18" name="Rectangle 17">
            <a:extLst>
              <a:ext uri="{FF2B5EF4-FFF2-40B4-BE49-F238E27FC236}">
                <a16:creationId xmlns:a16="http://schemas.microsoft.com/office/drawing/2014/main" id="{FA48BAD3-E5AB-47D4-85CB-90D122A4E1AE}"/>
              </a:ext>
            </a:extLst>
          </p:cNvPr>
          <p:cNvSpPr>
            <a:spLocks noGrp="1"/>
          </p:cNvSpPr>
          <p:nvPr/>
        </p:nvSpPr>
        <p:spPr>
          <a:xfrm>
            <a:off x="971550" y="3886200"/>
            <a:ext cx="2952750" cy="247650"/>
          </a:xfrm>
          <a:prstGeom prst="rect">
            <a:avLst/>
          </a:prstGeom>
          <a:noFill/>
          <a:ln w="0">
            <a:noFill/>
            <a:prstDash val="solid"/>
          </a:ln>
        </p:spPr>
        <p:txBody>
          <a:bodyPr anchor="t"/>
          <a:lstStyle/>
          <a:p>
            <a:pPr algn="l">
              <a:defRPr sz="1350" b="1">
                <a:solidFill>
                  <a:srgbClr val="263746"/>
                </a:solidFill>
              </a:defRPr>
            </a:pPr>
            <a:r>
              <a:rPr sz="1350" b="1">
                <a:solidFill>
                  <a:srgbClr val="263746"/>
                </a:solidFill>
              </a:rPr>
              <a:t>Баланс коммерческого банка</a:t>
            </a:r>
          </a:p>
        </p:txBody>
      </p:sp>
      <p:sp>
        <p:nvSpPr>
          <p:cNvPr id="19" name="Rounded Rectangle 18">
            <a:extLst>
              <a:ext uri="{FF2B5EF4-FFF2-40B4-BE49-F238E27FC236}">
                <a16:creationId xmlns:a16="http://schemas.microsoft.com/office/drawing/2014/main" id="{23897E3A-60C8-489E-87C3-6219461B4340}"/>
              </a:ext>
            </a:extLst>
          </p:cNvPr>
          <p:cNvSpPr>
            <a:spLocks noGrp="1"/>
          </p:cNvSpPr>
          <p:nvPr/>
        </p:nvSpPr>
        <p:spPr>
          <a:xfrm>
            <a:off x="4038600" y="3848100"/>
            <a:ext cx="1466850" cy="285750"/>
          </a:xfrm>
          <a:prstGeom prst="roundRect">
            <a:avLst>
              <a:gd name="adj" fmla="val 50000"/>
            </a:avLst>
          </a:prstGeom>
          <a:solidFill>
            <a:srgbClr val="DDF2EF"/>
          </a:solidFill>
          <a:ln w="9525">
            <a:solidFill>
              <a:srgbClr val="DDF2EF"/>
            </a:solidFill>
            <a:prstDash val="solid"/>
          </a:ln>
        </p:spPr>
      </p:sp>
      <p:sp>
        <p:nvSpPr>
          <p:cNvPr id="20" name="Rectangle 19">
            <a:extLst>
              <a:ext uri="{FF2B5EF4-FFF2-40B4-BE49-F238E27FC236}">
                <a16:creationId xmlns:a16="http://schemas.microsoft.com/office/drawing/2014/main" id="{93644B3E-C2DE-45DC-9B32-41A76179052B}"/>
              </a:ext>
            </a:extLst>
          </p:cNvPr>
          <p:cNvSpPr>
            <a:spLocks noGrp="1"/>
          </p:cNvSpPr>
          <p:nvPr/>
        </p:nvSpPr>
        <p:spPr>
          <a:xfrm>
            <a:off x="4114800" y="3895725"/>
            <a:ext cx="1314450" cy="190500"/>
          </a:xfrm>
          <a:prstGeom prst="rect">
            <a:avLst/>
          </a:prstGeom>
          <a:noFill/>
          <a:ln w="0">
            <a:noFill/>
            <a:prstDash val="solid"/>
          </a:ln>
        </p:spPr>
        <p:txBody>
          <a:bodyPr anchor="ctr"/>
          <a:lstStyle/>
          <a:p>
            <a:pPr algn="ctr">
              <a:defRPr sz="975" b="1">
                <a:solidFill>
                  <a:srgbClr val="008A82"/>
                </a:solidFill>
              </a:defRPr>
            </a:pPr>
            <a:r>
              <a:rPr sz="975" b="1">
                <a:solidFill>
                  <a:srgbClr val="008A82"/>
                </a:solidFill>
              </a:rPr>
              <a:t>БЕЗ ИЗМЕНЕНИЙ</a:t>
            </a:r>
          </a:p>
        </p:txBody>
      </p:sp>
      <p:sp>
        <p:nvSpPr>
          <p:cNvPr id="21" name="Rectangle 20">
            <a:extLst>
              <a:ext uri="{FF2B5EF4-FFF2-40B4-BE49-F238E27FC236}">
                <a16:creationId xmlns:a16="http://schemas.microsoft.com/office/drawing/2014/main" id="{8E63A626-7644-42F1-BAAF-C3D84DC88AC3}"/>
              </a:ext>
            </a:extLst>
          </p:cNvPr>
          <p:cNvSpPr>
            <a:spLocks noGrp="1"/>
          </p:cNvSpPr>
          <p:nvPr/>
        </p:nvSpPr>
        <p:spPr>
          <a:xfrm>
            <a:off x="971550" y="4362450"/>
            <a:ext cx="4305300" cy="438150"/>
          </a:xfrm>
          <a:prstGeom prst="rect">
            <a:avLst/>
          </a:prstGeom>
          <a:noFill/>
          <a:ln w="0">
            <a:noFill/>
            <a:prstDash val="solid"/>
          </a:ln>
        </p:spPr>
        <p:txBody>
          <a:bodyPr anchor="t"/>
          <a:lstStyle/>
          <a:p>
            <a:pPr algn="l">
              <a:defRPr sz="1275" b="0">
                <a:solidFill>
                  <a:srgbClr val="536777"/>
                </a:solidFill>
              </a:defRPr>
            </a:pPr>
            <a:r>
              <a:rPr sz="1275" b="0">
                <a:solidFill>
                  <a:srgbClr val="536777"/>
                </a:solidFill>
              </a:rPr>
              <a:t>Ликвидность и депозитное фондирование не уходят из банка.</a:t>
            </a:r>
          </a:p>
        </p:txBody>
      </p:sp>
      <p:sp>
        <p:nvSpPr>
          <p:cNvPr id="22" name="Rectangle 21">
            <a:extLst>
              <a:ext uri="{FF2B5EF4-FFF2-40B4-BE49-F238E27FC236}">
                <a16:creationId xmlns:a16="http://schemas.microsoft.com/office/drawing/2014/main" id="{EB47A603-5449-4889-8128-3873A0FD04EA}"/>
              </a:ext>
            </a:extLst>
          </p:cNvPr>
          <p:cNvSpPr>
            <a:spLocks noGrp="1"/>
          </p:cNvSpPr>
          <p:nvPr/>
        </p:nvSpPr>
        <p:spPr>
          <a:xfrm>
            <a:off x="971550" y="4857750"/>
            <a:ext cx="4343400" cy="247650"/>
          </a:xfrm>
          <a:prstGeom prst="rect">
            <a:avLst/>
          </a:prstGeom>
          <a:noFill/>
          <a:ln w="0">
            <a:noFill/>
            <a:prstDash val="solid"/>
          </a:ln>
        </p:spPr>
        <p:txBody>
          <a:bodyPr anchor="t"/>
          <a:lstStyle/>
          <a:p>
            <a:pPr algn="l">
              <a:defRPr sz="1275" b="1">
                <a:solidFill>
                  <a:srgbClr val="008A82"/>
                </a:solidFill>
              </a:defRPr>
            </a:pPr>
            <a:r>
              <a:rPr sz="1275" b="1">
                <a:solidFill>
                  <a:srgbClr val="008A82"/>
                </a:solidFill>
              </a:rPr>
              <a:t>Прямой эффект на мультипликатор: ≈ 0</a:t>
            </a:r>
          </a:p>
        </p:txBody>
      </p:sp>
      <p:sp>
        <p:nvSpPr>
          <p:cNvPr id="23" name="Rounded Rectangle 22">
            <a:extLst>
              <a:ext uri="{FF2B5EF4-FFF2-40B4-BE49-F238E27FC236}">
                <a16:creationId xmlns:a16="http://schemas.microsoft.com/office/drawing/2014/main" id="{50FFB104-3591-4A36-B2C8-49406F1E5C54}"/>
              </a:ext>
            </a:extLst>
          </p:cNvPr>
          <p:cNvSpPr>
            <a:spLocks noGrp="1"/>
          </p:cNvSpPr>
          <p:nvPr/>
        </p:nvSpPr>
        <p:spPr>
          <a:xfrm>
            <a:off x="6419850" y="1714500"/>
            <a:ext cx="1257300" cy="285750"/>
          </a:xfrm>
          <a:prstGeom prst="roundRect">
            <a:avLst>
              <a:gd name="adj" fmla="val 50000"/>
            </a:avLst>
          </a:prstGeom>
          <a:solidFill>
            <a:srgbClr val="FBE4E6"/>
          </a:solidFill>
          <a:ln w="9525">
            <a:solidFill>
              <a:srgbClr val="FBE4E6"/>
            </a:solidFill>
            <a:prstDash val="solid"/>
          </a:ln>
        </p:spPr>
      </p:sp>
      <p:sp>
        <p:nvSpPr>
          <p:cNvPr id="24" name="Rectangle 23">
            <a:extLst>
              <a:ext uri="{FF2B5EF4-FFF2-40B4-BE49-F238E27FC236}">
                <a16:creationId xmlns:a16="http://schemas.microsoft.com/office/drawing/2014/main" id="{FF05D2A0-AB8E-4CCA-A998-EAFA9EFC141D}"/>
              </a:ext>
            </a:extLst>
          </p:cNvPr>
          <p:cNvSpPr>
            <a:spLocks noGrp="1"/>
          </p:cNvSpPr>
          <p:nvPr/>
        </p:nvSpPr>
        <p:spPr>
          <a:xfrm>
            <a:off x="6496050" y="1762125"/>
            <a:ext cx="1104900" cy="190500"/>
          </a:xfrm>
          <a:prstGeom prst="rect">
            <a:avLst/>
          </a:prstGeom>
          <a:noFill/>
          <a:ln w="0">
            <a:noFill/>
            <a:prstDash val="solid"/>
          </a:ln>
        </p:spPr>
        <p:txBody>
          <a:bodyPr anchor="ctr"/>
          <a:lstStyle/>
          <a:p>
            <a:pPr algn="ctr">
              <a:defRPr sz="975" b="1">
                <a:solidFill>
                  <a:srgbClr val="C64A52"/>
                </a:solidFill>
              </a:defRPr>
            </a:pPr>
            <a:r>
              <a:rPr sz="975" b="1">
                <a:solidFill>
                  <a:srgbClr val="C64A52"/>
                </a:solidFill>
              </a:rPr>
              <a:t>СЦЕНАРИЙ B</a:t>
            </a:r>
          </a:p>
        </p:txBody>
      </p:sp>
      <p:sp>
        <p:nvSpPr>
          <p:cNvPr id="25" name="Rectangle 24">
            <a:extLst>
              <a:ext uri="{FF2B5EF4-FFF2-40B4-BE49-F238E27FC236}">
                <a16:creationId xmlns:a16="http://schemas.microsoft.com/office/drawing/2014/main" id="{B3AB1799-9891-4446-8E71-08212269B2B2}"/>
              </a:ext>
            </a:extLst>
          </p:cNvPr>
          <p:cNvSpPr>
            <a:spLocks noGrp="1"/>
          </p:cNvSpPr>
          <p:nvPr/>
        </p:nvSpPr>
        <p:spPr>
          <a:xfrm>
            <a:off x="6419850" y="2095500"/>
            <a:ext cx="4953000" cy="342900"/>
          </a:xfrm>
          <a:prstGeom prst="rect">
            <a:avLst/>
          </a:prstGeom>
          <a:noFill/>
          <a:ln w="0">
            <a:noFill/>
            <a:prstDash val="solid"/>
          </a:ln>
        </p:spPr>
        <p:txBody>
          <a:bodyPr anchor="t"/>
          <a:lstStyle/>
          <a:p>
            <a:pPr algn="l">
              <a:defRPr sz="2025" b="1">
                <a:solidFill>
                  <a:srgbClr val="071D33"/>
                </a:solidFill>
              </a:defRPr>
            </a:pPr>
            <a:r>
              <a:rPr sz="2025" b="1">
                <a:solidFill>
                  <a:srgbClr val="071D33"/>
                </a:solidFill>
              </a:rPr>
              <a:t>Вместо банковского депозита</a:t>
            </a:r>
          </a:p>
        </p:txBody>
      </p:sp>
      <p:sp>
        <p:nvSpPr>
          <p:cNvPr id="26" name="Rounded Rectangle 25">
            <a:extLst>
              <a:ext uri="{FF2B5EF4-FFF2-40B4-BE49-F238E27FC236}">
                <a16:creationId xmlns:a16="http://schemas.microsoft.com/office/drawing/2014/main" id="{DC1406C1-7406-4615-A35D-FC66BAC88FC8}"/>
              </a:ext>
            </a:extLst>
          </p:cNvPr>
          <p:cNvSpPr>
            <a:spLocks noGrp="1"/>
          </p:cNvSpPr>
          <p:nvPr/>
        </p:nvSpPr>
        <p:spPr>
          <a:xfrm>
            <a:off x="6343650" y="2571750"/>
            <a:ext cx="5105400" cy="2667000"/>
          </a:xfrm>
          <a:prstGeom prst="roundRect">
            <a:avLst>
              <a:gd name="adj" fmla="val 2857"/>
            </a:avLst>
          </a:prstGeom>
          <a:solidFill>
            <a:srgbClr val="FFFFFF"/>
          </a:solidFill>
          <a:ln w="9525">
            <a:solidFill>
              <a:srgbClr val="E2E8ED"/>
            </a:solidFill>
            <a:prstDash val="solid"/>
          </a:ln>
        </p:spPr>
      </p:sp>
      <p:sp>
        <p:nvSpPr>
          <p:cNvPr id="27" name="Rounded Rectangle 26">
            <a:extLst>
              <a:ext uri="{FF2B5EF4-FFF2-40B4-BE49-F238E27FC236}">
                <a16:creationId xmlns:a16="http://schemas.microsoft.com/office/drawing/2014/main" id="{BB4BE68D-6F51-4D9E-AFA0-70D59B280159}"/>
              </a:ext>
            </a:extLst>
          </p:cNvPr>
          <p:cNvSpPr>
            <a:spLocks noGrp="1"/>
          </p:cNvSpPr>
          <p:nvPr/>
        </p:nvSpPr>
        <p:spPr>
          <a:xfrm>
            <a:off x="6591300" y="2819400"/>
            <a:ext cx="1714500" cy="647700"/>
          </a:xfrm>
          <a:prstGeom prst="roundRect">
            <a:avLst>
              <a:gd name="adj" fmla="val 8824"/>
            </a:avLst>
          </a:prstGeom>
          <a:solidFill>
            <a:srgbClr val="DDEBFA"/>
          </a:solidFill>
          <a:ln w="9525">
            <a:solidFill>
              <a:srgbClr val="075BCB"/>
            </a:solidFill>
            <a:prstDash val="solid"/>
          </a:ln>
        </p:spPr>
      </p:sp>
      <p:sp>
        <p:nvSpPr>
          <p:cNvPr id="28" name="Rectangle 27">
            <a:extLst>
              <a:ext uri="{FF2B5EF4-FFF2-40B4-BE49-F238E27FC236}">
                <a16:creationId xmlns:a16="http://schemas.microsoft.com/office/drawing/2014/main" id="{A8B8F768-ECED-4CA9-818C-05C79AFF6870}"/>
              </a:ext>
            </a:extLst>
          </p:cNvPr>
          <p:cNvSpPr>
            <a:spLocks noGrp="1"/>
          </p:cNvSpPr>
          <p:nvPr/>
        </p:nvSpPr>
        <p:spPr>
          <a:xfrm>
            <a:off x="6781800" y="2914650"/>
            <a:ext cx="1333500" cy="438150"/>
          </a:xfrm>
          <a:prstGeom prst="rect">
            <a:avLst/>
          </a:prstGeom>
          <a:noFill/>
          <a:ln w="0">
            <a:noFill/>
            <a:prstDash val="solid"/>
          </a:ln>
        </p:spPr>
        <p:txBody>
          <a:bodyPr anchor="ctr"/>
          <a:lstStyle/>
          <a:p>
            <a:pPr algn="ctr">
              <a:defRPr sz="1350" b="1">
                <a:solidFill>
                  <a:srgbClr val="075BCB"/>
                </a:solidFill>
              </a:defRPr>
            </a:pPr>
            <a:r>
              <a:rPr sz="1350" b="1">
                <a:solidFill>
                  <a:srgbClr val="075BCB"/>
                </a:solidFill>
              </a:rPr>
              <a:t>Депозит</a:t>
            </a:r>
          </a:p>
          <a:p>
            <a:pPr algn="ctr">
              <a:defRPr sz="1350" b="1">
                <a:solidFill>
                  <a:srgbClr val="075BCB"/>
                </a:solidFill>
              </a:defRPr>
            </a:pPr>
            <a:r>
              <a:rPr sz="1350" b="1">
                <a:solidFill>
                  <a:srgbClr val="075BCB"/>
                </a:solidFill>
              </a:rPr>
              <a:t>–1 000 ₽</a:t>
            </a:r>
          </a:p>
        </p:txBody>
      </p:sp>
      <p:sp>
        <p:nvSpPr>
          <p:cNvPr id="29" name="Right Arrow 28">
            <a:extLst>
              <a:ext uri="{FF2B5EF4-FFF2-40B4-BE49-F238E27FC236}">
                <a16:creationId xmlns:a16="http://schemas.microsoft.com/office/drawing/2014/main" id="{C1C42810-42BC-4A15-B5C8-8EAB5DA3A6C5}"/>
              </a:ext>
            </a:extLst>
          </p:cNvPr>
          <p:cNvSpPr>
            <a:spLocks noGrp="1"/>
          </p:cNvSpPr>
          <p:nvPr/>
        </p:nvSpPr>
        <p:spPr>
          <a:xfrm>
            <a:off x="8439150" y="3019425"/>
            <a:ext cx="685800" cy="228600"/>
          </a:xfrm>
          <a:prstGeom prst="rightArrow">
            <a:avLst/>
          </a:prstGeom>
          <a:solidFill>
            <a:srgbClr val="CCD5DC"/>
          </a:solidFill>
          <a:ln w="0">
            <a:solidFill>
              <a:srgbClr val="CCD5DC"/>
            </a:solidFill>
            <a:prstDash val="solid"/>
          </a:ln>
        </p:spPr>
      </p:sp>
      <p:sp>
        <p:nvSpPr>
          <p:cNvPr id="30" name="Rounded Rectangle 29">
            <a:extLst>
              <a:ext uri="{FF2B5EF4-FFF2-40B4-BE49-F238E27FC236}">
                <a16:creationId xmlns:a16="http://schemas.microsoft.com/office/drawing/2014/main" id="{FD03BAE2-3C19-44CE-9E4F-B1BFB161EB5E}"/>
              </a:ext>
            </a:extLst>
          </p:cNvPr>
          <p:cNvSpPr>
            <a:spLocks noGrp="1"/>
          </p:cNvSpPr>
          <p:nvPr/>
        </p:nvSpPr>
        <p:spPr>
          <a:xfrm>
            <a:off x="9277350" y="2819400"/>
            <a:ext cx="1885950" cy="647700"/>
          </a:xfrm>
          <a:prstGeom prst="roundRect">
            <a:avLst>
              <a:gd name="adj" fmla="val 8824"/>
            </a:avLst>
          </a:prstGeom>
          <a:solidFill>
            <a:srgbClr val="DDF2EF"/>
          </a:solidFill>
          <a:ln w="9525">
            <a:solidFill>
              <a:srgbClr val="008A82"/>
            </a:solidFill>
            <a:prstDash val="solid"/>
          </a:ln>
        </p:spPr>
      </p:sp>
      <p:sp>
        <p:nvSpPr>
          <p:cNvPr id="31" name="Rectangle 30">
            <a:extLst>
              <a:ext uri="{FF2B5EF4-FFF2-40B4-BE49-F238E27FC236}">
                <a16:creationId xmlns:a16="http://schemas.microsoft.com/office/drawing/2014/main" id="{1EAA33F8-E4A4-433B-B9E7-B61E60FC3D80}"/>
              </a:ext>
            </a:extLst>
          </p:cNvPr>
          <p:cNvSpPr>
            <a:spLocks noGrp="1"/>
          </p:cNvSpPr>
          <p:nvPr/>
        </p:nvSpPr>
        <p:spPr>
          <a:xfrm>
            <a:off x="9448800" y="2914650"/>
            <a:ext cx="1543050" cy="438150"/>
          </a:xfrm>
          <a:prstGeom prst="rect">
            <a:avLst/>
          </a:prstGeom>
          <a:noFill/>
          <a:ln w="0">
            <a:noFill/>
            <a:prstDash val="solid"/>
          </a:ln>
        </p:spPr>
        <p:txBody>
          <a:bodyPr anchor="ctr"/>
          <a:lstStyle/>
          <a:p>
            <a:pPr algn="ctr">
              <a:defRPr sz="1350" b="1">
                <a:solidFill>
                  <a:srgbClr val="008A82"/>
                </a:solidFill>
              </a:defRPr>
            </a:pPr>
            <a:r>
              <a:rPr sz="1350" b="1">
                <a:solidFill>
                  <a:srgbClr val="008A82"/>
                </a:solidFill>
              </a:rPr>
              <a:t>Цифровой рубль</a:t>
            </a:r>
          </a:p>
          <a:p>
            <a:pPr algn="ctr">
              <a:defRPr sz="1350" b="1">
                <a:solidFill>
                  <a:srgbClr val="008A82"/>
                </a:solidFill>
              </a:defRPr>
            </a:pPr>
            <a:r>
              <a:rPr sz="1350" b="1">
                <a:solidFill>
                  <a:srgbClr val="008A82"/>
                </a:solidFill>
              </a:rPr>
              <a:t>+1 000 ₽</a:t>
            </a:r>
          </a:p>
        </p:txBody>
      </p:sp>
      <p:sp>
        <p:nvSpPr>
          <p:cNvPr id="32" name="Straight Connector 31">
            <a:extLst>
              <a:ext uri="{FF2B5EF4-FFF2-40B4-BE49-F238E27FC236}">
                <a16:creationId xmlns:a16="http://schemas.microsoft.com/office/drawing/2014/main" id="{A17097F7-C420-410C-8CD2-FEBE0D43F943}"/>
              </a:ext>
            </a:extLst>
          </p:cNvPr>
          <p:cNvSpPr>
            <a:spLocks noGrp="1"/>
          </p:cNvSpPr>
          <p:nvPr/>
        </p:nvSpPr>
        <p:spPr>
          <a:xfrm>
            <a:off x="6591300" y="3695700"/>
            <a:ext cx="4572000" cy="0"/>
          </a:xfrm>
          <a:prstGeom prst="line">
            <a:avLst/>
          </a:prstGeom>
          <a:noFill/>
          <a:ln w="9525">
            <a:solidFill>
              <a:srgbClr val="E2E8ED"/>
            </a:solidFill>
            <a:prstDash val="solid"/>
          </a:ln>
        </p:spPr>
      </p:sp>
      <p:sp>
        <p:nvSpPr>
          <p:cNvPr id="33" name="Rectangle 32">
            <a:extLst>
              <a:ext uri="{FF2B5EF4-FFF2-40B4-BE49-F238E27FC236}">
                <a16:creationId xmlns:a16="http://schemas.microsoft.com/office/drawing/2014/main" id="{ADB52F4F-A488-4346-8880-2CE1E94609EF}"/>
              </a:ext>
            </a:extLst>
          </p:cNvPr>
          <p:cNvSpPr>
            <a:spLocks noGrp="1"/>
          </p:cNvSpPr>
          <p:nvPr/>
        </p:nvSpPr>
        <p:spPr>
          <a:xfrm>
            <a:off x="6610350" y="3848100"/>
            <a:ext cx="2190750" cy="228600"/>
          </a:xfrm>
          <a:prstGeom prst="rect">
            <a:avLst/>
          </a:prstGeom>
          <a:noFill/>
          <a:ln w="0">
            <a:noFill/>
            <a:prstDash val="solid"/>
          </a:ln>
        </p:spPr>
        <p:txBody>
          <a:bodyPr anchor="t"/>
          <a:lstStyle/>
          <a:p>
            <a:pPr algn="l">
              <a:defRPr sz="1350" b="1">
                <a:solidFill>
                  <a:srgbClr val="263746"/>
                </a:solidFill>
              </a:defRPr>
            </a:pPr>
            <a:r>
              <a:rPr sz="1350" b="1">
                <a:solidFill>
                  <a:srgbClr val="263746"/>
                </a:solidFill>
              </a:rPr>
              <a:t>У коммерческого банка</a:t>
            </a:r>
          </a:p>
        </p:txBody>
      </p:sp>
      <p:sp>
        <p:nvSpPr>
          <p:cNvPr id="34" name="Rectangle 33">
            <a:extLst>
              <a:ext uri="{FF2B5EF4-FFF2-40B4-BE49-F238E27FC236}">
                <a16:creationId xmlns:a16="http://schemas.microsoft.com/office/drawing/2014/main" id="{C9BA8286-F6FA-44C6-8032-06D61D5B98A4}"/>
              </a:ext>
            </a:extLst>
          </p:cNvPr>
          <p:cNvSpPr>
            <a:spLocks noGrp="1"/>
          </p:cNvSpPr>
          <p:nvPr/>
        </p:nvSpPr>
        <p:spPr>
          <a:xfrm>
            <a:off x="8991600" y="3848100"/>
            <a:ext cx="2171700" cy="228600"/>
          </a:xfrm>
          <a:prstGeom prst="rect">
            <a:avLst/>
          </a:prstGeom>
          <a:noFill/>
          <a:ln w="0">
            <a:noFill/>
            <a:prstDash val="solid"/>
          </a:ln>
        </p:spPr>
        <p:txBody>
          <a:bodyPr anchor="t"/>
          <a:lstStyle/>
          <a:p>
            <a:pPr algn="r">
              <a:defRPr sz="1350" b="1">
                <a:solidFill>
                  <a:srgbClr val="C64A52"/>
                </a:solidFill>
              </a:defRPr>
            </a:pPr>
            <a:r>
              <a:rPr sz="1350" b="1">
                <a:solidFill>
                  <a:srgbClr val="C64A52"/>
                </a:solidFill>
              </a:rPr>
              <a:t>депозиты ↓   резервы ↓</a:t>
            </a:r>
          </a:p>
        </p:txBody>
      </p:sp>
      <p:sp>
        <p:nvSpPr>
          <p:cNvPr id="35" name="Rectangle 34">
            <a:extLst>
              <a:ext uri="{FF2B5EF4-FFF2-40B4-BE49-F238E27FC236}">
                <a16:creationId xmlns:a16="http://schemas.microsoft.com/office/drawing/2014/main" id="{DB0CF2E1-52DB-4F2C-A1E3-2A2F5B513203}"/>
              </a:ext>
            </a:extLst>
          </p:cNvPr>
          <p:cNvSpPr>
            <a:spLocks noGrp="1"/>
          </p:cNvSpPr>
          <p:nvPr/>
        </p:nvSpPr>
        <p:spPr>
          <a:xfrm>
            <a:off x="6610350" y="4267200"/>
            <a:ext cx="2705100" cy="228600"/>
          </a:xfrm>
          <a:prstGeom prst="rect">
            <a:avLst/>
          </a:prstGeom>
          <a:noFill/>
          <a:ln w="0">
            <a:noFill/>
            <a:prstDash val="solid"/>
          </a:ln>
        </p:spPr>
        <p:txBody>
          <a:bodyPr anchor="t"/>
          <a:lstStyle/>
          <a:p>
            <a:pPr algn="l">
              <a:defRPr sz="1275" b="0">
                <a:solidFill>
                  <a:srgbClr val="536777"/>
                </a:solidFill>
              </a:defRPr>
            </a:pPr>
            <a:r>
              <a:rPr sz="1275" b="0">
                <a:solidFill>
                  <a:srgbClr val="536777"/>
                </a:solidFill>
              </a:rPr>
              <a:t>Фондирование может подорожать</a:t>
            </a:r>
          </a:p>
        </p:txBody>
      </p:sp>
      <p:sp>
        <p:nvSpPr>
          <p:cNvPr id="36" name="Right Arrow 35">
            <a:extLst>
              <a:ext uri="{FF2B5EF4-FFF2-40B4-BE49-F238E27FC236}">
                <a16:creationId xmlns:a16="http://schemas.microsoft.com/office/drawing/2014/main" id="{D414DE7E-22D1-46DF-B908-F2B9990637D8}"/>
              </a:ext>
            </a:extLst>
          </p:cNvPr>
          <p:cNvSpPr>
            <a:spLocks noGrp="1"/>
          </p:cNvSpPr>
          <p:nvPr/>
        </p:nvSpPr>
        <p:spPr>
          <a:xfrm>
            <a:off x="9353550" y="4267200"/>
            <a:ext cx="361950" cy="171450"/>
          </a:xfrm>
          <a:prstGeom prst="rightArrow">
            <a:avLst/>
          </a:prstGeom>
          <a:solidFill>
            <a:srgbClr val="FFF0D8"/>
          </a:solidFill>
          <a:ln w="0">
            <a:solidFill>
              <a:srgbClr val="FFF0D8"/>
            </a:solidFill>
            <a:prstDash val="solid"/>
          </a:ln>
        </p:spPr>
      </p:sp>
      <p:sp>
        <p:nvSpPr>
          <p:cNvPr id="37" name="Rectangle 36">
            <a:extLst>
              <a:ext uri="{FF2B5EF4-FFF2-40B4-BE49-F238E27FC236}">
                <a16:creationId xmlns:a16="http://schemas.microsoft.com/office/drawing/2014/main" id="{BA751D07-864A-42D0-8A89-5C0067714F86}"/>
              </a:ext>
            </a:extLst>
          </p:cNvPr>
          <p:cNvSpPr>
            <a:spLocks noGrp="1"/>
          </p:cNvSpPr>
          <p:nvPr/>
        </p:nvSpPr>
        <p:spPr>
          <a:xfrm>
            <a:off x="9791700" y="4267200"/>
            <a:ext cx="1371600" cy="400050"/>
          </a:xfrm>
          <a:prstGeom prst="rect">
            <a:avLst/>
          </a:prstGeom>
          <a:noFill/>
          <a:ln w="0">
            <a:noFill/>
            <a:prstDash val="solid"/>
          </a:ln>
        </p:spPr>
        <p:txBody>
          <a:bodyPr anchor="t"/>
          <a:lstStyle/>
          <a:p>
            <a:pPr algn="r">
              <a:defRPr sz="1275" b="1">
                <a:solidFill>
                  <a:srgbClr val="D98216"/>
                </a:solidFill>
              </a:defRPr>
            </a:pPr>
            <a:r>
              <a:rPr sz="1275" b="1">
                <a:solidFill>
                  <a:srgbClr val="D98216"/>
                </a:solidFill>
              </a:rPr>
              <a:t>давление на ставку / кредит</a:t>
            </a:r>
          </a:p>
        </p:txBody>
      </p:sp>
      <p:sp>
        <p:nvSpPr>
          <p:cNvPr id="38" name="Rectangle 37">
            <a:extLst>
              <a:ext uri="{FF2B5EF4-FFF2-40B4-BE49-F238E27FC236}">
                <a16:creationId xmlns:a16="http://schemas.microsoft.com/office/drawing/2014/main" id="{F15101C9-BCF7-483A-A257-2666ECE7FD57}"/>
              </a:ext>
            </a:extLst>
          </p:cNvPr>
          <p:cNvSpPr>
            <a:spLocks noGrp="1"/>
          </p:cNvSpPr>
          <p:nvPr/>
        </p:nvSpPr>
        <p:spPr>
          <a:xfrm>
            <a:off x="6610350" y="4819650"/>
            <a:ext cx="4552950" cy="266700"/>
          </a:xfrm>
          <a:prstGeom prst="rect">
            <a:avLst/>
          </a:prstGeom>
          <a:noFill/>
          <a:ln w="0">
            <a:noFill/>
            <a:prstDash val="solid"/>
          </a:ln>
        </p:spPr>
        <p:txBody>
          <a:bodyPr anchor="t"/>
          <a:lstStyle/>
          <a:p>
            <a:pPr algn="l">
              <a:defRPr sz="1275" b="1">
                <a:solidFill>
                  <a:srgbClr val="075BCB"/>
                </a:solidFill>
              </a:defRPr>
            </a:pPr>
            <a:r>
              <a:rPr sz="1275" b="1">
                <a:solidFill>
                  <a:srgbClr val="075BCB"/>
                </a:solidFill>
              </a:rPr>
              <a:t>ЦБ может компенсировать дефицит ликвидности.</a:t>
            </a:r>
          </a:p>
        </p:txBody>
      </p:sp>
      <p:sp>
        <p:nvSpPr>
          <p:cNvPr id="39" name="Rounded Rectangle 38">
            <a:extLst>
              <a:ext uri="{FF2B5EF4-FFF2-40B4-BE49-F238E27FC236}">
                <a16:creationId xmlns:a16="http://schemas.microsoft.com/office/drawing/2014/main" id="{001B48AA-89ED-408D-BAD6-F003526AFAA6}"/>
              </a:ext>
            </a:extLst>
          </p:cNvPr>
          <p:cNvSpPr>
            <a:spLocks noGrp="1"/>
          </p:cNvSpPr>
          <p:nvPr/>
        </p:nvSpPr>
        <p:spPr>
          <a:xfrm>
            <a:off x="609600" y="5791200"/>
            <a:ext cx="10972800" cy="590550"/>
          </a:xfrm>
          <a:prstGeom prst="roundRect">
            <a:avLst>
              <a:gd name="adj" fmla="val 9677"/>
            </a:avLst>
          </a:prstGeom>
          <a:solidFill>
            <a:srgbClr val="EEF2F5"/>
          </a:solidFill>
          <a:ln w="9525">
            <a:solidFill>
              <a:srgbClr val="EEF2F5"/>
            </a:solidFill>
            <a:prstDash val="solid"/>
          </a:ln>
        </p:spPr>
      </p:sp>
      <p:sp>
        <p:nvSpPr>
          <p:cNvPr id="40" name="Rounded Rectangle 39">
            <a:extLst>
              <a:ext uri="{FF2B5EF4-FFF2-40B4-BE49-F238E27FC236}">
                <a16:creationId xmlns:a16="http://schemas.microsoft.com/office/drawing/2014/main" id="{BB1C32B3-D0C2-4CA8-9FAC-CD69D5FDF140}"/>
              </a:ext>
            </a:extLst>
          </p:cNvPr>
          <p:cNvSpPr>
            <a:spLocks noGrp="1"/>
          </p:cNvSpPr>
          <p:nvPr/>
        </p:nvSpPr>
        <p:spPr>
          <a:xfrm>
            <a:off x="609600" y="5791200"/>
            <a:ext cx="66675" cy="590550"/>
          </a:xfrm>
          <a:prstGeom prst="roundRect">
            <a:avLst>
              <a:gd name="adj" fmla="val 50000"/>
            </a:avLst>
          </a:prstGeom>
          <a:solidFill>
            <a:srgbClr val="071D33"/>
          </a:solidFill>
          <a:ln w="9525">
            <a:solidFill>
              <a:srgbClr val="071D33"/>
            </a:solidFill>
            <a:prstDash val="solid"/>
          </a:ln>
        </p:spPr>
      </p:sp>
      <p:sp>
        <p:nvSpPr>
          <p:cNvPr id="41" name="Rectangle 40">
            <a:extLst>
              <a:ext uri="{FF2B5EF4-FFF2-40B4-BE49-F238E27FC236}">
                <a16:creationId xmlns:a16="http://schemas.microsoft.com/office/drawing/2014/main" id="{6F3F9269-C2A7-4F63-A308-C87CE8904615}"/>
              </a:ext>
            </a:extLst>
          </p:cNvPr>
          <p:cNvSpPr>
            <a:spLocks noGrp="1"/>
          </p:cNvSpPr>
          <p:nvPr/>
        </p:nvSpPr>
        <p:spPr>
          <a:xfrm>
            <a:off x="838200" y="5924550"/>
            <a:ext cx="10477500" cy="323850"/>
          </a:xfrm>
          <a:prstGeom prst="rect">
            <a:avLst/>
          </a:prstGeom>
          <a:noFill/>
          <a:ln w="0">
            <a:noFill/>
            <a:prstDash val="solid"/>
          </a:ln>
        </p:spPr>
        <p:txBody>
          <a:bodyPr anchor="ctr"/>
          <a:lstStyle/>
          <a:p>
            <a:pPr algn="l">
              <a:defRPr sz="1500" b="1">
                <a:solidFill>
                  <a:srgbClr val="071D33"/>
                </a:solidFill>
              </a:defRPr>
            </a:pPr>
            <a:r>
              <a:rPr sz="1500" b="1">
                <a:solidFill>
                  <a:srgbClr val="071D33"/>
                </a:solidFill>
              </a:rPr>
              <a:t>Ключевой вопрос не «сколько цифровых рублей?», а «какую форму денег они заменили?». Сумма одна — каналы разные.</a:t>
            </a:r>
          </a:p>
        </p:txBody>
      </p:sp>
    </p:spTree>
    <p:extLst>
      <p:ext uri="{BB962C8B-B14F-4D97-AF65-F5344CB8AC3E}">
        <p14:creationId xmlns:p14="http://schemas.microsoft.com/office/powerpoint/2010/main" val="2057316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45" name="Rounded Rectangle 44">
            <a:extLst>
              <a:ext uri="{FF2B5EF4-FFF2-40B4-BE49-F238E27FC236}">
                <a16:creationId xmlns:a16="http://schemas.microsoft.com/office/drawing/2014/main" id="{369E5593-F806-4ADE-87FB-86A9D40D0D95}"/>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AD898C42-0E3F-4B2F-991A-1829129718D9}"/>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6">
            <a:extLst>
              <a:ext uri="{FF2B5EF4-FFF2-40B4-BE49-F238E27FC236}">
                <a16:creationId xmlns:a16="http://schemas.microsoft.com/office/drawing/2014/main" id="{EB50DA19-1B06-400F-8E1C-9A14EA80C15A}"/>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5. КАНАЛЫ ВЛИЯНИЯ НА ЭКОНОМИКУ</a:t>
            </a:r>
          </a:p>
        </p:txBody>
      </p:sp>
      <p:sp>
        <p:nvSpPr>
          <p:cNvPr id="4" name="title-6">
            <a:extLst>
              <a:ext uri="{FF2B5EF4-FFF2-40B4-BE49-F238E27FC236}">
                <a16:creationId xmlns:a16="http://schemas.microsoft.com/office/drawing/2014/main" id="{005133E3-1F9F-48AB-B7F7-F0C707388354}"/>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Цифровой рубль не дает прямого мультипликатора; его эффект на рост — косвенный</a:t>
            </a:r>
          </a:p>
        </p:txBody>
      </p:sp>
      <p:sp>
        <p:nvSpPr>
          <p:cNvPr id="5" name="Straight Connector 4">
            <a:extLst>
              <a:ext uri="{FF2B5EF4-FFF2-40B4-BE49-F238E27FC236}">
                <a16:creationId xmlns:a16="http://schemas.microsoft.com/office/drawing/2014/main" id="{26F7260E-B903-4928-A4B7-1303704F5CF5}"/>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C06F690F-AA6A-4307-BBA0-A75AF3F34EBE}"/>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7361AC11-F319-451B-ABA0-EB516FCFBDB0}"/>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06</a:t>
            </a:r>
          </a:p>
        </p:txBody>
      </p:sp>
      <p:sp>
        <p:nvSpPr>
          <p:cNvPr id="8" name="Rectangle 7">
            <a:extLst>
              <a:ext uri="{FF2B5EF4-FFF2-40B4-BE49-F238E27FC236}">
                <a16:creationId xmlns:a16="http://schemas.microsoft.com/office/drawing/2014/main" id="{D829AE26-DBB5-484C-A16D-EC49AEC5EA29}"/>
              </a:ext>
            </a:extLst>
          </p:cNvPr>
          <p:cNvSpPr>
            <a:spLocks noGrp="1"/>
          </p:cNvSpPr>
          <p:nvPr/>
        </p:nvSpPr>
        <p:spPr>
          <a:xfrm>
            <a:off x="762000" y="1600200"/>
            <a:ext cx="4095750" cy="238125"/>
          </a:xfrm>
          <a:prstGeom prst="rect">
            <a:avLst/>
          </a:prstGeom>
          <a:noFill/>
          <a:ln w="0">
            <a:noFill/>
            <a:prstDash val="solid"/>
          </a:ln>
        </p:spPr>
        <p:txBody>
          <a:bodyPr anchor="t"/>
          <a:lstStyle/>
          <a:p>
            <a:pPr algn="l">
              <a:defRPr sz="1200" b="1">
                <a:solidFill>
                  <a:srgbClr val="075BCB"/>
                </a:solidFill>
              </a:defRPr>
            </a:pPr>
            <a:r>
              <a:rPr sz="1200" b="1">
                <a:solidFill>
                  <a:srgbClr val="075BCB"/>
                </a:solidFill>
              </a:rPr>
              <a:t>БАНКОВСКИЕ ДЕНЬГИ</a:t>
            </a:r>
          </a:p>
        </p:txBody>
      </p:sp>
      <p:sp>
        <p:nvSpPr>
          <p:cNvPr id="9" name="Rectangle 8">
            <a:extLst>
              <a:ext uri="{FF2B5EF4-FFF2-40B4-BE49-F238E27FC236}">
                <a16:creationId xmlns:a16="http://schemas.microsoft.com/office/drawing/2014/main" id="{73F93658-F55B-4B58-86F2-06209AA2D6C1}"/>
              </a:ext>
            </a:extLst>
          </p:cNvPr>
          <p:cNvSpPr>
            <a:spLocks noGrp="1"/>
          </p:cNvSpPr>
          <p:nvPr/>
        </p:nvSpPr>
        <p:spPr>
          <a:xfrm>
            <a:off x="6705600" y="1600200"/>
            <a:ext cx="4095750" cy="238125"/>
          </a:xfrm>
          <a:prstGeom prst="rect">
            <a:avLst/>
          </a:prstGeom>
          <a:noFill/>
          <a:ln w="0">
            <a:noFill/>
            <a:prstDash val="solid"/>
          </a:ln>
        </p:spPr>
        <p:txBody>
          <a:bodyPr anchor="t"/>
          <a:lstStyle/>
          <a:p>
            <a:pPr algn="l">
              <a:defRPr sz="1200" b="1">
                <a:solidFill>
                  <a:srgbClr val="008A82"/>
                </a:solidFill>
              </a:defRPr>
            </a:pPr>
            <a:r>
              <a:rPr sz="1200" b="1">
                <a:solidFill>
                  <a:srgbClr val="008A82"/>
                </a:solidFill>
              </a:rPr>
              <a:t>ЦИФРОВОЙ РУБЛЬ</a:t>
            </a:r>
          </a:p>
        </p:txBody>
      </p:sp>
      <p:sp>
        <p:nvSpPr>
          <p:cNvPr id="10" name="Right Arrow 9">
            <a:extLst>
              <a:ext uri="{FF2B5EF4-FFF2-40B4-BE49-F238E27FC236}">
                <a16:creationId xmlns:a16="http://schemas.microsoft.com/office/drawing/2014/main" id="{225F4EC4-1FFA-4B29-A4C0-75D3D8C85AF4}"/>
              </a:ext>
            </a:extLst>
          </p:cNvPr>
          <p:cNvSpPr>
            <a:spLocks noGrp="1"/>
          </p:cNvSpPr>
          <p:nvPr/>
        </p:nvSpPr>
        <p:spPr>
          <a:xfrm rot="5400000">
            <a:off x="3028950" y="2314575"/>
            <a:ext cx="495300" cy="228600"/>
          </a:xfrm>
          <a:prstGeom prst="rightArrow">
            <a:avLst/>
          </a:prstGeom>
          <a:solidFill>
            <a:srgbClr val="DDEBFA"/>
          </a:solidFill>
          <a:ln w="0">
            <a:solidFill>
              <a:srgbClr val="DDEBFA"/>
            </a:solidFill>
            <a:prstDash val="solid"/>
          </a:ln>
        </p:spPr>
      </p:sp>
      <p:sp>
        <p:nvSpPr>
          <p:cNvPr id="11" name="Right Arrow 10">
            <a:extLst>
              <a:ext uri="{FF2B5EF4-FFF2-40B4-BE49-F238E27FC236}">
                <a16:creationId xmlns:a16="http://schemas.microsoft.com/office/drawing/2014/main" id="{043EA8E1-2749-4362-8F41-CA84D79C7692}"/>
              </a:ext>
            </a:extLst>
          </p:cNvPr>
          <p:cNvSpPr>
            <a:spLocks noGrp="1"/>
          </p:cNvSpPr>
          <p:nvPr/>
        </p:nvSpPr>
        <p:spPr>
          <a:xfrm rot="5400000">
            <a:off x="8972550" y="2314575"/>
            <a:ext cx="495300" cy="228600"/>
          </a:xfrm>
          <a:prstGeom prst="rightArrow">
            <a:avLst/>
          </a:prstGeom>
          <a:solidFill>
            <a:srgbClr val="DDF2EF"/>
          </a:solidFill>
          <a:ln w="0">
            <a:solidFill>
              <a:srgbClr val="DDF2EF"/>
            </a:solidFill>
            <a:prstDash val="solid"/>
          </a:ln>
        </p:spPr>
      </p:sp>
      <p:sp>
        <p:nvSpPr>
          <p:cNvPr id="12" name="Right Arrow 11">
            <a:extLst>
              <a:ext uri="{FF2B5EF4-FFF2-40B4-BE49-F238E27FC236}">
                <a16:creationId xmlns:a16="http://schemas.microsoft.com/office/drawing/2014/main" id="{B0EFE511-4EE9-4E45-87F2-E4DF97BD412C}"/>
              </a:ext>
            </a:extLst>
          </p:cNvPr>
          <p:cNvSpPr>
            <a:spLocks noGrp="1"/>
          </p:cNvSpPr>
          <p:nvPr/>
        </p:nvSpPr>
        <p:spPr>
          <a:xfrm rot="5400000">
            <a:off x="3028950" y="3190875"/>
            <a:ext cx="495300" cy="228600"/>
          </a:xfrm>
          <a:prstGeom prst="rightArrow">
            <a:avLst/>
          </a:prstGeom>
          <a:solidFill>
            <a:srgbClr val="DDEBFA"/>
          </a:solidFill>
          <a:ln w="0">
            <a:solidFill>
              <a:srgbClr val="DDEBFA"/>
            </a:solidFill>
            <a:prstDash val="solid"/>
          </a:ln>
        </p:spPr>
      </p:sp>
      <p:sp>
        <p:nvSpPr>
          <p:cNvPr id="13" name="Right Arrow 12">
            <a:extLst>
              <a:ext uri="{FF2B5EF4-FFF2-40B4-BE49-F238E27FC236}">
                <a16:creationId xmlns:a16="http://schemas.microsoft.com/office/drawing/2014/main" id="{CB362EC0-71E4-4EA9-9C93-36A4E86D1DC8}"/>
              </a:ext>
            </a:extLst>
          </p:cNvPr>
          <p:cNvSpPr>
            <a:spLocks noGrp="1"/>
          </p:cNvSpPr>
          <p:nvPr/>
        </p:nvSpPr>
        <p:spPr>
          <a:xfrm rot="5400000">
            <a:off x="8972550" y="3190875"/>
            <a:ext cx="495300" cy="228600"/>
          </a:xfrm>
          <a:prstGeom prst="rightArrow">
            <a:avLst/>
          </a:prstGeom>
          <a:solidFill>
            <a:srgbClr val="DDF2EF"/>
          </a:solidFill>
          <a:ln w="0">
            <a:solidFill>
              <a:srgbClr val="DDF2EF"/>
            </a:solidFill>
            <a:prstDash val="solid"/>
          </a:ln>
        </p:spPr>
      </p:sp>
      <p:sp>
        <p:nvSpPr>
          <p:cNvPr id="14" name="Right Arrow 13">
            <a:extLst>
              <a:ext uri="{FF2B5EF4-FFF2-40B4-BE49-F238E27FC236}">
                <a16:creationId xmlns:a16="http://schemas.microsoft.com/office/drawing/2014/main" id="{A30A7710-D9D2-40E0-8885-3966C833211F}"/>
              </a:ext>
            </a:extLst>
          </p:cNvPr>
          <p:cNvSpPr>
            <a:spLocks noGrp="1"/>
          </p:cNvSpPr>
          <p:nvPr/>
        </p:nvSpPr>
        <p:spPr>
          <a:xfrm rot="5400000">
            <a:off x="3028950" y="4067175"/>
            <a:ext cx="495300" cy="228600"/>
          </a:xfrm>
          <a:prstGeom prst="rightArrow">
            <a:avLst/>
          </a:prstGeom>
          <a:solidFill>
            <a:srgbClr val="DDEBFA"/>
          </a:solidFill>
          <a:ln w="0">
            <a:solidFill>
              <a:srgbClr val="DDEBFA"/>
            </a:solidFill>
            <a:prstDash val="solid"/>
          </a:ln>
        </p:spPr>
      </p:sp>
      <p:sp>
        <p:nvSpPr>
          <p:cNvPr id="15" name="Right Arrow 14">
            <a:extLst>
              <a:ext uri="{FF2B5EF4-FFF2-40B4-BE49-F238E27FC236}">
                <a16:creationId xmlns:a16="http://schemas.microsoft.com/office/drawing/2014/main" id="{59FDD856-6E7B-453E-9184-E0BB758D04B3}"/>
              </a:ext>
            </a:extLst>
          </p:cNvPr>
          <p:cNvSpPr>
            <a:spLocks noGrp="1"/>
          </p:cNvSpPr>
          <p:nvPr/>
        </p:nvSpPr>
        <p:spPr>
          <a:xfrm rot="5400000">
            <a:off x="8972550" y="4067175"/>
            <a:ext cx="495300" cy="228600"/>
          </a:xfrm>
          <a:prstGeom prst="rightArrow">
            <a:avLst/>
          </a:prstGeom>
          <a:solidFill>
            <a:srgbClr val="DDF2EF"/>
          </a:solidFill>
          <a:ln w="0">
            <a:solidFill>
              <a:srgbClr val="DDF2EF"/>
            </a:solidFill>
            <a:prstDash val="solid"/>
          </a:ln>
        </p:spPr>
      </p:sp>
      <p:sp>
        <p:nvSpPr>
          <p:cNvPr id="16" name="Rounded Rectangle 15">
            <a:extLst>
              <a:ext uri="{FF2B5EF4-FFF2-40B4-BE49-F238E27FC236}">
                <a16:creationId xmlns:a16="http://schemas.microsoft.com/office/drawing/2014/main" id="{40378E24-8EAC-434D-ADF9-B418732EA9ED}"/>
              </a:ext>
            </a:extLst>
          </p:cNvPr>
          <p:cNvSpPr>
            <a:spLocks noGrp="1"/>
          </p:cNvSpPr>
          <p:nvPr/>
        </p:nvSpPr>
        <p:spPr>
          <a:xfrm>
            <a:off x="762000" y="1943100"/>
            <a:ext cx="4667250" cy="647700"/>
          </a:xfrm>
          <a:prstGeom prst="roundRect">
            <a:avLst>
              <a:gd name="adj" fmla="val 11765"/>
            </a:avLst>
          </a:prstGeom>
          <a:solidFill>
            <a:srgbClr val="FFFFFF"/>
          </a:solidFill>
          <a:ln w="9525">
            <a:solidFill>
              <a:srgbClr val="E2E8ED"/>
            </a:solidFill>
            <a:prstDash val="solid"/>
          </a:ln>
        </p:spPr>
      </p:sp>
      <p:sp>
        <p:nvSpPr>
          <p:cNvPr id="17" name="Rectangle 16">
            <a:extLst>
              <a:ext uri="{FF2B5EF4-FFF2-40B4-BE49-F238E27FC236}">
                <a16:creationId xmlns:a16="http://schemas.microsoft.com/office/drawing/2014/main" id="{530D8892-0477-42FB-B459-4681A09D2333}"/>
              </a:ext>
            </a:extLst>
          </p:cNvPr>
          <p:cNvSpPr>
            <a:spLocks noGrp="1"/>
          </p:cNvSpPr>
          <p:nvPr/>
        </p:nvSpPr>
        <p:spPr>
          <a:xfrm>
            <a:off x="1009650" y="2038350"/>
            <a:ext cx="2266950" cy="4000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Кредит</a:t>
            </a:r>
          </a:p>
        </p:txBody>
      </p:sp>
      <p:sp>
        <p:nvSpPr>
          <p:cNvPr id="18" name="Rectangle 17">
            <a:extLst>
              <a:ext uri="{FF2B5EF4-FFF2-40B4-BE49-F238E27FC236}">
                <a16:creationId xmlns:a16="http://schemas.microsoft.com/office/drawing/2014/main" id="{C8E12224-3477-467D-B285-B63C56A5AF74}"/>
              </a:ext>
            </a:extLst>
          </p:cNvPr>
          <p:cNvSpPr>
            <a:spLocks noGrp="1"/>
          </p:cNvSpPr>
          <p:nvPr/>
        </p:nvSpPr>
        <p:spPr>
          <a:xfrm>
            <a:off x="3352800" y="2066925"/>
            <a:ext cx="1828800" cy="361950"/>
          </a:xfrm>
          <a:prstGeom prst="rect">
            <a:avLst/>
          </a:prstGeom>
          <a:noFill/>
          <a:ln w="0">
            <a:noFill/>
            <a:prstDash val="solid"/>
          </a:ln>
        </p:spPr>
        <p:txBody>
          <a:bodyPr anchor="t"/>
          <a:lstStyle/>
          <a:p>
            <a:pPr algn="r">
              <a:defRPr sz="1125" b="0">
                <a:solidFill>
                  <a:srgbClr val="536777"/>
                </a:solidFill>
              </a:defRPr>
            </a:pPr>
            <a:r>
              <a:rPr sz="1125" b="0">
                <a:solidFill>
                  <a:srgbClr val="536777"/>
                </a:solidFill>
              </a:rPr>
              <a:t>банк создает актив</a:t>
            </a:r>
          </a:p>
        </p:txBody>
      </p:sp>
      <p:sp>
        <p:nvSpPr>
          <p:cNvPr id="19" name="Rounded Rectangle 18">
            <a:extLst>
              <a:ext uri="{FF2B5EF4-FFF2-40B4-BE49-F238E27FC236}">
                <a16:creationId xmlns:a16="http://schemas.microsoft.com/office/drawing/2014/main" id="{760AF04D-B0EC-4EA9-99F9-56B143A3CDCD}"/>
              </a:ext>
            </a:extLst>
          </p:cNvPr>
          <p:cNvSpPr>
            <a:spLocks noGrp="1"/>
          </p:cNvSpPr>
          <p:nvPr/>
        </p:nvSpPr>
        <p:spPr>
          <a:xfrm>
            <a:off x="6705600" y="1943100"/>
            <a:ext cx="4743450" cy="647700"/>
          </a:xfrm>
          <a:prstGeom prst="roundRect">
            <a:avLst>
              <a:gd name="adj" fmla="val 11765"/>
            </a:avLst>
          </a:prstGeom>
          <a:solidFill>
            <a:srgbClr val="FFFFFF"/>
          </a:solidFill>
          <a:ln w="9525">
            <a:solidFill>
              <a:srgbClr val="E2E8ED"/>
            </a:solidFill>
            <a:prstDash val="solid"/>
          </a:ln>
        </p:spPr>
      </p:sp>
      <p:sp>
        <p:nvSpPr>
          <p:cNvPr id="20" name="Rectangle 19">
            <a:extLst>
              <a:ext uri="{FF2B5EF4-FFF2-40B4-BE49-F238E27FC236}">
                <a16:creationId xmlns:a16="http://schemas.microsoft.com/office/drawing/2014/main" id="{B663BBFB-E831-40FE-B94F-BB37738760A5}"/>
              </a:ext>
            </a:extLst>
          </p:cNvPr>
          <p:cNvSpPr>
            <a:spLocks noGrp="1"/>
          </p:cNvSpPr>
          <p:nvPr/>
        </p:nvSpPr>
        <p:spPr>
          <a:xfrm>
            <a:off x="6953250" y="2038350"/>
            <a:ext cx="2305050" cy="4000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Платеж</a:t>
            </a:r>
          </a:p>
        </p:txBody>
      </p:sp>
      <p:sp>
        <p:nvSpPr>
          <p:cNvPr id="21" name="Rectangle 20">
            <a:extLst>
              <a:ext uri="{FF2B5EF4-FFF2-40B4-BE49-F238E27FC236}">
                <a16:creationId xmlns:a16="http://schemas.microsoft.com/office/drawing/2014/main" id="{BE2DC52D-83D5-4A9C-9227-3C9F2256A37F}"/>
              </a:ext>
            </a:extLst>
          </p:cNvPr>
          <p:cNvSpPr>
            <a:spLocks noGrp="1"/>
          </p:cNvSpPr>
          <p:nvPr/>
        </p:nvSpPr>
        <p:spPr>
          <a:xfrm>
            <a:off x="9296400" y="2066925"/>
            <a:ext cx="1905000" cy="361950"/>
          </a:xfrm>
          <a:prstGeom prst="rect">
            <a:avLst/>
          </a:prstGeom>
          <a:noFill/>
          <a:ln w="0">
            <a:noFill/>
            <a:prstDash val="solid"/>
          </a:ln>
        </p:spPr>
        <p:txBody>
          <a:bodyPr anchor="t"/>
          <a:lstStyle/>
          <a:p>
            <a:pPr algn="r">
              <a:defRPr sz="1125" b="0">
                <a:solidFill>
                  <a:srgbClr val="536777"/>
                </a:solidFill>
              </a:defRPr>
            </a:pPr>
            <a:r>
              <a:rPr sz="1125" b="0">
                <a:solidFill>
                  <a:srgbClr val="536777"/>
                </a:solidFill>
              </a:rPr>
              <a:t>перевод между кошельками ЦБ</a:t>
            </a:r>
          </a:p>
        </p:txBody>
      </p:sp>
      <p:sp>
        <p:nvSpPr>
          <p:cNvPr id="22" name="Rounded Rectangle 21">
            <a:extLst>
              <a:ext uri="{FF2B5EF4-FFF2-40B4-BE49-F238E27FC236}">
                <a16:creationId xmlns:a16="http://schemas.microsoft.com/office/drawing/2014/main" id="{A87E8E3E-9661-4406-B902-49003CAEAB48}"/>
              </a:ext>
            </a:extLst>
          </p:cNvPr>
          <p:cNvSpPr>
            <a:spLocks noGrp="1"/>
          </p:cNvSpPr>
          <p:nvPr/>
        </p:nvSpPr>
        <p:spPr>
          <a:xfrm>
            <a:off x="762000" y="2819400"/>
            <a:ext cx="4667250" cy="647700"/>
          </a:xfrm>
          <a:prstGeom prst="roundRect">
            <a:avLst>
              <a:gd name="adj" fmla="val 11765"/>
            </a:avLst>
          </a:prstGeom>
          <a:solidFill>
            <a:srgbClr val="FFFFFF"/>
          </a:solidFill>
          <a:ln w="9525">
            <a:solidFill>
              <a:srgbClr val="E2E8ED"/>
            </a:solidFill>
            <a:prstDash val="solid"/>
          </a:ln>
        </p:spPr>
      </p:sp>
      <p:sp>
        <p:nvSpPr>
          <p:cNvPr id="23" name="Rectangle 22">
            <a:extLst>
              <a:ext uri="{FF2B5EF4-FFF2-40B4-BE49-F238E27FC236}">
                <a16:creationId xmlns:a16="http://schemas.microsoft.com/office/drawing/2014/main" id="{A81DFD61-8D7D-4241-BC2F-7DA8AC77F603}"/>
              </a:ext>
            </a:extLst>
          </p:cNvPr>
          <p:cNvSpPr>
            <a:spLocks noGrp="1"/>
          </p:cNvSpPr>
          <p:nvPr/>
        </p:nvSpPr>
        <p:spPr>
          <a:xfrm>
            <a:off x="1009650" y="2914650"/>
            <a:ext cx="2266950" cy="4000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Новый депозит</a:t>
            </a:r>
          </a:p>
        </p:txBody>
      </p:sp>
      <p:sp>
        <p:nvSpPr>
          <p:cNvPr id="24" name="Rectangle 23">
            <a:extLst>
              <a:ext uri="{FF2B5EF4-FFF2-40B4-BE49-F238E27FC236}">
                <a16:creationId xmlns:a16="http://schemas.microsoft.com/office/drawing/2014/main" id="{07F36A32-AD46-409D-80AE-F14C3CA17B15}"/>
              </a:ext>
            </a:extLst>
          </p:cNvPr>
          <p:cNvSpPr>
            <a:spLocks noGrp="1"/>
          </p:cNvSpPr>
          <p:nvPr/>
        </p:nvSpPr>
        <p:spPr>
          <a:xfrm>
            <a:off x="3352800" y="2943225"/>
            <a:ext cx="1828800" cy="361950"/>
          </a:xfrm>
          <a:prstGeom prst="rect">
            <a:avLst/>
          </a:prstGeom>
          <a:noFill/>
          <a:ln w="0">
            <a:noFill/>
            <a:prstDash val="solid"/>
          </a:ln>
        </p:spPr>
        <p:txBody>
          <a:bodyPr anchor="t"/>
          <a:lstStyle/>
          <a:p>
            <a:pPr algn="r">
              <a:defRPr sz="1125" b="0">
                <a:solidFill>
                  <a:srgbClr val="536777"/>
                </a:solidFill>
              </a:defRPr>
            </a:pPr>
            <a:r>
              <a:rPr sz="1125" b="0">
                <a:solidFill>
                  <a:srgbClr val="536777"/>
                </a:solidFill>
              </a:rPr>
              <a:t>возникают новые деньги M2</a:t>
            </a:r>
          </a:p>
        </p:txBody>
      </p:sp>
      <p:sp>
        <p:nvSpPr>
          <p:cNvPr id="25" name="Rounded Rectangle 24">
            <a:extLst>
              <a:ext uri="{FF2B5EF4-FFF2-40B4-BE49-F238E27FC236}">
                <a16:creationId xmlns:a16="http://schemas.microsoft.com/office/drawing/2014/main" id="{8E8272B0-7B03-453E-A7EE-BE30464B88DF}"/>
              </a:ext>
            </a:extLst>
          </p:cNvPr>
          <p:cNvSpPr>
            <a:spLocks noGrp="1"/>
          </p:cNvSpPr>
          <p:nvPr/>
        </p:nvSpPr>
        <p:spPr>
          <a:xfrm>
            <a:off x="6705600" y="2819400"/>
            <a:ext cx="4743450" cy="647700"/>
          </a:xfrm>
          <a:prstGeom prst="roundRect">
            <a:avLst>
              <a:gd name="adj" fmla="val 11765"/>
            </a:avLst>
          </a:prstGeom>
          <a:solidFill>
            <a:srgbClr val="FFFFFF"/>
          </a:solidFill>
          <a:ln w="9525">
            <a:solidFill>
              <a:srgbClr val="E2E8ED"/>
            </a:solidFill>
            <a:prstDash val="solid"/>
          </a:ln>
        </p:spPr>
      </p:sp>
      <p:sp>
        <p:nvSpPr>
          <p:cNvPr id="26" name="Rectangle 25">
            <a:extLst>
              <a:ext uri="{FF2B5EF4-FFF2-40B4-BE49-F238E27FC236}">
                <a16:creationId xmlns:a16="http://schemas.microsoft.com/office/drawing/2014/main" id="{43199ED0-3054-4C43-A32E-4C956912A89A}"/>
              </a:ext>
            </a:extLst>
          </p:cNvPr>
          <p:cNvSpPr>
            <a:spLocks noGrp="1"/>
          </p:cNvSpPr>
          <p:nvPr/>
        </p:nvSpPr>
        <p:spPr>
          <a:xfrm>
            <a:off x="6953250" y="2914650"/>
            <a:ext cx="2305050" cy="4000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Быстрее и дешевле</a:t>
            </a:r>
          </a:p>
        </p:txBody>
      </p:sp>
      <p:sp>
        <p:nvSpPr>
          <p:cNvPr id="27" name="Rectangle 26">
            <a:extLst>
              <a:ext uri="{FF2B5EF4-FFF2-40B4-BE49-F238E27FC236}">
                <a16:creationId xmlns:a16="http://schemas.microsoft.com/office/drawing/2014/main" id="{470A0A46-0D01-4EDB-A5CF-D52BFE0B3156}"/>
              </a:ext>
            </a:extLst>
          </p:cNvPr>
          <p:cNvSpPr>
            <a:spLocks noGrp="1"/>
          </p:cNvSpPr>
          <p:nvPr/>
        </p:nvSpPr>
        <p:spPr>
          <a:xfrm>
            <a:off x="9296400" y="2943225"/>
            <a:ext cx="1905000" cy="361950"/>
          </a:xfrm>
          <a:prstGeom prst="rect">
            <a:avLst/>
          </a:prstGeom>
          <a:noFill/>
          <a:ln w="0">
            <a:noFill/>
            <a:prstDash val="solid"/>
          </a:ln>
        </p:spPr>
        <p:txBody>
          <a:bodyPr anchor="t"/>
          <a:lstStyle/>
          <a:p>
            <a:pPr algn="r">
              <a:defRPr sz="1125" b="0">
                <a:solidFill>
                  <a:srgbClr val="536777"/>
                </a:solidFill>
              </a:defRPr>
            </a:pPr>
            <a:r>
              <a:rPr sz="1125" b="0">
                <a:solidFill>
                  <a:srgbClr val="536777"/>
                </a:solidFill>
              </a:rPr>
              <a:t>ниже платежные издержки</a:t>
            </a:r>
          </a:p>
        </p:txBody>
      </p:sp>
      <p:sp>
        <p:nvSpPr>
          <p:cNvPr id="28" name="Rounded Rectangle 27">
            <a:extLst>
              <a:ext uri="{FF2B5EF4-FFF2-40B4-BE49-F238E27FC236}">
                <a16:creationId xmlns:a16="http://schemas.microsoft.com/office/drawing/2014/main" id="{D8E7B829-3855-426F-828F-00756D6A75D7}"/>
              </a:ext>
            </a:extLst>
          </p:cNvPr>
          <p:cNvSpPr>
            <a:spLocks noGrp="1"/>
          </p:cNvSpPr>
          <p:nvPr/>
        </p:nvSpPr>
        <p:spPr>
          <a:xfrm>
            <a:off x="762000" y="3695700"/>
            <a:ext cx="4667250" cy="647700"/>
          </a:xfrm>
          <a:prstGeom prst="roundRect">
            <a:avLst>
              <a:gd name="adj" fmla="val 11765"/>
            </a:avLst>
          </a:prstGeom>
          <a:solidFill>
            <a:srgbClr val="FFFFFF"/>
          </a:solidFill>
          <a:ln w="9525">
            <a:solidFill>
              <a:srgbClr val="E2E8ED"/>
            </a:solidFill>
            <a:prstDash val="solid"/>
          </a:ln>
        </p:spPr>
      </p:sp>
      <p:sp>
        <p:nvSpPr>
          <p:cNvPr id="29" name="Rectangle 28">
            <a:extLst>
              <a:ext uri="{FF2B5EF4-FFF2-40B4-BE49-F238E27FC236}">
                <a16:creationId xmlns:a16="http://schemas.microsoft.com/office/drawing/2014/main" id="{04EFD270-5848-4123-83CA-CE90C2E8B8EC}"/>
              </a:ext>
            </a:extLst>
          </p:cNvPr>
          <p:cNvSpPr>
            <a:spLocks noGrp="1"/>
          </p:cNvSpPr>
          <p:nvPr/>
        </p:nvSpPr>
        <p:spPr>
          <a:xfrm>
            <a:off x="1009650" y="3790950"/>
            <a:ext cx="2266950" cy="4000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Расходы и инвестиции</a:t>
            </a:r>
          </a:p>
        </p:txBody>
      </p:sp>
      <p:sp>
        <p:nvSpPr>
          <p:cNvPr id="30" name="Rectangle 29">
            <a:extLst>
              <a:ext uri="{FF2B5EF4-FFF2-40B4-BE49-F238E27FC236}">
                <a16:creationId xmlns:a16="http://schemas.microsoft.com/office/drawing/2014/main" id="{902B759C-18EB-4193-ADF4-0F9C692074DE}"/>
              </a:ext>
            </a:extLst>
          </p:cNvPr>
          <p:cNvSpPr>
            <a:spLocks noGrp="1"/>
          </p:cNvSpPr>
          <p:nvPr/>
        </p:nvSpPr>
        <p:spPr>
          <a:xfrm>
            <a:off x="3352800" y="3819525"/>
            <a:ext cx="1828800" cy="361950"/>
          </a:xfrm>
          <a:prstGeom prst="rect">
            <a:avLst/>
          </a:prstGeom>
          <a:noFill/>
          <a:ln w="0">
            <a:noFill/>
            <a:prstDash val="solid"/>
          </a:ln>
        </p:spPr>
        <p:txBody>
          <a:bodyPr anchor="t"/>
          <a:lstStyle/>
          <a:p>
            <a:pPr algn="r">
              <a:defRPr sz="1125" b="0">
                <a:solidFill>
                  <a:srgbClr val="536777"/>
                </a:solidFill>
              </a:defRPr>
            </a:pPr>
            <a:r>
              <a:rPr sz="1125" b="0">
                <a:solidFill>
                  <a:srgbClr val="536777"/>
                </a:solidFill>
              </a:rPr>
              <a:t>финансирование спроса и проектов</a:t>
            </a:r>
          </a:p>
        </p:txBody>
      </p:sp>
      <p:sp>
        <p:nvSpPr>
          <p:cNvPr id="31" name="Rounded Rectangle 30">
            <a:extLst>
              <a:ext uri="{FF2B5EF4-FFF2-40B4-BE49-F238E27FC236}">
                <a16:creationId xmlns:a16="http://schemas.microsoft.com/office/drawing/2014/main" id="{6499439D-9B90-47C9-AD58-788C1EB1896F}"/>
              </a:ext>
            </a:extLst>
          </p:cNvPr>
          <p:cNvSpPr>
            <a:spLocks noGrp="1"/>
          </p:cNvSpPr>
          <p:nvPr/>
        </p:nvSpPr>
        <p:spPr>
          <a:xfrm>
            <a:off x="6705600" y="3695700"/>
            <a:ext cx="4743450" cy="647700"/>
          </a:xfrm>
          <a:prstGeom prst="roundRect">
            <a:avLst>
              <a:gd name="adj" fmla="val 11765"/>
            </a:avLst>
          </a:prstGeom>
          <a:solidFill>
            <a:srgbClr val="FFFFFF"/>
          </a:solidFill>
          <a:ln w="9525">
            <a:solidFill>
              <a:srgbClr val="E2E8ED"/>
            </a:solidFill>
            <a:prstDash val="solid"/>
          </a:ln>
        </p:spPr>
      </p:sp>
      <p:sp>
        <p:nvSpPr>
          <p:cNvPr id="32" name="Rectangle 31">
            <a:extLst>
              <a:ext uri="{FF2B5EF4-FFF2-40B4-BE49-F238E27FC236}">
                <a16:creationId xmlns:a16="http://schemas.microsoft.com/office/drawing/2014/main" id="{422688ED-8D99-462D-A415-33F0594EBA11}"/>
              </a:ext>
            </a:extLst>
          </p:cNvPr>
          <p:cNvSpPr>
            <a:spLocks noGrp="1"/>
          </p:cNvSpPr>
          <p:nvPr/>
        </p:nvSpPr>
        <p:spPr>
          <a:xfrm>
            <a:off x="6953250" y="3790950"/>
            <a:ext cx="2305050" cy="4000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Автоматизация</a:t>
            </a:r>
          </a:p>
        </p:txBody>
      </p:sp>
      <p:sp>
        <p:nvSpPr>
          <p:cNvPr id="33" name="Rectangle 32">
            <a:extLst>
              <a:ext uri="{FF2B5EF4-FFF2-40B4-BE49-F238E27FC236}">
                <a16:creationId xmlns:a16="http://schemas.microsoft.com/office/drawing/2014/main" id="{D77F24BA-698A-4E35-8121-64D880AB1D6D}"/>
              </a:ext>
            </a:extLst>
          </p:cNvPr>
          <p:cNvSpPr>
            <a:spLocks noGrp="1"/>
          </p:cNvSpPr>
          <p:nvPr/>
        </p:nvSpPr>
        <p:spPr>
          <a:xfrm>
            <a:off x="9296400" y="3819525"/>
            <a:ext cx="1905000" cy="361950"/>
          </a:xfrm>
          <a:prstGeom prst="rect">
            <a:avLst/>
          </a:prstGeom>
          <a:noFill/>
          <a:ln w="0">
            <a:noFill/>
            <a:prstDash val="solid"/>
          </a:ln>
        </p:spPr>
        <p:txBody>
          <a:bodyPr anchor="t"/>
          <a:lstStyle/>
          <a:p>
            <a:pPr algn="r">
              <a:defRPr sz="1125" b="0">
                <a:solidFill>
                  <a:srgbClr val="536777"/>
                </a:solidFill>
              </a:defRPr>
            </a:pPr>
            <a:r>
              <a:rPr sz="1125" b="0">
                <a:solidFill>
                  <a:srgbClr val="536777"/>
                </a:solidFill>
              </a:rPr>
              <a:t>условные платежи и расчеты</a:t>
            </a:r>
          </a:p>
        </p:txBody>
      </p:sp>
      <p:sp>
        <p:nvSpPr>
          <p:cNvPr id="34" name="Rounded Rectangle 33">
            <a:extLst>
              <a:ext uri="{FF2B5EF4-FFF2-40B4-BE49-F238E27FC236}">
                <a16:creationId xmlns:a16="http://schemas.microsoft.com/office/drawing/2014/main" id="{D60761A8-3100-42B9-8D8B-0DB26C7FE3CD}"/>
              </a:ext>
            </a:extLst>
          </p:cNvPr>
          <p:cNvSpPr>
            <a:spLocks noGrp="1"/>
          </p:cNvSpPr>
          <p:nvPr/>
        </p:nvSpPr>
        <p:spPr>
          <a:xfrm>
            <a:off x="762000" y="4572000"/>
            <a:ext cx="4667250" cy="647700"/>
          </a:xfrm>
          <a:prstGeom prst="roundRect">
            <a:avLst>
              <a:gd name="adj" fmla="val 11765"/>
            </a:avLst>
          </a:prstGeom>
          <a:solidFill>
            <a:srgbClr val="DDEBFA"/>
          </a:solidFill>
          <a:ln w="9525">
            <a:solidFill>
              <a:srgbClr val="075BCB"/>
            </a:solidFill>
            <a:prstDash val="solid"/>
          </a:ln>
        </p:spPr>
      </p:sp>
      <p:sp>
        <p:nvSpPr>
          <p:cNvPr id="35" name="Rectangle 34">
            <a:extLst>
              <a:ext uri="{FF2B5EF4-FFF2-40B4-BE49-F238E27FC236}">
                <a16:creationId xmlns:a16="http://schemas.microsoft.com/office/drawing/2014/main" id="{CDF56ABC-19BB-4C94-AFA7-B3FE851CD989}"/>
              </a:ext>
            </a:extLst>
          </p:cNvPr>
          <p:cNvSpPr>
            <a:spLocks noGrp="1"/>
          </p:cNvSpPr>
          <p:nvPr/>
        </p:nvSpPr>
        <p:spPr>
          <a:xfrm>
            <a:off x="1009650" y="4667250"/>
            <a:ext cx="2266950" cy="4000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Выпуск и занятость</a:t>
            </a:r>
          </a:p>
        </p:txBody>
      </p:sp>
      <p:sp>
        <p:nvSpPr>
          <p:cNvPr id="36" name="Rectangle 35">
            <a:extLst>
              <a:ext uri="{FF2B5EF4-FFF2-40B4-BE49-F238E27FC236}">
                <a16:creationId xmlns:a16="http://schemas.microsoft.com/office/drawing/2014/main" id="{EF64EDED-A0BA-4E49-A7E6-3F50ACB003BC}"/>
              </a:ext>
            </a:extLst>
          </p:cNvPr>
          <p:cNvSpPr>
            <a:spLocks noGrp="1"/>
          </p:cNvSpPr>
          <p:nvPr/>
        </p:nvSpPr>
        <p:spPr>
          <a:xfrm>
            <a:off x="3352800" y="4695825"/>
            <a:ext cx="1828800" cy="361950"/>
          </a:xfrm>
          <a:prstGeom prst="rect">
            <a:avLst/>
          </a:prstGeom>
          <a:noFill/>
          <a:ln w="0">
            <a:noFill/>
            <a:prstDash val="solid"/>
          </a:ln>
        </p:spPr>
        <p:txBody>
          <a:bodyPr anchor="t"/>
          <a:lstStyle/>
          <a:p>
            <a:pPr algn="r">
              <a:defRPr sz="1125" b="0">
                <a:solidFill>
                  <a:srgbClr val="536777"/>
                </a:solidFill>
              </a:defRPr>
            </a:pPr>
            <a:r>
              <a:rPr sz="1125" b="0">
                <a:solidFill>
                  <a:srgbClr val="536777"/>
                </a:solidFill>
              </a:rPr>
              <a:t>при наличии ресурсов и спроса</a:t>
            </a:r>
          </a:p>
        </p:txBody>
      </p:sp>
      <p:sp>
        <p:nvSpPr>
          <p:cNvPr id="37" name="Rounded Rectangle 36">
            <a:extLst>
              <a:ext uri="{FF2B5EF4-FFF2-40B4-BE49-F238E27FC236}">
                <a16:creationId xmlns:a16="http://schemas.microsoft.com/office/drawing/2014/main" id="{A2B00468-C6F2-4113-A976-D1E6FB65AA7B}"/>
              </a:ext>
            </a:extLst>
          </p:cNvPr>
          <p:cNvSpPr>
            <a:spLocks noGrp="1"/>
          </p:cNvSpPr>
          <p:nvPr/>
        </p:nvSpPr>
        <p:spPr>
          <a:xfrm>
            <a:off x="6705600" y="4572000"/>
            <a:ext cx="4743450" cy="647700"/>
          </a:xfrm>
          <a:prstGeom prst="roundRect">
            <a:avLst>
              <a:gd name="adj" fmla="val 11765"/>
            </a:avLst>
          </a:prstGeom>
          <a:solidFill>
            <a:srgbClr val="DDF2EF"/>
          </a:solidFill>
          <a:ln w="9525">
            <a:solidFill>
              <a:srgbClr val="008A82"/>
            </a:solidFill>
            <a:prstDash val="solid"/>
          </a:ln>
        </p:spPr>
      </p:sp>
      <p:sp>
        <p:nvSpPr>
          <p:cNvPr id="38" name="Rectangle 37">
            <a:extLst>
              <a:ext uri="{FF2B5EF4-FFF2-40B4-BE49-F238E27FC236}">
                <a16:creationId xmlns:a16="http://schemas.microsoft.com/office/drawing/2014/main" id="{4CB21B77-CA22-41B8-997B-D453BEF3812D}"/>
              </a:ext>
            </a:extLst>
          </p:cNvPr>
          <p:cNvSpPr>
            <a:spLocks noGrp="1"/>
          </p:cNvSpPr>
          <p:nvPr/>
        </p:nvSpPr>
        <p:spPr>
          <a:xfrm>
            <a:off x="6953250" y="4667250"/>
            <a:ext cx="2305050" cy="4000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Производительность</a:t>
            </a:r>
          </a:p>
        </p:txBody>
      </p:sp>
      <p:sp>
        <p:nvSpPr>
          <p:cNvPr id="39" name="Rectangle 38">
            <a:extLst>
              <a:ext uri="{FF2B5EF4-FFF2-40B4-BE49-F238E27FC236}">
                <a16:creationId xmlns:a16="http://schemas.microsoft.com/office/drawing/2014/main" id="{360DC819-A8B5-4E2E-83BC-7D35894BD565}"/>
              </a:ext>
            </a:extLst>
          </p:cNvPr>
          <p:cNvSpPr>
            <a:spLocks noGrp="1"/>
          </p:cNvSpPr>
          <p:nvPr/>
        </p:nvSpPr>
        <p:spPr>
          <a:xfrm>
            <a:off x="9296400" y="4695825"/>
            <a:ext cx="1905000" cy="361950"/>
          </a:xfrm>
          <a:prstGeom prst="rect">
            <a:avLst/>
          </a:prstGeom>
          <a:noFill/>
          <a:ln w="0">
            <a:noFill/>
            <a:prstDash val="solid"/>
          </a:ln>
        </p:spPr>
        <p:txBody>
          <a:bodyPr anchor="t"/>
          <a:lstStyle/>
          <a:p>
            <a:pPr algn="r">
              <a:defRPr sz="1125" b="0">
                <a:solidFill>
                  <a:srgbClr val="536777"/>
                </a:solidFill>
              </a:defRPr>
            </a:pPr>
            <a:r>
              <a:rPr sz="1125" b="0">
                <a:solidFill>
                  <a:srgbClr val="536777"/>
                </a:solidFill>
              </a:rPr>
              <a:t>возможный косвенный эффект</a:t>
            </a:r>
          </a:p>
        </p:txBody>
      </p:sp>
      <p:sp>
        <p:nvSpPr>
          <p:cNvPr id="40" name="Rounded Rectangle 39">
            <a:extLst>
              <a:ext uri="{FF2B5EF4-FFF2-40B4-BE49-F238E27FC236}">
                <a16:creationId xmlns:a16="http://schemas.microsoft.com/office/drawing/2014/main" id="{12F750E3-B853-41A4-96E0-B0EBFCC69CE3}"/>
              </a:ext>
            </a:extLst>
          </p:cNvPr>
          <p:cNvSpPr>
            <a:spLocks noGrp="1"/>
          </p:cNvSpPr>
          <p:nvPr/>
        </p:nvSpPr>
        <p:spPr>
          <a:xfrm>
            <a:off x="762000" y="5429250"/>
            <a:ext cx="10687050" cy="304800"/>
          </a:xfrm>
          <a:prstGeom prst="roundRect">
            <a:avLst>
              <a:gd name="adj" fmla="val 18750"/>
            </a:avLst>
          </a:prstGeom>
          <a:solidFill>
            <a:srgbClr val="FBE4E6"/>
          </a:solidFill>
          <a:ln w="9525">
            <a:solidFill>
              <a:srgbClr val="FBE4E6"/>
            </a:solidFill>
            <a:prstDash val="solid"/>
          </a:ln>
        </p:spPr>
      </p:sp>
      <p:sp>
        <p:nvSpPr>
          <p:cNvPr id="41" name="Rectangle 40">
            <a:extLst>
              <a:ext uri="{FF2B5EF4-FFF2-40B4-BE49-F238E27FC236}">
                <a16:creationId xmlns:a16="http://schemas.microsoft.com/office/drawing/2014/main" id="{37FF3963-D287-4492-BC71-A6A98F9E33A5}"/>
              </a:ext>
            </a:extLst>
          </p:cNvPr>
          <p:cNvSpPr>
            <a:spLocks noGrp="1"/>
          </p:cNvSpPr>
          <p:nvPr/>
        </p:nvSpPr>
        <p:spPr>
          <a:xfrm>
            <a:off x="914400" y="5495925"/>
            <a:ext cx="10382250" cy="190500"/>
          </a:xfrm>
          <a:prstGeom prst="rect">
            <a:avLst/>
          </a:prstGeom>
          <a:noFill/>
          <a:ln w="0">
            <a:noFill/>
            <a:prstDash val="solid"/>
          </a:ln>
        </p:spPr>
        <p:txBody>
          <a:bodyPr anchor="t"/>
          <a:lstStyle/>
          <a:p>
            <a:pPr algn="ctr">
              <a:defRPr sz="1200" b="1">
                <a:solidFill>
                  <a:srgbClr val="C64A52"/>
                </a:solidFill>
              </a:defRPr>
            </a:pPr>
            <a:r>
              <a:rPr sz="1200" b="1">
                <a:solidFill>
                  <a:srgbClr val="C64A52"/>
                </a:solidFill>
              </a:rPr>
              <a:t>Обратный канал: устойчивый отток депозитов → дороже фондирование банков → потенциально дороже кредит.</a:t>
            </a:r>
          </a:p>
        </p:txBody>
      </p:sp>
      <p:sp>
        <p:nvSpPr>
          <p:cNvPr id="42" name="Rounded Rectangle 41">
            <a:extLst>
              <a:ext uri="{FF2B5EF4-FFF2-40B4-BE49-F238E27FC236}">
                <a16:creationId xmlns:a16="http://schemas.microsoft.com/office/drawing/2014/main" id="{2D6FB97F-2C91-4E3C-914D-CC07A5B7989C}"/>
              </a:ext>
            </a:extLst>
          </p:cNvPr>
          <p:cNvSpPr>
            <a:spLocks noGrp="1"/>
          </p:cNvSpPr>
          <p:nvPr/>
        </p:nvSpPr>
        <p:spPr>
          <a:xfrm>
            <a:off x="609600" y="5791200"/>
            <a:ext cx="10972800" cy="590550"/>
          </a:xfrm>
          <a:prstGeom prst="roundRect">
            <a:avLst>
              <a:gd name="adj" fmla="val 9677"/>
            </a:avLst>
          </a:prstGeom>
          <a:solidFill>
            <a:srgbClr val="DDF2EF"/>
          </a:solidFill>
          <a:ln w="9525">
            <a:solidFill>
              <a:srgbClr val="DDF2EF"/>
            </a:solidFill>
            <a:prstDash val="solid"/>
          </a:ln>
        </p:spPr>
      </p:sp>
      <p:sp>
        <p:nvSpPr>
          <p:cNvPr id="43" name="Rounded Rectangle 42">
            <a:extLst>
              <a:ext uri="{FF2B5EF4-FFF2-40B4-BE49-F238E27FC236}">
                <a16:creationId xmlns:a16="http://schemas.microsoft.com/office/drawing/2014/main" id="{7115B9BC-7C0C-4BA3-B3F1-909E323043CF}"/>
              </a:ext>
            </a:extLst>
          </p:cNvPr>
          <p:cNvSpPr>
            <a:spLocks noGrp="1"/>
          </p:cNvSpPr>
          <p:nvPr/>
        </p:nvSpPr>
        <p:spPr>
          <a:xfrm>
            <a:off x="609600" y="5791200"/>
            <a:ext cx="66675" cy="590550"/>
          </a:xfrm>
          <a:prstGeom prst="roundRect">
            <a:avLst>
              <a:gd name="adj" fmla="val 50000"/>
            </a:avLst>
          </a:prstGeom>
          <a:solidFill>
            <a:srgbClr val="008A82"/>
          </a:solidFill>
          <a:ln w="9525">
            <a:solidFill>
              <a:srgbClr val="008A82"/>
            </a:solidFill>
            <a:prstDash val="solid"/>
          </a:ln>
        </p:spPr>
      </p:sp>
      <p:sp>
        <p:nvSpPr>
          <p:cNvPr id="44" name="Rectangle 43">
            <a:extLst>
              <a:ext uri="{FF2B5EF4-FFF2-40B4-BE49-F238E27FC236}">
                <a16:creationId xmlns:a16="http://schemas.microsoft.com/office/drawing/2014/main" id="{4B04785F-2C86-439E-BB0F-AE202C7E7F43}"/>
              </a:ext>
            </a:extLst>
          </p:cNvPr>
          <p:cNvSpPr>
            <a:spLocks noGrp="1"/>
          </p:cNvSpPr>
          <p:nvPr/>
        </p:nvSpPr>
        <p:spPr>
          <a:xfrm>
            <a:off x="838200" y="5924550"/>
            <a:ext cx="10477500" cy="323850"/>
          </a:xfrm>
          <a:prstGeom prst="rect">
            <a:avLst/>
          </a:prstGeom>
          <a:noFill/>
          <a:ln w="0">
            <a:noFill/>
            <a:prstDash val="solid"/>
          </a:ln>
        </p:spPr>
        <p:txBody>
          <a:bodyPr anchor="ctr"/>
          <a:lstStyle/>
          <a:p>
            <a:pPr algn="l">
              <a:defRPr sz="1500" b="1">
                <a:solidFill>
                  <a:srgbClr val="008A82"/>
                </a:solidFill>
              </a:defRPr>
            </a:pPr>
            <a:r>
              <a:rPr sz="1500" b="1">
                <a:solidFill>
                  <a:srgbClr val="008A82"/>
                </a:solidFill>
              </a:rPr>
              <a:t>Оценивать цифровой рубль нужно по снижению трения в расчетах — и по цене возможного оттока банковских депозитов.</a:t>
            </a:r>
          </a:p>
        </p:txBody>
      </p:sp>
    </p:spTree>
    <p:extLst>
      <p:ext uri="{BB962C8B-B14F-4D97-AF65-F5344CB8AC3E}">
        <p14:creationId xmlns:p14="http://schemas.microsoft.com/office/powerpoint/2010/main" val="1497341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50" name="Rounded Rectangle 49">
            <a:extLst>
              <a:ext uri="{FF2B5EF4-FFF2-40B4-BE49-F238E27FC236}">
                <a16:creationId xmlns:a16="http://schemas.microsoft.com/office/drawing/2014/main" id="{53E0443E-6751-44E0-A982-DF822A28CA1F}"/>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CB84FC0B-E6D2-4531-A315-932364A53D0D}"/>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7">
            <a:extLst>
              <a:ext uri="{FF2B5EF4-FFF2-40B4-BE49-F238E27FC236}">
                <a16:creationId xmlns:a16="http://schemas.microsoft.com/office/drawing/2014/main" id="{342F63F8-88EE-47FB-8505-1FA0520D0A1D}"/>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6. ПРОСЛЕЖИВАЕМОСТЬ И КОНТРОЛЬ</a:t>
            </a:r>
          </a:p>
        </p:txBody>
      </p:sp>
      <p:sp>
        <p:nvSpPr>
          <p:cNvPr id="4" name="title-7">
            <a:extLst>
              <a:ext uri="{FF2B5EF4-FFF2-40B4-BE49-F238E27FC236}">
                <a16:creationId xmlns:a16="http://schemas.microsoft.com/office/drawing/2014/main" id="{5EA56B7F-8271-496E-B317-4C85D134D039}"/>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Чем ближе деньги к единому реестру, тем точнее их можно проследить и ограничить</a:t>
            </a:r>
          </a:p>
        </p:txBody>
      </p:sp>
      <p:sp>
        <p:nvSpPr>
          <p:cNvPr id="5" name="Straight Connector 4">
            <a:extLst>
              <a:ext uri="{FF2B5EF4-FFF2-40B4-BE49-F238E27FC236}">
                <a16:creationId xmlns:a16="http://schemas.microsoft.com/office/drawing/2014/main" id="{D15641F8-23A2-4E74-97AA-4130BD5C6582}"/>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AFB5726D-367E-4B82-8CB7-FDAABEE51CC1}"/>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F4BCBD13-398E-4A99-A9DB-4AE0CD38215B}"/>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07</a:t>
            </a:r>
          </a:p>
        </p:txBody>
      </p:sp>
      <p:sp>
        <p:nvSpPr>
          <p:cNvPr id="8" name="Straight Connector 7">
            <a:extLst>
              <a:ext uri="{FF2B5EF4-FFF2-40B4-BE49-F238E27FC236}">
                <a16:creationId xmlns:a16="http://schemas.microsoft.com/office/drawing/2014/main" id="{405FDCCE-1CEC-402E-BB55-784D8681717D}"/>
              </a:ext>
            </a:extLst>
          </p:cNvPr>
          <p:cNvSpPr>
            <a:spLocks noGrp="1"/>
          </p:cNvSpPr>
          <p:nvPr/>
        </p:nvSpPr>
        <p:spPr>
          <a:xfrm>
            <a:off x="609600" y="2152650"/>
            <a:ext cx="10839450" cy="0"/>
          </a:xfrm>
          <a:prstGeom prst="line">
            <a:avLst/>
          </a:prstGeom>
          <a:noFill/>
          <a:ln w="9525">
            <a:solidFill>
              <a:srgbClr val="E2E8ED"/>
            </a:solidFill>
            <a:prstDash val="solid"/>
          </a:ln>
        </p:spPr>
      </p:sp>
      <p:sp>
        <p:nvSpPr>
          <p:cNvPr id="9" name="Straight Connector 8">
            <a:extLst>
              <a:ext uri="{FF2B5EF4-FFF2-40B4-BE49-F238E27FC236}">
                <a16:creationId xmlns:a16="http://schemas.microsoft.com/office/drawing/2014/main" id="{1F62FD9D-D79A-4638-A20C-7A42188591B4}"/>
              </a:ext>
            </a:extLst>
          </p:cNvPr>
          <p:cNvSpPr>
            <a:spLocks noGrp="1"/>
          </p:cNvSpPr>
          <p:nvPr/>
        </p:nvSpPr>
        <p:spPr>
          <a:xfrm>
            <a:off x="609600" y="2781300"/>
            <a:ext cx="10839450" cy="0"/>
          </a:xfrm>
          <a:prstGeom prst="line">
            <a:avLst/>
          </a:prstGeom>
          <a:noFill/>
          <a:ln w="9525">
            <a:solidFill>
              <a:srgbClr val="E2E8ED"/>
            </a:solidFill>
            <a:prstDash val="solid"/>
          </a:ln>
        </p:spPr>
      </p:sp>
      <p:sp>
        <p:nvSpPr>
          <p:cNvPr id="10" name="Straight Connector 9">
            <a:extLst>
              <a:ext uri="{FF2B5EF4-FFF2-40B4-BE49-F238E27FC236}">
                <a16:creationId xmlns:a16="http://schemas.microsoft.com/office/drawing/2014/main" id="{33329E51-D72A-43FA-8C4F-907887E773B7}"/>
              </a:ext>
            </a:extLst>
          </p:cNvPr>
          <p:cNvSpPr>
            <a:spLocks noGrp="1"/>
          </p:cNvSpPr>
          <p:nvPr/>
        </p:nvSpPr>
        <p:spPr>
          <a:xfrm>
            <a:off x="609600" y="3409950"/>
            <a:ext cx="10839450" cy="0"/>
          </a:xfrm>
          <a:prstGeom prst="line">
            <a:avLst/>
          </a:prstGeom>
          <a:noFill/>
          <a:ln w="9525">
            <a:solidFill>
              <a:srgbClr val="E2E8ED"/>
            </a:solidFill>
            <a:prstDash val="solid"/>
          </a:ln>
        </p:spPr>
      </p:sp>
      <p:sp>
        <p:nvSpPr>
          <p:cNvPr id="11" name="Straight Connector 10">
            <a:extLst>
              <a:ext uri="{FF2B5EF4-FFF2-40B4-BE49-F238E27FC236}">
                <a16:creationId xmlns:a16="http://schemas.microsoft.com/office/drawing/2014/main" id="{352DD2C4-6C77-4C90-AD0E-BF4546091E8D}"/>
              </a:ext>
            </a:extLst>
          </p:cNvPr>
          <p:cNvSpPr>
            <a:spLocks noGrp="1"/>
          </p:cNvSpPr>
          <p:nvPr/>
        </p:nvSpPr>
        <p:spPr>
          <a:xfrm>
            <a:off x="609600" y="4038600"/>
            <a:ext cx="10839450" cy="0"/>
          </a:xfrm>
          <a:prstGeom prst="line">
            <a:avLst/>
          </a:prstGeom>
          <a:noFill/>
          <a:ln w="9525">
            <a:solidFill>
              <a:srgbClr val="E2E8ED"/>
            </a:solidFill>
            <a:prstDash val="solid"/>
          </a:ln>
        </p:spPr>
      </p:sp>
      <p:sp>
        <p:nvSpPr>
          <p:cNvPr id="12" name="Straight Connector 11">
            <a:extLst>
              <a:ext uri="{FF2B5EF4-FFF2-40B4-BE49-F238E27FC236}">
                <a16:creationId xmlns:a16="http://schemas.microsoft.com/office/drawing/2014/main" id="{E9097B21-9598-4EC8-AC48-12B8B1D63E20}"/>
              </a:ext>
            </a:extLst>
          </p:cNvPr>
          <p:cNvSpPr>
            <a:spLocks noGrp="1"/>
          </p:cNvSpPr>
          <p:nvPr/>
        </p:nvSpPr>
        <p:spPr>
          <a:xfrm>
            <a:off x="609600" y="4667250"/>
            <a:ext cx="10839450" cy="0"/>
          </a:xfrm>
          <a:prstGeom prst="line">
            <a:avLst/>
          </a:prstGeom>
          <a:noFill/>
          <a:ln w="9525">
            <a:solidFill>
              <a:srgbClr val="E2E8ED"/>
            </a:solidFill>
            <a:prstDash val="solid"/>
          </a:ln>
        </p:spPr>
      </p:sp>
      <p:sp>
        <p:nvSpPr>
          <p:cNvPr id="13" name="Straight Connector 12">
            <a:extLst>
              <a:ext uri="{FF2B5EF4-FFF2-40B4-BE49-F238E27FC236}">
                <a16:creationId xmlns:a16="http://schemas.microsoft.com/office/drawing/2014/main" id="{0AB5A11F-915B-4008-A5D0-EC531D94E8EC}"/>
              </a:ext>
            </a:extLst>
          </p:cNvPr>
          <p:cNvSpPr>
            <a:spLocks noGrp="1"/>
          </p:cNvSpPr>
          <p:nvPr/>
        </p:nvSpPr>
        <p:spPr>
          <a:xfrm>
            <a:off x="609600" y="5295900"/>
            <a:ext cx="10839450" cy="0"/>
          </a:xfrm>
          <a:prstGeom prst="line">
            <a:avLst/>
          </a:prstGeom>
          <a:noFill/>
          <a:ln w="9525">
            <a:solidFill>
              <a:srgbClr val="E2E8ED"/>
            </a:solidFill>
            <a:prstDash val="solid"/>
          </a:ln>
        </p:spPr>
      </p:sp>
      <p:sp>
        <p:nvSpPr>
          <p:cNvPr id="14" name="Straight Connector 13">
            <a:extLst>
              <a:ext uri="{FF2B5EF4-FFF2-40B4-BE49-F238E27FC236}">
                <a16:creationId xmlns:a16="http://schemas.microsoft.com/office/drawing/2014/main" id="{C88426EE-AB08-4D3E-B4C7-01AFE01D6897}"/>
              </a:ext>
            </a:extLst>
          </p:cNvPr>
          <p:cNvSpPr>
            <a:spLocks noGrp="1"/>
          </p:cNvSpPr>
          <p:nvPr/>
        </p:nvSpPr>
        <p:spPr>
          <a:xfrm>
            <a:off x="2705100" y="1638300"/>
            <a:ext cx="0" cy="3657600"/>
          </a:xfrm>
          <a:prstGeom prst="line">
            <a:avLst/>
          </a:prstGeom>
          <a:noFill/>
          <a:ln w="9525">
            <a:solidFill>
              <a:srgbClr val="E2E8ED"/>
            </a:solidFill>
            <a:prstDash val="solid"/>
          </a:ln>
        </p:spPr>
      </p:sp>
      <p:sp>
        <p:nvSpPr>
          <p:cNvPr id="15" name="Straight Connector 14">
            <a:extLst>
              <a:ext uri="{FF2B5EF4-FFF2-40B4-BE49-F238E27FC236}">
                <a16:creationId xmlns:a16="http://schemas.microsoft.com/office/drawing/2014/main" id="{3201034D-F503-480A-AC95-5ED763F065BB}"/>
              </a:ext>
            </a:extLst>
          </p:cNvPr>
          <p:cNvSpPr>
            <a:spLocks noGrp="1"/>
          </p:cNvSpPr>
          <p:nvPr/>
        </p:nvSpPr>
        <p:spPr>
          <a:xfrm>
            <a:off x="5486400" y="1638300"/>
            <a:ext cx="0" cy="3657600"/>
          </a:xfrm>
          <a:prstGeom prst="line">
            <a:avLst/>
          </a:prstGeom>
          <a:noFill/>
          <a:ln w="9525">
            <a:solidFill>
              <a:srgbClr val="E2E8ED"/>
            </a:solidFill>
            <a:prstDash val="solid"/>
          </a:ln>
        </p:spPr>
      </p:sp>
      <p:sp>
        <p:nvSpPr>
          <p:cNvPr id="16" name="Straight Connector 15">
            <a:extLst>
              <a:ext uri="{FF2B5EF4-FFF2-40B4-BE49-F238E27FC236}">
                <a16:creationId xmlns:a16="http://schemas.microsoft.com/office/drawing/2014/main" id="{6687A751-EFD4-4682-B591-6F80625148FE}"/>
              </a:ext>
            </a:extLst>
          </p:cNvPr>
          <p:cNvSpPr>
            <a:spLocks noGrp="1"/>
          </p:cNvSpPr>
          <p:nvPr/>
        </p:nvSpPr>
        <p:spPr>
          <a:xfrm>
            <a:off x="8267700" y="1638300"/>
            <a:ext cx="0" cy="3657600"/>
          </a:xfrm>
          <a:prstGeom prst="line">
            <a:avLst/>
          </a:prstGeom>
          <a:noFill/>
          <a:ln w="9525">
            <a:solidFill>
              <a:srgbClr val="E2E8ED"/>
            </a:solidFill>
            <a:prstDash val="solid"/>
          </a:ln>
        </p:spPr>
      </p:sp>
      <p:sp>
        <p:nvSpPr>
          <p:cNvPr id="17" name="Straight Connector 16">
            <a:extLst>
              <a:ext uri="{FF2B5EF4-FFF2-40B4-BE49-F238E27FC236}">
                <a16:creationId xmlns:a16="http://schemas.microsoft.com/office/drawing/2014/main" id="{A6A06C5A-6EEF-45A4-A8B7-A7179B4AAB49}"/>
              </a:ext>
            </a:extLst>
          </p:cNvPr>
          <p:cNvSpPr>
            <a:spLocks noGrp="1"/>
          </p:cNvSpPr>
          <p:nvPr/>
        </p:nvSpPr>
        <p:spPr>
          <a:xfrm>
            <a:off x="11049000" y="1638300"/>
            <a:ext cx="0" cy="3657600"/>
          </a:xfrm>
          <a:prstGeom prst="line">
            <a:avLst/>
          </a:prstGeom>
          <a:noFill/>
          <a:ln w="9525">
            <a:solidFill>
              <a:srgbClr val="E2E8ED"/>
            </a:solidFill>
            <a:prstDash val="solid"/>
          </a:ln>
        </p:spPr>
      </p:sp>
      <p:sp>
        <p:nvSpPr>
          <p:cNvPr id="18" name="Rectangle 17">
            <a:extLst>
              <a:ext uri="{FF2B5EF4-FFF2-40B4-BE49-F238E27FC236}">
                <a16:creationId xmlns:a16="http://schemas.microsoft.com/office/drawing/2014/main" id="{077E3ADA-7C8A-4A50-92B3-CFA0F39B2F9A}"/>
              </a:ext>
            </a:extLst>
          </p:cNvPr>
          <p:cNvSpPr>
            <a:spLocks noGrp="1"/>
          </p:cNvSpPr>
          <p:nvPr/>
        </p:nvSpPr>
        <p:spPr>
          <a:xfrm>
            <a:off x="723900" y="1762125"/>
            <a:ext cx="1714500" cy="209550"/>
          </a:xfrm>
          <a:prstGeom prst="rect">
            <a:avLst/>
          </a:prstGeom>
          <a:noFill/>
          <a:ln w="0">
            <a:noFill/>
            <a:prstDash val="solid"/>
          </a:ln>
        </p:spPr>
        <p:txBody>
          <a:bodyPr anchor="t"/>
          <a:lstStyle/>
          <a:p>
            <a:pPr algn="l">
              <a:defRPr sz="975" b="1">
                <a:solidFill>
                  <a:srgbClr val="7A8B99"/>
                </a:solidFill>
              </a:defRPr>
            </a:pPr>
            <a:r>
              <a:rPr sz="975" b="1">
                <a:solidFill>
                  <a:srgbClr val="7A8B99"/>
                </a:solidFill>
              </a:rPr>
              <a:t>КРИТЕРИЙ</a:t>
            </a:r>
          </a:p>
        </p:txBody>
      </p:sp>
      <p:sp>
        <p:nvSpPr>
          <p:cNvPr id="19" name="Rounded Rectangle 18">
            <a:extLst>
              <a:ext uri="{FF2B5EF4-FFF2-40B4-BE49-F238E27FC236}">
                <a16:creationId xmlns:a16="http://schemas.microsoft.com/office/drawing/2014/main" id="{DF22E333-CB81-4405-9CCF-65532309AC69}"/>
              </a:ext>
            </a:extLst>
          </p:cNvPr>
          <p:cNvSpPr>
            <a:spLocks noGrp="1"/>
          </p:cNvSpPr>
          <p:nvPr/>
        </p:nvSpPr>
        <p:spPr>
          <a:xfrm>
            <a:off x="2800350" y="1600200"/>
            <a:ext cx="2590800" cy="438150"/>
          </a:xfrm>
          <a:prstGeom prst="roundRect">
            <a:avLst>
              <a:gd name="adj" fmla="val 13043"/>
            </a:avLst>
          </a:prstGeom>
          <a:solidFill>
            <a:srgbClr val="EEF2F5"/>
          </a:solidFill>
          <a:ln w="9525">
            <a:solidFill>
              <a:srgbClr val="EEF2F5"/>
            </a:solidFill>
            <a:prstDash val="solid"/>
          </a:ln>
        </p:spPr>
      </p:sp>
      <p:sp>
        <p:nvSpPr>
          <p:cNvPr id="20" name="Rectangle 19">
            <a:extLst>
              <a:ext uri="{FF2B5EF4-FFF2-40B4-BE49-F238E27FC236}">
                <a16:creationId xmlns:a16="http://schemas.microsoft.com/office/drawing/2014/main" id="{0DA0CD83-9F85-436B-97EB-06A97C010D11}"/>
              </a:ext>
            </a:extLst>
          </p:cNvPr>
          <p:cNvSpPr>
            <a:spLocks noGrp="1"/>
          </p:cNvSpPr>
          <p:nvPr/>
        </p:nvSpPr>
        <p:spPr>
          <a:xfrm>
            <a:off x="2895600" y="1704975"/>
            <a:ext cx="2400300" cy="238125"/>
          </a:xfrm>
          <a:prstGeom prst="rect">
            <a:avLst/>
          </a:prstGeom>
          <a:noFill/>
          <a:ln w="0">
            <a:noFill/>
            <a:prstDash val="solid"/>
          </a:ln>
        </p:spPr>
        <p:txBody>
          <a:bodyPr anchor="t"/>
          <a:lstStyle/>
          <a:p>
            <a:pPr algn="ctr">
              <a:defRPr sz="1350" b="1">
                <a:solidFill>
                  <a:srgbClr val="536777"/>
                </a:solidFill>
              </a:defRPr>
            </a:pPr>
            <a:r>
              <a:rPr sz="1350" b="1">
                <a:solidFill>
                  <a:srgbClr val="536777"/>
                </a:solidFill>
              </a:rPr>
              <a:t>Наличные</a:t>
            </a:r>
          </a:p>
        </p:txBody>
      </p:sp>
      <p:sp>
        <p:nvSpPr>
          <p:cNvPr id="21" name="Rounded Rectangle 20">
            <a:extLst>
              <a:ext uri="{FF2B5EF4-FFF2-40B4-BE49-F238E27FC236}">
                <a16:creationId xmlns:a16="http://schemas.microsoft.com/office/drawing/2014/main" id="{C47D89B2-2FE9-472C-9262-D0C5F8A1E5FA}"/>
              </a:ext>
            </a:extLst>
          </p:cNvPr>
          <p:cNvSpPr>
            <a:spLocks noGrp="1"/>
          </p:cNvSpPr>
          <p:nvPr/>
        </p:nvSpPr>
        <p:spPr>
          <a:xfrm>
            <a:off x="5581650" y="1600200"/>
            <a:ext cx="2590800" cy="438150"/>
          </a:xfrm>
          <a:prstGeom prst="roundRect">
            <a:avLst>
              <a:gd name="adj" fmla="val 13043"/>
            </a:avLst>
          </a:prstGeom>
          <a:solidFill>
            <a:srgbClr val="DDEBFA"/>
          </a:solidFill>
          <a:ln w="9525">
            <a:solidFill>
              <a:srgbClr val="DDEBFA"/>
            </a:solidFill>
            <a:prstDash val="solid"/>
          </a:ln>
        </p:spPr>
      </p:sp>
      <p:sp>
        <p:nvSpPr>
          <p:cNvPr id="22" name="Rectangle 21">
            <a:extLst>
              <a:ext uri="{FF2B5EF4-FFF2-40B4-BE49-F238E27FC236}">
                <a16:creationId xmlns:a16="http://schemas.microsoft.com/office/drawing/2014/main" id="{28E61C58-FA4A-47E3-B8FD-9BC2F7D13CA8}"/>
              </a:ext>
            </a:extLst>
          </p:cNvPr>
          <p:cNvSpPr>
            <a:spLocks noGrp="1"/>
          </p:cNvSpPr>
          <p:nvPr/>
        </p:nvSpPr>
        <p:spPr>
          <a:xfrm>
            <a:off x="5676900" y="1704975"/>
            <a:ext cx="2400300" cy="238125"/>
          </a:xfrm>
          <a:prstGeom prst="rect">
            <a:avLst/>
          </a:prstGeom>
          <a:noFill/>
          <a:ln w="0">
            <a:noFill/>
            <a:prstDash val="solid"/>
          </a:ln>
        </p:spPr>
        <p:txBody>
          <a:bodyPr anchor="t"/>
          <a:lstStyle/>
          <a:p>
            <a:pPr algn="ctr">
              <a:defRPr sz="1350" b="1">
                <a:solidFill>
                  <a:srgbClr val="075BCB"/>
                </a:solidFill>
              </a:defRPr>
            </a:pPr>
            <a:r>
              <a:rPr sz="1350" b="1">
                <a:solidFill>
                  <a:srgbClr val="075BCB"/>
                </a:solidFill>
              </a:rPr>
              <a:t>Безналичные</a:t>
            </a:r>
          </a:p>
        </p:txBody>
      </p:sp>
      <p:sp>
        <p:nvSpPr>
          <p:cNvPr id="23" name="Rounded Rectangle 22">
            <a:extLst>
              <a:ext uri="{FF2B5EF4-FFF2-40B4-BE49-F238E27FC236}">
                <a16:creationId xmlns:a16="http://schemas.microsoft.com/office/drawing/2014/main" id="{F7C30908-DBD5-4BD3-ADCD-E68CC5005632}"/>
              </a:ext>
            </a:extLst>
          </p:cNvPr>
          <p:cNvSpPr>
            <a:spLocks noGrp="1"/>
          </p:cNvSpPr>
          <p:nvPr/>
        </p:nvSpPr>
        <p:spPr>
          <a:xfrm>
            <a:off x="8362950" y="1600200"/>
            <a:ext cx="2590800" cy="438150"/>
          </a:xfrm>
          <a:prstGeom prst="roundRect">
            <a:avLst>
              <a:gd name="adj" fmla="val 13043"/>
            </a:avLst>
          </a:prstGeom>
          <a:solidFill>
            <a:srgbClr val="DDF2EF"/>
          </a:solidFill>
          <a:ln w="9525">
            <a:solidFill>
              <a:srgbClr val="DDF2EF"/>
            </a:solidFill>
            <a:prstDash val="solid"/>
          </a:ln>
        </p:spPr>
      </p:sp>
      <p:sp>
        <p:nvSpPr>
          <p:cNvPr id="24" name="Rectangle 23">
            <a:extLst>
              <a:ext uri="{FF2B5EF4-FFF2-40B4-BE49-F238E27FC236}">
                <a16:creationId xmlns:a16="http://schemas.microsoft.com/office/drawing/2014/main" id="{086F66A0-8265-43FA-9E83-24F71C9C0BE2}"/>
              </a:ext>
            </a:extLst>
          </p:cNvPr>
          <p:cNvSpPr>
            <a:spLocks noGrp="1"/>
          </p:cNvSpPr>
          <p:nvPr/>
        </p:nvSpPr>
        <p:spPr>
          <a:xfrm>
            <a:off x="8458200" y="1704975"/>
            <a:ext cx="2400300" cy="238125"/>
          </a:xfrm>
          <a:prstGeom prst="rect">
            <a:avLst/>
          </a:prstGeom>
          <a:noFill/>
          <a:ln w="0">
            <a:noFill/>
            <a:prstDash val="solid"/>
          </a:ln>
        </p:spPr>
        <p:txBody>
          <a:bodyPr anchor="t"/>
          <a:lstStyle/>
          <a:p>
            <a:pPr algn="ctr">
              <a:defRPr sz="1350" b="1">
                <a:solidFill>
                  <a:srgbClr val="008A82"/>
                </a:solidFill>
              </a:defRPr>
            </a:pPr>
            <a:r>
              <a:rPr sz="1350" b="1">
                <a:solidFill>
                  <a:srgbClr val="008A82"/>
                </a:solidFill>
              </a:rPr>
              <a:t>Цифровой рубль</a:t>
            </a:r>
          </a:p>
        </p:txBody>
      </p:sp>
      <p:sp>
        <p:nvSpPr>
          <p:cNvPr id="25" name="Rectangle 24">
            <a:extLst>
              <a:ext uri="{FF2B5EF4-FFF2-40B4-BE49-F238E27FC236}">
                <a16:creationId xmlns:a16="http://schemas.microsoft.com/office/drawing/2014/main" id="{544F5156-AB09-4DF0-9C72-FADBC7206370}"/>
              </a:ext>
            </a:extLst>
          </p:cNvPr>
          <p:cNvSpPr>
            <a:spLocks noGrp="1"/>
          </p:cNvSpPr>
          <p:nvPr/>
        </p:nvSpPr>
        <p:spPr>
          <a:xfrm>
            <a:off x="723900" y="2352675"/>
            <a:ext cx="1790700" cy="400050"/>
          </a:xfrm>
          <a:prstGeom prst="rect">
            <a:avLst/>
          </a:prstGeom>
          <a:noFill/>
          <a:ln w="0">
            <a:noFill/>
            <a:prstDash val="solid"/>
          </a:ln>
        </p:spPr>
        <p:txBody>
          <a:bodyPr anchor="ctr"/>
          <a:lstStyle/>
          <a:p>
            <a:pPr algn="l">
              <a:defRPr sz="1200" b="1">
                <a:solidFill>
                  <a:srgbClr val="263746"/>
                </a:solidFill>
              </a:defRPr>
            </a:pPr>
            <a:r>
              <a:rPr sz="1200" b="1">
                <a:solidFill>
                  <a:srgbClr val="263746"/>
                </a:solidFill>
              </a:rPr>
              <a:t>Запись операции</a:t>
            </a:r>
          </a:p>
        </p:txBody>
      </p:sp>
      <p:sp>
        <p:nvSpPr>
          <p:cNvPr id="26" name="Rectangle 25">
            <a:extLst>
              <a:ext uri="{FF2B5EF4-FFF2-40B4-BE49-F238E27FC236}">
                <a16:creationId xmlns:a16="http://schemas.microsoft.com/office/drawing/2014/main" id="{2180522A-BE6A-4B70-A545-86E678E11174}"/>
              </a:ext>
            </a:extLst>
          </p:cNvPr>
          <p:cNvSpPr>
            <a:spLocks noGrp="1"/>
          </p:cNvSpPr>
          <p:nvPr/>
        </p:nvSpPr>
        <p:spPr>
          <a:xfrm>
            <a:off x="2876550" y="235267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Обычно нет</a:t>
            </a:r>
          </a:p>
        </p:txBody>
      </p:sp>
      <p:sp>
        <p:nvSpPr>
          <p:cNvPr id="27" name="Rectangle 26">
            <a:extLst>
              <a:ext uri="{FF2B5EF4-FFF2-40B4-BE49-F238E27FC236}">
                <a16:creationId xmlns:a16="http://schemas.microsoft.com/office/drawing/2014/main" id="{1B11E480-369F-4C9D-9D43-E1A374C8CDA9}"/>
              </a:ext>
            </a:extLst>
          </p:cNvPr>
          <p:cNvSpPr>
            <a:spLocks noGrp="1"/>
          </p:cNvSpPr>
          <p:nvPr/>
        </p:nvSpPr>
        <p:spPr>
          <a:xfrm>
            <a:off x="5657850" y="235267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Есть</a:t>
            </a:r>
          </a:p>
        </p:txBody>
      </p:sp>
      <p:sp>
        <p:nvSpPr>
          <p:cNvPr id="28" name="Rectangle 27">
            <a:extLst>
              <a:ext uri="{FF2B5EF4-FFF2-40B4-BE49-F238E27FC236}">
                <a16:creationId xmlns:a16="http://schemas.microsoft.com/office/drawing/2014/main" id="{FAF681D5-5799-450F-90F2-C69BF3CDB29C}"/>
              </a:ext>
            </a:extLst>
          </p:cNvPr>
          <p:cNvSpPr>
            <a:spLocks noGrp="1"/>
          </p:cNvSpPr>
          <p:nvPr/>
        </p:nvSpPr>
        <p:spPr>
          <a:xfrm>
            <a:off x="8439150" y="2352675"/>
            <a:ext cx="2438400" cy="400050"/>
          </a:xfrm>
          <a:prstGeom prst="rect">
            <a:avLst/>
          </a:prstGeom>
          <a:noFill/>
          <a:ln w="0">
            <a:noFill/>
            <a:prstDash val="solid"/>
          </a:ln>
        </p:spPr>
        <p:txBody>
          <a:bodyPr anchor="ctr"/>
          <a:lstStyle/>
          <a:p>
            <a:pPr algn="ctr">
              <a:defRPr sz="1200" b="1">
                <a:solidFill>
                  <a:srgbClr val="008A82"/>
                </a:solidFill>
              </a:defRPr>
            </a:pPr>
            <a:r>
              <a:rPr sz="1200" b="1">
                <a:solidFill>
                  <a:srgbClr val="008A82"/>
                </a:solidFill>
              </a:rPr>
              <a:t>Есть всегда</a:t>
            </a:r>
          </a:p>
        </p:txBody>
      </p:sp>
      <p:sp>
        <p:nvSpPr>
          <p:cNvPr id="29" name="Rectangle 28">
            <a:extLst>
              <a:ext uri="{FF2B5EF4-FFF2-40B4-BE49-F238E27FC236}">
                <a16:creationId xmlns:a16="http://schemas.microsoft.com/office/drawing/2014/main" id="{69022AEC-5E8E-4174-A7D6-95CD6198C394}"/>
              </a:ext>
            </a:extLst>
          </p:cNvPr>
          <p:cNvSpPr>
            <a:spLocks noGrp="1"/>
          </p:cNvSpPr>
          <p:nvPr/>
        </p:nvSpPr>
        <p:spPr>
          <a:xfrm>
            <a:off x="723900" y="2981325"/>
            <a:ext cx="1790700" cy="400050"/>
          </a:xfrm>
          <a:prstGeom prst="rect">
            <a:avLst/>
          </a:prstGeom>
          <a:noFill/>
          <a:ln w="0">
            <a:noFill/>
            <a:prstDash val="solid"/>
          </a:ln>
        </p:spPr>
        <p:txBody>
          <a:bodyPr anchor="ctr"/>
          <a:lstStyle/>
          <a:p>
            <a:pPr algn="l">
              <a:defRPr sz="1200" b="1">
                <a:solidFill>
                  <a:srgbClr val="263746"/>
                </a:solidFill>
              </a:defRPr>
            </a:pPr>
            <a:r>
              <a:rPr sz="1200" b="1">
                <a:solidFill>
                  <a:srgbClr val="263746"/>
                </a:solidFill>
              </a:rPr>
              <a:t>Где хранятся данные</a:t>
            </a:r>
          </a:p>
        </p:txBody>
      </p:sp>
      <p:sp>
        <p:nvSpPr>
          <p:cNvPr id="30" name="Rectangle 29">
            <a:extLst>
              <a:ext uri="{FF2B5EF4-FFF2-40B4-BE49-F238E27FC236}">
                <a16:creationId xmlns:a16="http://schemas.microsoft.com/office/drawing/2014/main" id="{39F31A1E-CAF6-4521-BF7B-D54175350563}"/>
              </a:ext>
            </a:extLst>
          </p:cNvPr>
          <p:cNvSpPr>
            <a:spLocks noGrp="1"/>
          </p:cNvSpPr>
          <p:nvPr/>
        </p:nvSpPr>
        <p:spPr>
          <a:xfrm>
            <a:off x="2876550" y="298132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Вне реестра</a:t>
            </a:r>
          </a:p>
        </p:txBody>
      </p:sp>
      <p:sp>
        <p:nvSpPr>
          <p:cNvPr id="31" name="Rectangle 30">
            <a:extLst>
              <a:ext uri="{FF2B5EF4-FFF2-40B4-BE49-F238E27FC236}">
                <a16:creationId xmlns:a16="http://schemas.microsoft.com/office/drawing/2014/main" id="{4EB3B55B-5B57-421D-8C28-AAB3844B8979}"/>
              </a:ext>
            </a:extLst>
          </p:cNvPr>
          <p:cNvSpPr>
            <a:spLocks noGrp="1"/>
          </p:cNvSpPr>
          <p:nvPr/>
        </p:nvSpPr>
        <p:spPr>
          <a:xfrm>
            <a:off x="5657850" y="298132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Распределены по банкам</a:t>
            </a:r>
          </a:p>
        </p:txBody>
      </p:sp>
      <p:sp>
        <p:nvSpPr>
          <p:cNvPr id="32" name="Rectangle 31">
            <a:extLst>
              <a:ext uri="{FF2B5EF4-FFF2-40B4-BE49-F238E27FC236}">
                <a16:creationId xmlns:a16="http://schemas.microsoft.com/office/drawing/2014/main" id="{CA8B2E8F-F218-43AF-A616-5AB5B9E8EFBC}"/>
              </a:ext>
            </a:extLst>
          </p:cNvPr>
          <p:cNvSpPr>
            <a:spLocks noGrp="1"/>
          </p:cNvSpPr>
          <p:nvPr/>
        </p:nvSpPr>
        <p:spPr>
          <a:xfrm>
            <a:off x="8439150" y="2981325"/>
            <a:ext cx="2438400" cy="400050"/>
          </a:xfrm>
          <a:prstGeom prst="rect">
            <a:avLst/>
          </a:prstGeom>
          <a:noFill/>
          <a:ln w="0">
            <a:noFill/>
            <a:prstDash val="solid"/>
          </a:ln>
        </p:spPr>
        <p:txBody>
          <a:bodyPr anchor="ctr"/>
          <a:lstStyle/>
          <a:p>
            <a:pPr algn="ctr">
              <a:defRPr sz="1200" b="1">
                <a:solidFill>
                  <a:srgbClr val="008A82"/>
                </a:solidFill>
              </a:defRPr>
            </a:pPr>
            <a:r>
              <a:rPr sz="1200" b="1">
                <a:solidFill>
                  <a:srgbClr val="008A82"/>
                </a:solidFill>
              </a:rPr>
              <a:t>Единая платформа ЦБ</a:t>
            </a:r>
          </a:p>
        </p:txBody>
      </p:sp>
      <p:sp>
        <p:nvSpPr>
          <p:cNvPr id="33" name="Rectangle 32">
            <a:extLst>
              <a:ext uri="{FF2B5EF4-FFF2-40B4-BE49-F238E27FC236}">
                <a16:creationId xmlns:a16="http://schemas.microsoft.com/office/drawing/2014/main" id="{15D1FBA0-16E9-4680-96AE-CE9898CFF3FE}"/>
              </a:ext>
            </a:extLst>
          </p:cNvPr>
          <p:cNvSpPr>
            <a:spLocks noGrp="1"/>
          </p:cNvSpPr>
          <p:nvPr/>
        </p:nvSpPr>
        <p:spPr>
          <a:xfrm>
            <a:off x="723900" y="3609975"/>
            <a:ext cx="1790700" cy="400050"/>
          </a:xfrm>
          <a:prstGeom prst="rect">
            <a:avLst/>
          </a:prstGeom>
          <a:noFill/>
          <a:ln w="0">
            <a:noFill/>
            <a:prstDash val="solid"/>
          </a:ln>
        </p:spPr>
        <p:txBody>
          <a:bodyPr anchor="ctr"/>
          <a:lstStyle/>
          <a:p>
            <a:pPr algn="l">
              <a:defRPr sz="1200" b="1">
                <a:solidFill>
                  <a:srgbClr val="263746"/>
                </a:solidFill>
              </a:defRPr>
            </a:pPr>
            <a:r>
              <a:rPr sz="1200" b="1">
                <a:solidFill>
                  <a:srgbClr val="263746"/>
                </a:solidFill>
              </a:rPr>
              <a:t>Анонимность</a:t>
            </a:r>
          </a:p>
        </p:txBody>
      </p:sp>
      <p:sp>
        <p:nvSpPr>
          <p:cNvPr id="34" name="Rectangle 33">
            <a:extLst>
              <a:ext uri="{FF2B5EF4-FFF2-40B4-BE49-F238E27FC236}">
                <a16:creationId xmlns:a16="http://schemas.microsoft.com/office/drawing/2014/main" id="{14573F96-9C31-49A4-B6A5-BE8D5C13B66C}"/>
              </a:ext>
            </a:extLst>
          </p:cNvPr>
          <p:cNvSpPr>
            <a:spLocks noGrp="1"/>
          </p:cNvSpPr>
          <p:nvPr/>
        </p:nvSpPr>
        <p:spPr>
          <a:xfrm>
            <a:off x="2876550" y="360997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Практически высокая</a:t>
            </a:r>
          </a:p>
        </p:txBody>
      </p:sp>
      <p:sp>
        <p:nvSpPr>
          <p:cNvPr id="35" name="Rectangle 34">
            <a:extLst>
              <a:ext uri="{FF2B5EF4-FFF2-40B4-BE49-F238E27FC236}">
                <a16:creationId xmlns:a16="http://schemas.microsoft.com/office/drawing/2014/main" id="{4F7F04AD-12B5-44AB-A30A-E213AE8189CE}"/>
              </a:ext>
            </a:extLst>
          </p:cNvPr>
          <p:cNvSpPr>
            <a:spLocks noGrp="1"/>
          </p:cNvSpPr>
          <p:nvPr/>
        </p:nvSpPr>
        <p:spPr>
          <a:xfrm>
            <a:off x="5657850" y="360997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Нет</a:t>
            </a:r>
          </a:p>
        </p:txBody>
      </p:sp>
      <p:sp>
        <p:nvSpPr>
          <p:cNvPr id="36" name="Rectangle 35">
            <a:extLst>
              <a:ext uri="{FF2B5EF4-FFF2-40B4-BE49-F238E27FC236}">
                <a16:creationId xmlns:a16="http://schemas.microsoft.com/office/drawing/2014/main" id="{7ECC07DF-ACEA-45FB-94DF-10149FDE7C15}"/>
              </a:ext>
            </a:extLst>
          </p:cNvPr>
          <p:cNvSpPr>
            <a:spLocks noGrp="1"/>
          </p:cNvSpPr>
          <p:nvPr/>
        </p:nvSpPr>
        <p:spPr>
          <a:xfrm>
            <a:off x="8439150" y="3609975"/>
            <a:ext cx="2438400" cy="400050"/>
          </a:xfrm>
          <a:prstGeom prst="rect">
            <a:avLst/>
          </a:prstGeom>
          <a:noFill/>
          <a:ln w="0">
            <a:noFill/>
            <a:prstDash val="solid"/>
          </a:ln>
        </p:spPr>
        <p:txBody>
          <a:bodyPr anchor="ctr"/>
          <a:lstStyle/>
          <a:p>
            <a:pPr algn="ctr">
              <a:defRPr sz="1200" b="1">
                <a:solidFill>
                  <a:srgbClr val="008A82"/>
                </a:solidFill>
              </a:defRPr>
            </a:pPr>
            <a:r>
              <a:rPr sz="1200" b="1">
                <a:solidFill>
                  <a:srgbClr val="008A82"/>
                </a:solidFill>
              </a:rPr>
              <a:t>Не предусмотрена</a:t>
            </a:r>
          </a:p>
        </p:txBody>
      </p:sp>
      <p:sp>
        <p:nvSpPr>
          <p:cNvPr id="37" name="Rectangle 36">
            <a:extLst>
              <a:ext uri="{FF2B5EF4-FFF2-40B4-BE49-F238E27FC236}">
                <a16:creationId xmlns:a16="http://schemas.microsoft.com/office/drawing/2014/main" id="{409332A9-3104-4E42-B5D7-8A3A4270104A}"/>
              </a:ext>
            </a:extLst>
          </p:cNvPr>
          <p:cNvSpPr>
            <a:spLocks noGrp="1"/>
          </p:cNvSpPr>
          <p:nvPr/>
        </p:nvSpPr>
        <p:spPr>
          <a:xfrm>
            <a:off x="723900" y="4238625"/>
            <a:ext cx="1790700" cy="400050"/>
          </a:xfrm>
          <a:prstGeom prst="rect">
            <a:avLst/>
          </a:prstGeom>
          <a:noFill/>
          <a:ln w="0">
            <a:noFill/>
            <a:prstDash val="solid"/>
          </a:ln>
        </p:spPr>
        <p:txBody>
          <a:bodyPr anchor="ctr"/>
          <a:lstStyle/>
          <a:p>
            <a:pPr algn="l">
              <a:defRPr sz="1200" b="1">
                <a:solidFill>
                  <a:srgbClr val="263746"/>
                </a:solidFill>
              </a:defRPr>
            </a:pPr>
            <a:r>
              <a:rPr sz="1200" b="1">
                <a:solidFill>
                  <a:srgbClr val="263746"/>
                </a:solidFill>
              </a:rPr>
              <a:t>Блокировка</a:t>
            </a:r>
          </a:p>
        </p:txBody>
      </p:sp>
      <p:sp>
        <p:nvSpPr>
          <p:cNvPr id="38" name="Rectangle 37">
            <a:extLst>
              <a:ext uri="{FF2B5EF4-FFF2-40B4-BE49-F238E27FC236}">
                <a16:creationId xmlns:a16="http://schemas.microsoft.com/office/drawing/2014/main" id="{E88B2E12-4804-45AB-9D1C-2253C793D6FA}"/>
              </a:ext>
            </a:extLst>
          </p:cNvPr>
          <p:cNvSpPr>
            <a:spLocks noGrp="1"/>
          </p:cNvSpPr>
          <p:nvPr/>
        </p:nvSpPr>
        <p:spPr>
          <a:xfrm>
            <a:off x="2876550" y="423862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Физически сложна</a:t>
            </a:r>
          </a:p>
        </p:txBody>
      </p:sp>
      <p:sp>
        <p:nvSpPr>
          <p:cNvPr id="39" name="Rectangle 38">
            <a:extLst>
              <a:ext uri="{FF2B5EF4-FFF2-40B4-BE49-F238E27FC236}">
                <a16:creationId xmlns:a16="http://schemas.microsoft.com/office/drawing/2014/main" id="{8F6B9B0D-66D9-47DA-ACD7-9704016FD92A}"/>
              </a:ext>
            </a:extLst>
          </p:cNvPr>
          <p:cNvSpPr>
            <a:spLocks noGrp="1"/>
          </p:cNvSpPr>
          <p:nvPr/>
        </p:nvSpPr>
        <p:spPr>
          <a:xfrm>
            <a:off x="5657850" y="423862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Через банк</a:t>
            </a:r>
          </a:p>
        </p:txBody>
      </p:sp>
      <p:sp>
        <p:nvSpPr>
          <p:cNvPr id="40" name="Rectangle 39">
            <a:extLst>
              <a:ext uri="{FF2B5EF4-FFF2-40B4-BE49-F238E27FC236}">
                <a16:creationId xmlns:a16="http://schemas.microsoft.com/office/drawing/2014/main" id="{01B53C7B-1CC6-49AF-8E79-0D7C2515BF7A}"/>
              </a:ext>
            </a:extLst>
          </p:cNvPr>
          <p:cNvSpPr>
            <a:spLocks noGrp="1"/>
          </p:cNvSpPr>
          <p:nvPr/>
        </p:nvSpPr>
        <p:spPr>
          <a:xfrm>
            <a:off x="8439150" y="4238625"/>
            <a:ext cx="2438400" cy="400050"/>
          </a:xfrm>
          <a:prstGeom prst="rect">
            <a:avLst/>
          </a:prstGeom>
          <a:noFill/>
          <a:ln w="0">
            <a:noFill/>
            <a:prstDash val="solid"/>
          </a:ln>
        </p:spPr>
        <p:txBody>
          <a:bodyPr anchor="ctr"/>
          <a:lstStyle/>
          <a:p>
            <a:pPr algn="ctr">
              <a:defRPr sz="1200" b="1">
                <a:solidFill>
                  <a:srgbClr val="008A82"/>
                </a:solidFill>
              </a:defRPr>
            </a:pPr>
            <a:r>
              <a:rPr sz="1200" b="1">
                <a:solidFill>
                  <a:srgbClr val="008A82"/>
                </a:solidFill>
              </a:rPr>
              <a:t>Централизованно</a:t>
            </a:r>
          </a:p>
        </p:txBody>
      </p:sp>
      <p:sp>
        <p:nvSpPr>
          <p:cNvPr id="41" name="Rectangle 40">
            <a:extLst>
              <a:ext uri="{FF2B5EF4-FFF2-40B4-BE49-F238E27FC236}">
                <a16:creationId xmlns:a16="http://schemas.microsoft.com/office/drawing/2014/main" id="{5A0202E8-BFD3-4E36-B1F0-047A4F21B9BF}"/>
              </a:ext>
            </a:extLst>
          </p:cNvPr>
          <p:cNvSpPr>
            <a:spLocks noGrp="1"/>
          </p:cNvSpPr>
          <p:nvPr/>
        </p:nvSpPr>
        <p:spPr>
          <a:xfrm>
            <a:off x="723900" y="4867275"/>
            <a:ext cx="1790700" cy="400050"/>
          </a:xfrm>
          <a:prstGeom prst="rect">
            <a:avLst/>
          </a:prstGeom>
          <a:noFill/>
          <a:ln w="0">
            <a:noFill/>
            <a:prstDash val="solid"/>
          </a:ln>
        </p:spPr>
        <p:txBody>
          <a:bodyPr anchor="ctr"/>
          <a:lstStyle/>
          <a:p>
            <a:pPr algn="l">
              <a:defRPr sz="1200" b="1">
                <a:solidFill>
                  <a:srgbClr val="263746"/>
                </a:solidFill>
              </a:defRPr>
            </a:pPr>
            <a:r>
              <a:rPr sz="1200" b="1">
                <a:solidFill>
                  <a:srgbClr val="263746"/>
                </a:solidFill>
              </a:rPr>
              <a:t>Правила для потока денег</a:t>
            </a:r>
          </a:p>
        </p:txBody>
      </p:sp>
      <p:sp>
        <p:nvSpPr>
          <p:cNvPr id="42" name="Rectangle 41">
            <a:extLst>
              <a:ext uri="{FF2B5EF4-FFF2-40B4-BE49-F238E27FC236}">
                <a16:creationId xmlns:a16="http://schemas.microsoft.com/office/drawing/2014/main" id="{2B38A4F4-0692-44A2-A5D4-DA59F1159E9B}"/>
              </a:ext>
            </a:extLst>
          </p:cNvPr>
          <p:cNvSpPr>
            <a:spLocks noGrp="1"/>
          </p:cNvSpPr>
          <p:nvPr/>
        </p:nvSpPr>
        <p:spPr>
          <a:xfrm>
            <a:off x="2876550" y="486727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Почти невозможны</a:t>
            </a:r>
          </a:p>
        </p:txBody>
      </p:sp>
      <p:sp>
        <p:nvSpPr>
          <p:cNvPr id="43" name="Rectangle 42">
            <a:extLst>
              <a:ext uri="{FF2B5EF4-FFF2-40B4-BE49-F238E27FC236}">
                <a16:creationId xmlns:a16="http://schemas.microsoft.com/office/drawing/2014/main" id="{6221ED2D-9CB1-4472-B13E-18B0661D6A5C}"/>
              </a:ext>
            </a:extLst>
          </p:cNvPr>
          <p:cNvSpPr>
            <a:spLocks noGrp="1"/>
          </p:cNvSpPr>
          <p:nvPr/>
        </p:nvSpPr>
        <p:spPr>
          <a:xfrm>
            <a:off x="5657850" y="4867275"/>
            <a:ext cx="2438400" cy="400050"/>
          </a:xfrm>
          <a:prstGeom prst="rect">
            <a:avLst/>
          </a:prstGeom>
          <a:noFill/>
          <a:ln w="0">
            <a:noFill/>
            <a:prstDash val="solid"/>
          </a:ln>
        </p:spPr>
        <p:txBody>
          <a:bodyPr anchor="ctr"/>
          <a:lstStyle/>
          <a:p>
            <a:pPr algn="ctr">
              <a:defRPr sz="1200" b="0">
                <a:solidFill>
                  <a:srgbClr val="536777"/>
                </a:solidFill>
              </a:defRPr>
            </a:pPr>
            <a:r>
              <a:rPr sz="1200" b="0">
                <a:solidFill>
                  <a:srgbClr val="536777"/>
                </a:solidFill>
              </a:rPr>
              <a:t>В отдельных продуктах</a:t>
            </a:r>
          </a:p>
        </p:txBody>
      </p:sp>
      <p:sp>
        <p:nvSpPr>
          <p:cNvPr id="44" name="Rectangle 43">
            <a:extLst>
              <a:ext uri="{FF2B5EF4-FFF2-40B4-BE49-F238E27FC236}">
                <a16:creationId xmlns:a16="http://schemas.microsoft.com/office/drawing/2014/main" id="{438C6A6B-5E94-4BEA-8A5B-89B462E51EB9}"/>
              </a:ext>
            </a:extLst>
          </p:cNvPr>
          <p:cNvSpPr>
            <a:spLocks noGrp="1"/>
          </p:cNvSpPr>
          <p:nvPr/>
        </p:nvSpPr>
        <p:spPr>
          <a:xfrm>
            <a:off x="8439150" y="4867275"/>
            <a:ext cx="2438400" cy="400050"/>
          </a:xfrm>
          <a:prstGeom prst="rect">
            <a:avLst/>
          </a:prstGeom>
          <a:noFill/>
          <a:ln w="0">
            <a:noFill/>
            <a:prstDash val="solid"/>
          </a:ln>
        </p:spPr>
        <p:txBody>
          <a:bodyPr anchor="ctr"/>
          <a:lstStyle/>
          <a:p>
            <a:pPr algn="ctr">
              <a:defRPr sz="1200" b="1">
                <a:solidFill>
                  <a:srgbClr val="008A82"/>
                </a:solidFill>
              </a:defRPr>
            </a:pPr>
            <a:r>
              <a:rPr sz="1200" b="1">
                <a:solidFill>
                  <a:srgbClr val="008A82"/>
                </a:solidFill>
              </a:rPr>
              <a:t>Технически встроимы</a:t>
            </a:r>
          </a:p>
        </p:txBody>
      </p:sp>
      <p:sp>
        <p:nvSpPr>
          <p:cNvPr id="45" name="Right Arrow 44">
            <a:extLst>
              <a:ext uri="{FF2B5EF4-FFF2-40B4-BE49-F238E27FC236}">
                <a16:creationId xmlns:a16="http://schemas.microsoft.com/office/drawing/2014/main" id="{9403D38C-F234-446D-A370-E5ECF8D41637}"/>
              </a:ext>
            </a:extLst>
          </p:cNvPr>
          <p:cNvSpPr>
            <a:spLocks noGrp="1"/>
          </p:cNvSpPr>
          <p:nvPr/>
        </p:nvSpPr>
        <p:spPr>
          <a:xfrm>
            <a:off x="2971800" y="5524500"/>
            <a:ext cx="8020050" cy="266700"/>
          </a:xfrm>
          <a:prstGeom prst="rightArrow">
            <a:avLst/>
          </a:prstGeom>
          <a:solidFill>
            <a:srgbClr val="CCD5DC"/>
          </a:solidFill>
          <a:ln w="0">
            <a:solidFill>
              <a:srgbClr val="CCD5DC"/>
            </a:solidFill>
            <a:prstDash val="solid"/>
          </a:ln>
        </p:spPr>
      </p:sp>
      <p:sp>
        <p:nvSpPr>
          <p:cNvPr id="46" name="Rectangle 45">
            <a:extLst>
              <a:ext uri="{FF2B5EF4-FFF2-40B4-BE49-F238E27FC236}">
                <a16:creationId xmlns:a16="http://schemas.microsoft.com/office/drawing/2014/main" id="{BB410D98-198F-40E0-BF7F-92DD8B11D5C3}"/>
              </a:ext>
            </a:extLst>
          </p:cNvPr>
          <p:cNvSpPr>
            <a:spLocks noGrp="1"/>
          </p:cNvSpPr>
          <p:nvPr/>
        </p:nvSpPr>
        <p:spPr>
          <a:xfrm>
            <a:off x="3733800" y="5524500"/>
            <a:ext cx="6400800" cy="209550"/>
          </a:xfrm>
          <a:prstGeom prst="rect">
            <a:avLst/>
          </a:prstGeom>
          <a:noFill/>
          <a:ln w="0">
            <a:noFill/>
            <a:prstDash val="solid"/>
          </a:ln>
        </p:spPr>
        <p:txBody>
          <a:bodyPr anchor="t"/>
          <a:lstStyle/>
          <a:p>
            <a:pPr algn="ctr">
              <a:defRPr sz="1125" b="1">
                <a:solidFill>
                  <a:srgbClr val="071D33"/>
                </a:solidFill>
              </a:defRPr>
            </a:pPr>
            <a:r>
              <a:rPr sz="1125" b="1">
                <a:solidFill>
                  <a:srgbClr val="071D33"/>
                </a:solidFill>
              </a:rPr>
              <a:t>Рост централизации, скорости применения правил и детализации контроля</a:t>
            </a:r>
          </a:p>
        </p:txBody>
      </p:sp>
      <p:sp>
        <p:nvSpPr>
          <p:cNvPr id="47" name="Rounded Rectangle 46">
            <a:extLst>
              <a:ext uri="{FF2B5EF4-FFF2-40B4-BE49-F238E27FC236}">
                <a16:creationId xmlns:a16="http://schemas.microsoft.com/office/drawing/2014/main" id="{986B709E-14D5-4F8A-AF05-E038CF4A8518}"/>
              </a:ext>
            </a:extLst>
          </p:cNvPr>
          <p:cNvSpPr>
            <a:spLocks noGrp="1"/>
          </p:cNvSpPr>
          <p:nvPr/>
        </p:nvSpPr>
        <p:spPr>
          <a:xfrm>
            <a:off x="609600" y="5791200"/>
            <a:ext cx="10972800" cy="590550"/>
          </a:xfrm>
          <a:prstGeom prst="roundRect">
            <a:avLst>
              <a:gd name="adj" fmla="val 9677"/>
            </a:avLst>
          </a:prstGeom>
          <a:solidFill>
            <a:srgbClr val="EEF2F5"/>
          </a:solidFill>
          <a:ln w="9525">
            <a:solidFill>
              <a:srgbClr val="EEF2F5"/>
            </a:solidFill>
            <a:prstDash val="solid"/>
          </a:ln>
        </p:spPr>
      </p:sp>
      <p:sp>
        <p:nvSpPr>
          <p:cNvPr id="48" name="Rounded Rectangle 47">
            <a:extLst>
              <a:ext uri="{FF2B5EF4-FFF2-40B4-BE49-F238E27FC236}">
                <a16:creationId xmlns:a16="http://schemas.microsoft.com/office/drawing/2014/main" id="{06946E59-D22C-4179-AF1A-C7FF65F82689}"/>
              </a:ext>
            </a:extLst>
          </p:cNvPr>
          <p:cNvSpPr>
            <a:spLocks noGrp="1"/>
          </p:cNvSpPr>
          <p:nvPr/>
        </p:nvSpPr>
        <p:spPr>
          <a:xfrm>
            <a:off x="609600" y="5791200"/>
            <a:ext cx="66675" cy="590550"/>
          </a:xfrm>
          <a:prstGeom prst="roundRect">
            <a:avLst>
              <a:gd name="adj" fmla="val 50000"/>
            </a:avLst>
          </a:prstGeom>
          <a:solidFill>
            <a:srgbClr val="071D33"/>
          </a:solidFill>
          <a:ln w="9525">
            <a:solidFill>
              <a:srgbClr val="071D33"/>
            </a:solidFill>
            <a:prstDash val="solid"/>
          </a:ln>
        </p:spPr>
      </p:sp>
      <p:sp>
        <p:nvSpPr>
          <p:cNvPr id="49" name="Rectangle 48">
            <a:extLst>
              <a:ext uri="{FF2B5EF4-FFF2-40B4-BE49-F238E27FC236}">
                <a16:creationId xmlns:a16="http://schemas.microsoft.com/office/drawing/2014/main" id="{486D677E-6063-4DF3-A2E2-077625506791}"/>
              </a:ext>
            </a:extLst>
          </p:cNvPr>
          <p:cNvSpPr>
            <a:spLocks noGrp="1"/>
          </p:cNvSpPr>
          <p:nvPr/>
        </p:nvSpPr>
        <p:spPr>
          <a:xfrm>
            <a:off x="838200" y="5924550"/>
            <a:ext cx="10477500" cy="323850"/>
          </a:xfrm>
          <a:prstGeom prst="rect">
            <a:avLst/>
          </a:prstGeom>
          <a:noFill/>
          <a:ln w="0">
            <a:noFill/>
            <a:prstDash val="solid"/>
          </a:ln>
        </p:spPr>
        <p:txBody>
          <a:bodyPr anchor="ctr"/>
          <a:lstStyle/>
          <a:p>
            <a:pPr algn="l">
              <a:defRPr sz="1500" b="1">
                <a:solidFill>
                  <a:srgbClr val="071D33"/>
                </a:solidFill>
              </a:defRPr>
            </a:pPr>
            <a:r>
              <a:rPr sz="1500" b="1">
                <a:solidFill>
                  <a:srgbClr val="071D33"/>
                </a:solidFill>
              </a:rPr>
              <a:t>Разница не в том, что безналичные деньги «не оставляют след», а в том, кто хранит полный реестр и применяет правила.</a:t>
            </a:r>
          </a:p>
        </p:txBody>
      </p:sp>
    </p:spTree>
    <p:extLst>
      <p:ext uri="{BB962C8B-B14F-4D97-AF65-F5344CB8AC3E}">
        <p14:creationId xmlns:p14="http://schemas.microsoft.com/office/powerpoint/2010/main" val="1380909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37" name="Rounded Rectangle 36">
            <a:extLst>
              <a:ext uri="{FF2B5EF4-FFF2-40B4-BE49-F238E27FC236}">
                <a16:creationId xmlns:a16="http://schemas.microsoft.com/office/drawing/2014/main" id="{68C9D251-2E47-43E8-BE8E-297731DABFC5}"/>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F4A7DA77-203B-407B-B518-1AC00B7CDD30}"/>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8">
            <a:extLst>
              <a:ext uri="{FF2B5EF4-FFF2-40B4-BE49-F238E27FC236}">
                <a16:creationId xmlns:a16="http://schemas.microsoft.com/office/drawing/2014/main" id="{751B3785-7225-49B8-9644-9EFCF49FCF81}"/>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7. ДВЕ СТОРОНЫ СМАРТ-КОНТРАКТОВ</a:t>
            </a:r>
          </a:p>
        </p:txBody>
      </p:sp>
      <p:sp>
        <p:nvSpPr>
          <p:cNvPr id="4" name="title-8">
            <a:extLst>
              <a:ext uri="{FF2B5EF4-FFF2-40B4-BE49-F238E27FC236}">
                <a16:creationId xmlns:a16="http://schemas.microsoft.com/office/drawing/2014/main" id="{E1B6A8DB-5CD0-4D17-92F0-550088F50C2F}"/>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Один и тот же код может автоматизировать сделку — или управлять экономическим поведением</a:t>
            </a:r>
          </a:p>
        </p:txBody>
      </p:sp>
      <p:sp>
        <p:nvSpPr>
          <p:cNvPr id="5" name="Straight Connector 4">
            <a:extLst>
              <a:ext uri="{FF2B5EF4-FFF2-40B4-BE49-F238E27FC236}">
                <a16:creationId xmlns:a16="http://schemas.microsoft.com/office/drawing/2014/main" id="{ED0AFE67-219A-4968-8188-0524E0798DE3}"/>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6CC84A2F-9496-4F0A-87C2-14AA20F68E0C}"/>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80C360F7-53C6-430A-9BE9-3B5DCCD9EE13}"/>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08</a:t>
            </a:r>
          </a:p>
        </p:txBody>
      </p:sp>
      <p:sp>
        <p:nvSpPr>
          <p:cNvPr id="8" name="Straight Connector 7">
            <a:extLst>
              <a:ext uri="{FF2B5EF4-FFF2-40B4-BE49-F238E27FC236}">
                <a16:creationId xmlns:a16="http://schemas.microsoft.com/office/drawing/2014/main" id="{AB00730D-8834-4081-B4A8-A4FD7011ED40}"/>
              </a:ext>
            </a:extLst>
          </p:cNvPr>
          <p:cNvSpPr>
            <a:spLocks noGrp="1"/>
          </p:cNvSpPr>
          <p:nvPr/>
        </p:nvSpPr>
        <p:spPr>
          <a:xfrm>
            <a:off x="6096000" y="1657350"/>
            <a:ext cx="0" cy="3390900"/>
          </a:xfrm>
          <a:prstGeom prst="line">
            <a:avLst/>
          </a:prstGeom>
          <a:noFill/>
          <a:ln w="14288">
            <a:solidFill>
              <a:srgbClr val="CCD5DC"/>
            </a:solidFill>
            <a:prstDash val="solid"/>
          </a:ln>
        </p:spPr>
      </p:sp>
      <p:sp>
        <p:nvSpPr>
          <p:cNvPr id="9" name="Rounded Rectangle 8">
            <a:extLst>
              <a:ext uri="{FF2B5EF4-FFF2-40B4-BE49-F238E27FC236}">
                <a16:creationId xmlns:a16="http://schemas.microsoft.com/office/drawing/2014/main" id="{6B3A644A-9551-497C-A38A-DD1F783744EA}"/>
              </a:ext>
            </a:extLst>
          </p:cNvPr>
          <p:cNvSpPr>
            <a:spLocks noGrp="1"/>
          </p:cNvSpPr>
          <p:nvPr/>
        </p:nvSpPr>
        <p:spPr>
          <a:xfrm>
            <a:off x="876300" y="1657350"/>
            <a:ext cx="2724150" cy="285750"/>
          </a:xfrm>
          <a:prstGeom prst="roundRect">
            <a:avLst>
              <a:gd name="adj" fmla="val 50000"/>
            </a:avLst>
          </a:prstGeom>
          <a:solidFill>
            <a:srgbClr val="DDEBFA"/>
          </a:solidFill>
          <a:ln w="9525">
            <a:solidFill>
              <a:srgbClr val="DDEBFA"/>
            </a:solidFill>
            <a:prstDash val="solid"/>
          </a:ln>
        </p:spPr>
      </p:sp>
      <p:sp>
        <p:nvSpPr>
          <p:cNvPr id="10" name="Rectangle 9">
            <a:extLst>
              <a:ext uri="{FF2B5EF4-FFF2-40B4-BE49-F238E27FC236}">
                <a16:creationId xmlns:a16="http://schemas.microsoft.com/office/drawing/2014/main" id="{3FEB14E8-79FA-40E6-996B-CB60D48A33B2}"/>
              </a:ext>
            </a:extLst>
          </p:cNvPr>
          <p:cNvSpPr>
            <a:spLocks noGrp="1"/>
          </p:cNvSpPr>
          <p:nvPr/>
        </p:nvSpPr>
        <p:spPr>
          <a:xfrm>
            <a:off x="952500" y="1704975"/>
            <a:ext cx="2571750" cy="190500"/>
          </a:xfrm>
          <a:prstGeom prst="rect">
            <a:avLst/>
          </a:prstGeom>
          <a:noFill/>
          <a:ln w="0">
            <a:noFill/>
            <a:prstDash val="solid"/>
          </a:ln>
        </p:spPr>
        <p:txBody>
          <a:bodyPr anchor="ctr"/>
          <a:lstStyle/>
          <a:p>
            <a:pPr algn="ctr">
              <a:defRPr sz="975" b="1">
                <a:solidFill>
                  <a:srgbClr val="075BCB"/>
                </a:solidFill>
              </a:defRPr>
            </a:pPr>
            <a:r>
              <a:rPr sz="975" b="1">
                <a:solidFill>
                  <a:srgbClr val="075BCB"/>
                </a:solidFill>
              </a:rPr>
              <a:t>ПРОГРАММИРУЕМЫЙ ПЛАТЕЖ</a:t>
            </a:r>
          </a:p>
        </p:txBody>
      </p:sp>
      <p:sp>
        <p:nvSpPr>
          <p:cNvPr id="11" name="Rectangle 10">
            <a:extLst>
              <a:ext uri="{FF2B5EF4-FFF2-40B4-BE49-F238E27FC236}">
                <a16:creationId xmlns:a16="http://schemas.microsoft.com/office/drawing/2014/main" id="{85B951D8-800C-4FA9-8DF9-02E14A4E5283}"/>
              </a:ext>
            </a:extLst>
          </p:cNvPr>
          <p:cNvSpPr>
            <a:spLocks noGrp="1"/>
          </p:cNvSpPr>
          <p:nvPr/>
        </p:nvSpPr>
        <p:spPr>
          <a:xfrm>
            <a:off x="876300" y="2095500"/>
            <a:ext cx="4572000" cy="323850"/>
          </a:xfrm>
          <a:prstGeom prst="rect">
            <a:avLst/>
          </a:prstGeom>
          <a:noFill/>
          <a:ln w="0">
            <a:noFill/>
            <a:prstDash val="solid"/>
          </a:ln>
        </p:spPr>
        <p:txBody>
          <a:bodyPr anchor="t"/>
          <a:lstStyle/>
          <a:p>
            <a:pPr algn="l">
              <a:defRPr sz="1800" b="1">
                <a:solidFill>
                  <a:srgbClr val="071D33"/>
                </a:solidFill>
              </a:defRPr>
            </a:pPr>
            <a:r>
              <a:rPr sz="1800" b="1">
                <a:solidFill>
                  <a:srgbClr val="071D33"/>
                </a:solidFill>
              </a:rPr>
              <a:t>Условие относится к сделке</a:t>
            </a:r>
          </a:p>
        </p:txBody>
      </p:sp>
      <p:sp>
        <p:nvSpPr>
          <p:cNvPr id="12" name="Right Arrow 11">
            <a:extLst>
              <a:ext uri="{FF2B5EF4-FFF2-40B4-BE49-F238E27FC236}">
                <a16:creationId xmlns:a16="http://schemas.microsoft.com/office/drawing/2014/main" id="{6E78F6BB-E2B5-4E54-9743-47668ADB81C5}"/>
              </a:ext>
            </a:extLst>
          </p:cNvPr>
          <p:cNvSpPr>
            <a:spLocks noGrp="1"/>
          </p:cNvSpPr>
          <p:nvPr/>
        </p:nvSpPr>
        <p:spPr>
          <a:xfrm rot="5400000">
            <a:off x="2219325" y="3028950"/>
            <a:ext cx="476250" cy="209550"/>
          </a:xfrm>
          <a:prstGeom prst="rightArrow">
            <a:avLst/>
          </a:prstGeom>
          <a:solidFill>
            <a:srgbClr val="DDEBFA"/>
          </a:solidFill>
          <a:ln w="0">
            <a:solidFill>
              <a:srgbClr val="DDEBFA"/>
            </a:solidFill>
            <a:prstDash val="solid"/>
          </a:ln>
        </p:spPr>
      </p:sp>
      <p:sp>
        <p:nvSpPr>
          <p:cNvPr id="13" name="Right Arrow 12">
            <a:extLst>
              <a:ext uri="{FF2B5EF4-FFF2-40B4-BE49-F238E27FC236}">
                <a16:creationId xmlns:a16="http://schemas.microsoft.com/office/drawing/2014/main" id="{E67159DB-9B9A-4A96-884E-99BE03E2D075}"/>
              </a:ext>
            </a:extLst>
          </p:cNvPr>
          <p:cNvSpPr>
            <a:spLocks noGrp="1"/>
          </p:cNvSpPr>
          <p:nvPr/>
        </p:nvSpPr>
        <p:spPr>
          <a:xfrm rot="5400000">
            <a:off x="2219325" y="3848100"/>
            <a:ext cx="476250" cy="209550"/>
          </a:xfrm>
          <a:prstGeom prst="rightArrow">
            <a:avLst/>
          </a:prstGeom>
          <a:solidFill>
            <a:srgbClr val="DDEBFA"/>
          </a:solidFill>
          <a:ln w="0">
            <a:solidFill>
              <a:srgbClr val="DDEBFA"/>
            </a:solidFill>
            <a:prstDash val="solid"/>
          </a:ln>
        </p:spPr>
      </p:sp>
      <p:sp>
        <p:nvSpPr>
          <p:cNvPr id="14" name="Rounded Rectangle 13">
            <a:extLst>
              <a:ext uri="{FF2B5EF4-FFF2-40B4-BE49-F238E27FC236}">
                <a16:creationId xmlns:a16="http://schemas.microsoft.com/office/drawing/2014/main" id="{9B937097-5D61-4A2C-896B-33F3861C3517}"/>
              </a:ext>
            </a:extLst>
          </p:cNvPr>
          <p:cNvSpPr>
            <a:spLocks noGrp="1"/>
          </p:cNvSpPr>
          <p:nvPr/>
        </p:nvSpPr>
        <p:spPr>
          <a:xfrm>
            <a:off x="876300" y="2590800"/>
            <a:ext cx="4610100" cy="590550"/>
          </a:xfrm>
          <a:prstGeom prst="roundRect">
            <a:avLst>
              <a:gd name="adj" fmla="val 12903"/>
            </a:avLst>
          </a:prstGeom>
          <a:solidFill>
            <a:srgbClr val="FFFFFF"/>
          </a:solidFill>
          <a:ln w="9525">
            <a:solidFill>
              <a:srgbClr val="E2E8ED"/>
            </a:solidFill>
            <a:prstDash val="solid"/>
          </a:ln>
        </p:spPr>
      </p:sp>
      <p:sp>
        <p:nvSpPr>
          <p:cNvPr id="15" name="Rectangle 14">
            <a:extLst>
              <a:ext uri="{FF2B5EF4-FFF2-40B4-BE49-F238E27FC236}">
                <a16:creationId xmlns:a16="http://schemas.microsoft.com/office/drawing/2014/main" id="{5D5296D7-6A72-4F99-ABEE-05198EED25A9}"/>
              </a:ext>
            </a:extLst>
          </p:cNvPr>
          <p:cNvSpPr>
            <a:spLocks noGrp="1"/>
          </p:cNvSpPr>
          <p:nvPr/>
        </p:nvSpPr>
        <p:spPr>
          <a:xfrm>
            <a:off x="1085850" y="2752725"/>
            <a:ext cx="4191000" cy="228600"/>
          </a:xfrm>
          <a:prstGeom prst="rect">
            <a:avLst/>
          </a:prstGeom>
          <a:noFill/>
          <a:ln w="0">
            <a:noFill/>
            <a:prstDash val="solid"/>
          </a:ln>
        </p:spPr>
        <p:txBody>
          <a:bodyPr anchor="t"/>
          <a:lstStyle/>
          <a:p>
            <a:pPr algn="ctr">
              <a:defRPr sz="1425" b="1">
                <a:solidFill>
                  <a:srgbClr val="263746"/>
                </a:solidFill>
              </a:defRPr>
            </a:pPr>
            <a:r>
              <a:rPr sz="1425" b="1">
                <a:solidFill>
                  <a:srgbClr val="263746"/>
                </a:solidFill>
              </a:rPr>
              <a:t>1. Товар поставлен</a:t>
            </a:r>
          </a:p>
        </p:txBody>
      </p:sp>
      <p:sp>
        <p:nvSpPr>
          <p:cNvPr id="16" name="Rounded Rectangle 15">
            <a:extLst>
              <a:ext uri="{FF2B5EF4-FFF2-40B4-BE49-F238E27FC236}">
                <a16:creationId xmlns:a16="http://schemas.microsoft.com/office/drawing/2014/main" id="{79E39CDA-8F3B-42DE-8C8B-4A41EC52D567}"/>
              </a:ext>
            </a:extLst>
          </p:cNvPr>
          <p:cNvSpPr>
            <a:spLocks noGrp="1"/>
          </p:cNvSpPr>
          <p:nvPr/>
        </p:nvSpPr>
        <p:spPr>
          <a:xfrm>
            <a:off x="876300" y="3409950"/>
            <a:ext cx="4610100" cy="590550"/>
          </a:xfrm>
          <a:prstGeom prst="roundRect">
            <a:avLst>
              <a:gd name="adj" fmla="val 12903"/>
            </a:avLst>
          </a:prstGeom>
          <a:solidFill>
            <a:srgbClr val="FFFFFF"/>
          </a:solidFill>
          <a:ln w="9525">
            <a:solidFill>
              <a:srgbClr val="E2E8ED"/>
            </a:solidFill>
            <a:prstDash val="solid"/>
          </a:ln>
        </p:spPr>
      </p:sp>
      <p:sp>
        <p:nvSpPr>
          <p:cNvPr id="17" name="Rectangle 16">
            <a:extLst>
              <a:ext uri="{FF2B5EF4-FFF2-40B4-BE49-F238E27FC236}">
                <a16:creationId xmlns:a16="http://schemas.microsoft.com/office/drawing/2014/main" id="{2DA8EA18-2F58-4F8B-ABC7-EADE00C2E5E3}"/>
              </a:ext>
            </a:extLst>
          </p:cNvPr>
          <p:cNvSpPr>
            <a:spLocks noGrp="1"/>
          </p:cNvSpPr>
          <p:nvPr/>
        </p:nvSpPr>
        <p:spPr>
          <a:xfrm>
            <a:off x="1085850" y="3571875"/>
            <a:ext cx="4191000" cy="228600"/>
          </a:xfrm>
          <a:prstGeom prst="rect">
            <a:avLst/>
          </a:prstGeom>
          <a:noFill/>
          <a:ln w="0">
            <a:noFill/>
            <a:prstDash val="solid"/>
          </a:ln>
        </p:spPr>
        <p:txBody>
          <a:bodyPr anchor="t"/>
          <a:lstStyle/>
          <a:p>
            <a:pPr algn="ctr">
              <a:defRPr sz="1425" b="1">
                <a:solidFill>
                  <a:srgbClr val="263746"/>
                </a:solidFill>
              </a:defRPr>
            </a:pPr>
            <a:r>
              <a:rPr sz="1425" b="1">
                <a:solidFill>
                  <a:srgbClr val="263746"/>
                </a:solidFill>
              </a:rPr>
              <a:t>2. Платформа автоматически платит</a:t>
            </a:r>
          </a:p>
        </p:txBody>
      </p:sp>
      <p:sp>
        <p:nvSpPr>
          <p:cNvPr id="18" name="Rounded Rectangle 17">
            <a:extLst>
              <a:ext uri="{FF2B5EF4-FFF2-40B4-BE49-F238E27FC236}">
                <a16:creationId xmlns:a16="http://schemas.microsoft.com/office/drawing/2014/main" id="{E1261945-44A9-4388-B7B4-5544EA7F46BD}"/>
              </a:ext>
            </a:extLst>
          </p:cNvPr>
          <p:cNvSpPr>
            <a:spLocks noGrp="1"/>
          </p:cNvSpPr>
          <p:nvPr/>
        </p:nvSpPr>
        <p:spPr>
          <a:xfrm>
            <a:off x="876300" y="4229100"/>
            <a:ext cx="4610100" cy="590550"/>
          </a:xfrm>
          <a:prstGeom prst="roundRect">
            <a:avLst>
              <a:gd name="adj" fmla="val 12903"/>
            </a:avLst>
          </a:prstGeom>
          <a:solidFill>
            <a:srgbClr val="DDEBFA"/>
          </a:solidFill>
          <a:ln w="9525">
            <a:solidFill>
              <a:srgbClr val="075BCB"/>
            </a:solidFill>
            <a:prstDash val="solid"/>
          </a:ln>
        </p:spPr>
      </p:sp>
      <p:sp>
        <p:nvSpPr>
          <p:cNvPr id="19" name="Rectangle 18">
            <a:extLst>
              <a:ext uri="{FF2B5EF4-FFF2-40B4-BE49-F238E27FC236}">
                <a16:creationId xmlns:a16="http://schemas.microsoft.com/office/drawing/2014/main" id="{AA6179F5-91E4-4083-A6E9-AE1305876FB6}"/>
              </a:ext>
            </a:extLst>
          </p:cNvPr>
          <p:cNvSpPr>
            <a:spLocks noGrp="1"/>
          </p:cNvSpPr>
          <p:nvPr/>
        </p:nvSpPr>
        <p:spPr>
          <a:xfrm>
            <a:off x="1085850" y="4391025"/>
            <a:ext cx="4191000" cy="228600"/>
          </a:xfrm>
          <a:prstGeom prst="rect">
            <a:avLst/>
          </a:prstGeom>
          <a:noFill/>
          <a:ln w="0">
            <a:noFill/>
            <a:prstDash val="solid"/>
          </a:ln>
        </p:spPr>
        <p:txBody>
          <a:bodyPr anchor="t"/>
          <a:lstStyle/>
          <a:p>
            <a:pPr algn="ctr">
              <a:defRPr sz="1425" b="1">
                <a:solidFill>
                  <a:srgbClr val="075BCB"/>
                </a:solidFill>
              </a:defRPr>
            </a:pPr>
            <a:r>
              <a:rPr sz="1425" b="1">
                <a:solidFill>
                  <a:srgbClr val="075BCB"/>
                </a:solidFill>
              </a:rPr>
              <a:t>3. Получатель свободно тратит деньги</a:t>
            </a:r>
          </a:p>
        </p:txBody>
      </p:sp>
      <p:sp>
        <p:nvSpPr>
          <p:cNvPr id="20" name="Rounded Rectangle 19">
            <a:extLst>
              <a:ext uri="{FF2B5EF4-FFF2-40B4-BE49-F238E27FC236}">
                <a16:creationId xmlns:a16="http://schemas.microsoft.com/office/drawing/2014/main" id="{37CB4381-49EA-428D-8688-63DC4588CB27}"/>
              </a:ext>
            </a:extLst>
          </p:cNvPr>
          <p:cNvSpPr>
            <a:spLocks noGrp="1"/>
          </p:cNvSpPr>
          <p:nvPr/>
        </p:nvSpPr>
        <p:spPr>
          <a:xfrm>
            <a:off x="6724650" y="1657350"/>
            <a:ext cx="2724150" cy="285750"/>
          </a:xfrm>
          <a:prstGeom prst="roundRect">
            <a:avLst>
              <a:gd name="adj" fmla="val 50000"/>
            </a:avLst>
          </a:prstGeom>
          <a:solidFill>
            <a:srgbClr val="FBE4E6"/>
          </a:solidFill>
          <a:ln w="9525">
            <a:solidFill>
              <a:srgbClr val="FBE4E6"/>
            </a:solidFill>
            <a:prstDash val="solid"/>
          </a:ln>
        </p:spPr>
      </p:sp>
      <p:sp>
        <p:nvSpPr>
          <p:cNvPr id="21" name="Rectangle 20">
            <a:extLst>
              <a:ext uri="{FF2B5EF4-FFF2-40B4-BE49-F238E27FC236}">
                <a16:creationId xmlns:a16="http://schemas.microsoft.com/office/drawing/2014/main" id="{8B9E730F-323A-4A9B-8A03-0DC1C7B33073}"/>
              </a:ext>
            </a:extLst>
          </p:cNvPr>
          <p:cNvSpPr>
            <a:spLocks noGrp="1"/>
          </p:cNvSpPr>
          <p:nvPr/>
        </p:nvSpPr>
        <p:spPr>
          <a:xfrm>
            <a:off x="6800850" y="1704975"/>
            <a:ext cx="2571750" cy="190500"/>
          </a:xfrm>
          <a:prstGeom prst="rect">
            <a:avLst/>
          </a:prstGeom>
          <a:noFill/>
          <a:ln w="0">
            <a:noFill/>
            <a:prstDash val="solid"/>
          </a:ln>
        </p:spPr>
        <p:txBody>
          <a:bodyPr anchor="ctr"/>
          <a:lstStyle/>
          <a:p>
            <a:pPr algn="ctr">
              <a:defRPr sz="975" b="1">
                <a:solidFill>
                  <a:srgbClr val="C64A52"/>
                </a:solidFill>
              </a:defRPr>
            </a:pPr>
            <a:r>
              <a:rPr sz="975" b="1">
                <a:solidFill>
                  <a:srgbClr val="C64A52"/>
                </a:solidFill>
              </a:rPr>
              <a:t>ПРОГРАММИРУЕМЫЕ ДЕНЬГИ</a:t>
            </a:r>
          </a:p>
        </p:txBody>
      </p:sp>
      <p:sp>
        <p:nvSpPr>
          <p:cNvPr id="22" name="Rectangle 21">
            <a:extLst>
              <a:ext uri="{FF2B5EF4-FFF2-40B4-BE49-F238E27FC236}">
                <a16:creationId xmlns:a16="http://schemas.microsoft.com/office/drawing/2014/main" id="{17A8A229-CA61-4CDF-BF48-B92F0489A4AA}"/>
              </a:ext>
            </a:extLst>
          </p:cNvPr>
          <p:cNvSpPr>
            <a:spLocks noGrp="1"/>
          </p:cNvSpPr>
          <p:nvPr/>
        </p:nvSpPr>
        <p:spPr>
          <a:xfrm>
            <a:off x="6724650" y="2095500"/>
            <a:ext cx="4572000" cy="323850"/>
          </a:xfrm>
          <a:prstGeom prst="rect">
            <a:avLst/>
          </a:prstGeom>
          <a:noFill/>
          <a:ln w="0">
            <a:noFill/>
            <a:prstDash val="solid"/>
          </a:ln>
        </p:spPr>
        <p:txBody>
          <a:bodyPr anchor="t"/>
          <a:lstStyle/>
          <a:p>
            <a:pPr algn="l">
              <a:defRPr sz="1800" b="1">
                <a:solidFill>
                  <a:srgbClr val="071D33"/>
                </a:solidFill>
              </a:defRPr>
            </a:pPr>
            <a:r>
              <a:rPr sz="1800" b="1">
                <a:solidFill>
                  <a:srgbClr val="071D33"/>
                </a:solidFill>
              </a:rPr>
              <a:t>Условие следует за средствами</a:t>
            </a:r>
          </a:p>
        </p:txBody>
      </p:sp>
      <p:sp>
        <p:nvSpPr>
          <p:cNvPr id="23" name="Rounded Rectangle 22">
            <a:extLst>
              <a:ext uri="{FF2B5EF4-FFF2-40B4-BE49-F238E27FC236}">
                <a16:creationId xmlns:a16="http://schemas.microsoft.com/office/drawing/2014/main" id="{96E1A336-955F-4329-B7A1-FE13B094B731}"/>
              </a:ext>
            </a:extLst>
          </p:cNvPr>
          <p:cNvSpPr>
            <a:spLocks noGrp="1"/>
          </p:cNvSpPr>
          <p:nvPr/>
        </p:nvSpPr>
        <p:spPr>
          <a:xfrm>
            <a:off x="6724650" y="2590800"/>
            <a:ext cx="4572000" cy="2228850"/>
          </a:xfrm>
          <a:prstGeom prst="roundRect">
            <a:avLst>
              <a:gd name="adj" fmla="val 5128"/>
            </a:avLst>
          </a:prstGeom>
          <a:solidFill>
            <a:srgbClr val="FFFFFF"/>
          </a:solidFill>
          <a:ln w="14288">
            <a:solidFill>
              <a:srgbClr val="C64A52"/>
            </a:solidFill>
            <a:prstDash val="solid"/>
          </a:ln>
        </p:spPr>
      </p:sp>
      <p:sp>
        <p:nvSpPr>
          <p:cNvPr id="24" name="Oval 23">
            <a:extLst>
              <a:ext uri="{FF2B5EF4-FFF2-40B4-BE49-F238E27FC236}">
                <a16:creationId xmlns:a16="http://schemas.microsoft.com/office/drawing/2014/main" id="{2FCED368-84E9-4AFB-B927-DB0AB07A02CD}"/>
              </a:ext>
            </a:extLst>
          </p:cNvPr>
          <p:cNvSpPr>
            <a:spLocks noGrp="1"/>
          </p:cNvSpPr>
          <p:nvPr/>
        </p:nvSpPr>
        <p:spPr>
          <a:xfrm>
            <a:off x="7029450" y="2857500"/>
            <a:ext cx="95250" cy="95250"/>
          </a:xfrm>
          <a:prstGeom prst="ellipse">
            <a:avLst/>
          </a:prstGeom>
          <a:solidFill>
            <a:srgbClr val="C64A52"/>
          </a:solidFill>
          <a:ln w="0">
            <a:solidFill>
              <a:srgbClr val="C64A52"/>
            </a:solidFill>
            <a:prstDash val="solid"/>
          </a:ln>
        </p:spPr>
      </p:sp>
      <p:sp>
        <p:nvSpPr>
          <p:cNvPr id="25" name="Rectangle 24">
            <a:extLst>
              <a:ext uri="{FF2B5EF4-FFF2-40B4-BE49-F238E27FC236}">
                <a16:creationId xmlns:a16="http://schemas.microsoft.com/office/drawing/2014/main" id="{9DDA7E3F-80FF-44BA-BDDE-099F7A8B4730}"/>
              </a:ext>
            </a:extLst>
          </p:cNvPr>
          <p:cNvSpPr>
            <a:spLocks noGrp="1"/>
          </p:cNvSpPr>
          <p:nvPr/>
        </p:nvSpPr>
        <p:spPr>
          <a:xfrm>
            <a:off x="7239000" y="2771775"/>
            <a:ext cx="3714750" cy="285750"/>
          </a:xfrm>
          <a:prstGeom prst="rect">
            <a:avLst/>
          </a:prstGeom>
          <a:noFill/>
          <a:ln w="0">
            <a:noFill/>
            <a:prstDash val="solid"/>
          </a:ln>
        </p:spPr>
        <p:txBody>
          <a:bodyPr anchor="t"/>
          <a:lstStyle/>
          <a:p>
            <a:pPr algn="l">
              <a:defRPr sz="1350" b="0">
                <a:solidFill>
                  <a:srgbClr val="263746"/>
                </a:solidFill>
              </a:defRPr>
            </a:pPr>
            <a:r>
              <a:rPr sz="1350" b="0">
                <a:solidFill>
                  <a:srgbClr val="263746"/>
                </a:solidFill>
              </a:rPr>
              <a:t>Только разрешенные категории товаров</a:t>
            </a:r>
          </a:p>
        </p:txBody>
      </p:sp>
      <p:sp>
        <p:nvSpPr>
          <p:cNvPr id="26" name="Oval 25">
            <a:extLst>
              <a:ext uri="{FF2B5EF4-FFF2-40B4-BE49-F238E27FC236}">
                <a16:creationId xmlns:a16="http://schemas.microsoft.com/office/drawing/2014/main" id="{95AF897F-76F6-4140-A0EF-9CFEC9D54823}"/>
              </a:ext>
            </a:extLst>
          </p:cNvPr>
          <p:cNvSpPr>
            <a:spLocks noGrp="1"/>
          </p:cNvSpPr>
          <p:nvPr/>
        </p:nvSpPr>
        <p:spPr>
          <a:xfrm>
            <a:off x="7029450" y="3314700"/>
            <a:ext cx="95250" cy="95250"/>
          </a:xfrm>
          <a:prstGeom prst="ellipse">
            <a:avLst/>
          </a:prstGeom>
          <a:solidFill>
            <a:srgbClr val="C64A52"/>
          </a:solidFill>
          <a:ln w="0">
            <a:solidFill>
              <a:srgbClr val="C64A52"/>
            </a:solidFill>
            <a:prstDash val="solid"/>
          </a:ln>
        </p:spPr>
      </p:sp>
      <p:sp>
        <p:nvSpPr>
          <p:cNvPr id="27" name="Rectangle 26">
            <a:extLst>
              <a:ext uri="{FF2B5EF4-FFF2-40B4-BE49-F238E27FC236}">
                <a16:creationId xmlns:a16="http://schemas.microsoft.com/office/drawing/2014/main" id="{BD1B4863-20D2-4BBD-B3F0-FD5435E96B3A}"/>
              </a:ext>
            </a:extLst>
          </p:cNvPr>
          <p:cNvSpPr>
            <a:spLocks noGrp="1"/>
          </p:cNvSpPr>
          <p:nvPr/>
        </p:nvSpPr>
        <p:spPr>
          <a:xfrm>
            <a:off x="7239000" y="3228975"/>
            <a:ext cx="3714750" cy="285750"/>
          </a:xfrm>
          <a:prstGeom prst="rect">
            <a:avLst/>
          </a:prstGeom>
          <a:noFill/>
          <a:ln w="0">
            <a:noFill/>
            <a:prstDash val="solid"/>
          </a:ln>
        </p:spPr>
        <p:txBody>
          <a:bodyPr anchor="t"/>
          <a:lstStyle/>
          <a:p>
            <a:pPr algn="l">
              <a:defRPr sz="1350" b="0">
                <a:solidFill>
                  <a:srgbClr val="263746"/>
                </a:solidFill>
              </a:defRPr>
            </a:pPr>
            <a:r>
              <a:rPr sz="1350" b="0">
                <a:solidFill>
                  <a:srgbClr val="263746"/>
                </a:solidFill>
              </a:rPr>
              <a:t>Ограниченный круг получателей</a:t>
            </a:r>
          </a:p>
        </p:txBody>
      </p:sp>
      <p:sp>
        <p:nvSpPr>
          <p:cNvPr id="28" name="Oval 27">
            <a:extLst>
              <a:ext uri="{FF2B5EF4-FFF2-40B4-BE49-F238E27FC236}">
                <a16:creationId xmlns:a16="http://schemas.microsoft.com/office/drawing/2014/main" id="{E1ED1410-2F01-475E-8468-D71F33604570}"/>
              </a:ext>
            </a:extLst>
          </p:cNvPr>
          <p:cNvSpPr>
            <a:spLocks noGrp="1"/>
          </p:cNvSpPr>
          <p:nvPr/>
        </p:nvSpPr>
        <p:spPr>
          <a:xfrm>
            <a:off x="7029450" y="3771900"/>
            <a:ext cx="95250" cy="95250"/>
          </a:xfrm>
          <a:prstGeom prst="ellipse">
            <a:avLst/>
          </a:prstGeom>
          <a:solidFill>
            <a:srgbClr val="C64A52"/>
          </a:solidFill>
          <a:ln w="0">
            <a:solidFill>
              <a:srgbClr val="C64A52"/>
            </a:solidFill>
            <a:prstDash val="solid"/>
          </a:ln>
        </p:spPr>
      </p:sp>
      <p:sp>
        <p:nvSpPr>
          <p:cNvPr id="29" name="Rectangle 28">
            <a:extLst>
              <a:ext uri="{FF2B5EF4-FFF2-40B4-BE49-F238E27FC236}">
                <a16:creationId xmlns:a16="http://schemas.microsoft.com/office/drawing/2014/main" id="{64D9378D-7F4F-444D-8C16-2804D66974EA}"/>
              </a:ext>
            </a:extLst>
          </p:cNvPr>
          <p:cNvSpPr>
            <a:spLocks noGrp="1"/>
          </p:cNvSpPr>
          <p:nvPr/>
        </p:nvSpPr>
        <p:spPr>
          <a:xfrm>
            <a:off x="7239000" y="3686175"/>
            <a:ext cx="3714750" cy="285750"/>
          </a:xfrm>
          <a:prstGeom prst="rect">
            <a:avLst/>
          </a:prstGeom>
          <a:noFill/>
          <a:ln w="0">
            <a:noFill/>
            <a:prstDash val="solid"/>
          </a:ln>
        </p:spPr>
        <p:txBody>
          <a:bodyPr anchor="t"/>
          <a:lstStyle/>
          <a:p>
            <a:pPr algn="l">
              <a:defRPr sz="1350" b="0">
                <a:solidFill>
                  <a:srgbClr val="263746"/>
                </a:solidFill>
              </a:defRPr>
            </a:pPr>
            <a:r>
              <a:rPr sz="1350" b="0">
                <a:solidFill>
                  <a:srgbClr val="263746"/>
                </a:solidFill>
              </a:rPr>
              <a:t>Срок или территория использования</a:t>
            </a:r>
          </a:p>
        </p:txBody>
      </p:sp>
      <p:sp>
        <p:nvSpPr>
          <p:cNvPr id="30" name="Oval 29">
            <a:extLst>
              <a:ext uri="{FF2B5EF4-FFF2-40B4-BE49-F238E27FC236}">
                <a16:creationId xmlns:a16="http://schemas.microsoft.com/office/drawing/2014/main" id="{37980784-A0ED-466D-A80C-9FDC1634E8DE}"/>
              </a:ext>
            </a:extLst>
          </p:cNvPr>
          <p:cNvSpPr>
            <a:spLocks noGrp="1"/>
          </p:cNvSpPr>
          <p:nvPr/>
        </p:nvSpPr>
        <p:spPr>
          <a:xfrm>
            <a:off x="7029450" y="4229100"/>
            <a:ext cx="95250" cy="95250"/>
          </a:xfrm>
          <a:prstGeom prst="ellipse">
            <a:avLst/>
          </a:prstGeom>
          <a:solidFill>
            <a:srgbClr val="C64A52"/>
          </a:solidFill>
          <a:ln w="0">
            <a:solidFill>
              <a:srgbClr val="C64A52"/>
            </a:solidFill>
            <a:prstDash val="solid"/>
          </a:ln>
        </p:spPr>
      </p:sp>
      <p:sp>
        <p:nvSpPr>
          <p:cNvPr id="31" name="Rectangle 30">
            <a:extLst>
              <a:ext uri="{FF2B5EF4-FFF2-40B4-BE49-F238E27FC236}">
                <a16:creationId xmlns:a16="http://schemas.microsoft.com/office/drawing/2014/main" id="{6736541B-54E6-4B18-8693-5550C1122A96}"/>
              </a:ext>
            </a:extLst>
          </p:cNvPr>
          <p:cNvSpPr>
            <a:spLocks noGrp="1"/>
          </p:cNvSpPr>
          <p:nvPr/>
        </p:nvSpPr>
        <p:spPr>
          <a:xfrm>
            <a:off x="7239000" y="4143375"/>
            <a:ext cx="3714750" cy="285750"/>
          </a:xfrm>
          <a:prstGeom prst="rect">
            <a:avLst/>
          </a:prstGeom>
          <a:noFill/>
          <a:ln w="0">
            <a:noFill/>
            <a:prstDash val="solid"/>
          </a:ln>
        </p:spPr>
        <p:txBody>
          <a:bodyPr anchor="t"/>
          <a:lstStyle/>
          <a:p>
            <a:pPr algn="l">
              <a:defRPr sz="1350" b="0">
                <a:solidFill>
                  <a:srgbClr val="263746"/>
                </a:solidFill>
              </a:defRPr>
            </a:pPr>
            <a:r>
              <a:rPr sz="1350" b="0">
                <a:solidFill>
                  <a:srgbClr val="263746"/>
                </a:solidFill>
              </a:rPr>
              <a:t>Прослеживание дальнейшей цепочки</a:t>
            </a:r>
          </a:p>
        </p:txBody>
      </p:sp>
      <p:sp>
        <p:nvSpPr>
          <p:cNvPr id="32" name="Rounded Rectangle 31">
            <a:extLst>
              <a:ext uri="{FF2B5EF4-FFF2-40B4-BE49-F238E27FC236}">
                <a16:creationId xmlns:a16="http://schemas.microsoft.com/office/drawing/2014/main" id="{97ADE0CB-E9EA-453B-BC6D-8CE3BB68902D}"/>
              </a:ext>
            </a:extLst>
          </p:cNvPr>
          <p:cNvSpPr>
            <a:spLocks noGrp="1"/>
          </p:cNvSpPr>
          <p:nvPr/>
        </p:nvSpPr>
        <p:spPr>
          <a:xfrm>
            <a:off x="876300" y="5105400"/>
            <a:ext cx="10420350" cy="514350"/>
          </a:xfrm>
          <a:prstGeom prst="roundRect">
            <a:avLst>
              <a:gd name="adj" fmla="val 14815"/>
            </a:avLst>
          </a:prstGeom>
          <a:solidFill>
            <a:srgbClr val="FFF0D8"/>
          </a:solidFill>
          <a:ln w="9525">
            <a:solidFill>
              <a:srgbClr val="FFF0D8"/>
            </a:solidFill>
            <a:prstDash val="solid"/>
          </a:ln>
        </p:spPr>
      </p:sp>
      <p:sp>
        <p:nvSpPr>
          <p:cNvPr id="33" name="Rectangle 32">
            <a:extLst>
              <a:ext uri="{FF2B5EF4-FFF2-40B4-BE49-F238E27FC236}">
                <a16:creationId xmlns:a16="http://schemas.microsoft.com/office/drawing/2014/main" id="{1ADD84EB-0D89-4278-B961-41A537FFE566}"/>
              </a:ext>
            </a:extLst>
          </p:cNvPr>
          <p:cNvSpPr>
            <a:spLocks noGrp="1"/>
          </p:cNvSpPr>
          <p:nvPr/>
        </p:nvSpPr>
        <p:spPr>
          <a:xfrm>
            <a:off x="1066800" y="5210175"/>
            <a:ext cx="10039350" cy="323850"/>
          </a:xfrm>
          <a:prstGeom prst="rect">
            <a:avLst/>
          </a:prstGeom>
          <a:noFill/>
          <a:ln w="0">
            <a:noFill/>
            <a:prstDash val="solid"/>
          </a:ln>
        </p:spPr>
        <p:txBody>
          <a:bodyPr anchor="ctr"/>
          <a:lstStyle/>
          <a:p>
            <a:pPr algn="ctr">
              <a:defRPr sz="1200" b="1">
                <a:solidFill>
                  <a:srgbClr val="D98216"/>
                </a:solidFill>
              </a:defRPr>
            </a:pPr>
            <a:r>
              <a:rPr sz="1200" b="1">
                <a:solidFill>
                  <a:srgbClr val="D98216"/>
                </a:solidFill>
              </a:rPr>
              <a:t>На 01.09.2026 собственные цифровые рубли можно тратить свободно; маркирование — официально описанная техническая возможность, а не общее правило.</a:t>
            </a:r>
          </a:p>
        </p:txBody>
      </p:sp>
      <p:sp>
        <p:nvSpPr>
          <p:cNvPr id="34" name="Rounded Rectangle 33">
            <a:extLst>
              <a:ext uri="{FF2B5EF4-FFF2-40B4-BE49-F238E27FC236}">
                <a16:creationId xmlns:a16="http://schemas.microsoft.com/office/drawing/2014/main" id="{38E06EAA-A882-43CA-8189-CF06E0BA1D60}"/>
              </a:ext>
            </a:extLst>
          </p:cNvPr>
          <p:cNvSpPr>
            <a:spLocks noGrp="1"/>
          </p:cNvSpPr>
          <p:nvPr/>
        </p:nvSpPr>
        <p:spPr>
          <a:xfrm>
            <a:off x="609600" y="5829300"/>
            <a:ext cx="10972800" cy="590550"/>
          </a:xfrm>
          <a:prstGeom prst="roundRect">
            <a:avLst>
              <a:gd name="adj" fmla="val 12903"/>
            </a:avLst>
          </a:prstGeom>
          <a:solidFill>
            <a:srgbClr val="071D33"/>
          </a:solidFill>
          <a:ln w="9525">
            <a:solidFill>
              <a:srgbClr val="071D33"/>
            </a:solidFill>
            <a:prstDash val="solid"/>
          </a:ln>
        </p:spPr>
      </p:sp>
      <p:sp>
        <p:nvSpPr>
          <p:cNvPr id="35" name="Rectangle 34">
            <a:extLst>
              <a:ext uri="{FF2B5EF4-FFF2-40B4-BE49-F238E27FC236}">
                <a16:creationId xmlns:a16="http://schemas.microsoft.com/office/drawing/2014/main" id="{A9ABF8B1-8624-437B-AC41-7BD7310FF981}"/>
              </a:ext>
            </a:extLst>
          </p:cNvPr>
          <p:cNvSpPr>
            <a:spLocks noGrp="1"/>
          </p:cNvSpPr>
          <p:nvPr/>
        </p:nvSpPr>
        <p:spPr>
          <a:xfrm>
            <a:off x="838200" y="5991225"/>
            <a:ext cx="3905250" cy="266700"/>
          </a:xfrm>
          <a:prstGeom prst="rect">
            <a:avLst/>
          </a:prstGeom>
          <a:noFill/>
          <a:ln w="0">
            <a:noFill/>
            <a:prstDash val="solid"/>
          </a:ln>
        </p:spPr>
        <p:txBody>
          <a:bodyPr anchor="t"/>
          <a:lstStyle/>
          <a:p>
            <a:pPr algn="l">
              <a:defRPr sz="1425" b="1">
                <a:solidFill>
                  <a:srgbClr val="FFFFFF"/>
                </a:solidFill>
              </a:defRPr>
            </a:pPr>
            <a:r>
              <a:rPr sz="1425" b="1">
                <a:solidFill>
                  <a:srgbClr val="FFFFFF"/>
                </a:solidFill>
              </a:rPr>
              <a:t>Кто вправе задавать условия?</a:t>
            </a:r>
          </a:p>
        </p:txBody>
      </p:sp>
      <p:sp>
        <p:nvSpPr>
          <p:cNvPr id="36" name="Rectangle 35">
            <a:extLst>
              <a:ext uri="{FF2B5EF4-FFF2-40B4-BE49-F238E27FC236}">
                <a16:creationId xmlns:a16="http://schemas.microsoft.com/office/drawing/2014/main" id="{AE68EA7B-1C4E-41C8-94FB-970DFB1E3833}"/>
              </a:ext>
            </a:extLst>
          </p:cNvPr>
          <p:cNvSpPr>
            <a:spLocks noGrp="1"/>
          </p:cNvSpPr>
          <p:nvPr/>
        </p:nvSpPr>
        <p:spPr>
          <a:xfrm>
            <a:off x="5010150" y="6000750"/>
            <a:ext cx="6267450" cy="228600"/>
          </a:xfrm>
          <a:prstGeom prst="rect">
            <a:avLst/>
          </a:prstGeom>
          <a:noFill/>
          <a:ln w="0">
            <a:noFill/>
            <a:prstDash val="solid"/>
          </a:ln>
        </p:spPr>
        <p:txBody>
          <a:bodyPr anchor="t"/>
          <a:lstStyle/>
          <a:p>
            <a:pPr algn="r">
              <a:defRPr sz="1200" b="1">
                <a:solidFill>
                  <a:srgbClr val="FFFFFF"/>
                </a:solidFill>
              </a:defRPr>
            </a:pPr>
            <a:r>
              <a:rPr sz="1200" b="1">
                <a:solidFill>
                  <a:srgbClr val="FFFFFF"/>
                </a:solidFill>
              </a:rPr>
              <a:t>Согласие  ·  Законное основание  ·  Ограниченный срок  ·  Право обжалования</a:t>
            </a:r>
          </a:p>
        </p:txBody>
      </p:sp>
    </p:spTree>
    <p:extLst>
      <p:ext uri="{BB962C8B-B14F-4D97-AF65-F5344CB8AC3E}">
        <p14:creationId xmlns:p14="http://schemas.microsoft.com/office/powerpoint/2010/main" val="2114473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37" name="Rounded Rectangle 36">
            <a:extLst>
              <a:ext uri="{FF2B5EF4-FFF2-40B4-BE49-F238E27FC236}">
                <a16:creationId xmlns:a16="http://schemas.microsoft.com/office/drawing/2014/main" id="{28D2082E-43C8-4B64-8177-9C8910797F21}"/>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1C4D1A8F-F391-4B22-918A-2B97B59EE4D5}"/>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9">
            <a:extLst>
              <a:ext uri="{FF2B5EF4-FFF2-40B4-BE49-F238E27FC236}">
                <a16:creationId xmlns:a16="http://schemas.microsoft.com/office/drawing/2014/main" id="{1F914B17-DA38-4FB5-8FE2-D17E0107E937}"/>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8. МЕЖДУНАРОДНАЯ ПАНОРАМА</a:t>
            </a:r>
          </a:p>
        </p:txBody>
      </p:sp>
      <p:sp>
        <p:nvSpPr>
          <p:cNvPr id="4" name="title-9">
            <a:extLst>
              <a:ext uri="{FF2B5EF4-FFF2-40B4-BE49-F238E27FC236}">
                <a16:creationId xmlns:a16="http://schemas.microsoft.com/office/drawing/2014/main" id="{365F611A-7573-413F-8498-717D621BFA22}"/>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CBDC — не один продукт: разные страны решают разные задачи</a:t>
            </a:r>
          </a:p>
        </p:txBody>
      </p:sp>
      <p:sp>
        <p:nvSpPr>
          <p:cNvPr id="5" name="Straight Connector 4">
            <a:extLst>
              <a:ext uri="{FF2B5EF4-FFF2-40B4-BE49-F238E27FC236}">
                <a16:creationId xmlns:a16="http://schemas.microsoft.com/office/drawing/2014/main" id="{BA06D099-FDCB-4BE1-A153-4C37DC8FE2ED}"/>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5023471F-5D81-43BC-9BF7-EB443EDC614D}"/>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B450E7CE-FAAD-4750-B8CA-51B55E9741A1}"/>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09</a:t>
            </a:r>
          </a:p>
        </p:txBody>
      </p:sp>
      <p:sp>
        <p:nvSpPr>
          <p:cNvPr id="8" name="Rounded Rectangle 7">
            <a:extLst>
              <a:ext uri="{FF2B5EF4-FFF2-40B4-BE49-F238E27FC236}">
                <a16:creationId xmlns:a16="http://schemas.microsoft.com/office/drawing/2014/main" id="{ACFF132C-325F-4118-AC3D-F023E44017D5}"/>
              </a:ext>
            </a:extLst>
          </p:cNvPr>
          <p:cNvSpPr>
            <a:spLocks noGrp="1"/>
          </p:cNvSpPr>
          <p:nvPr/>
        </p:nvSpPr>
        <p:spPr>
          <a:xfrm>
            <a:off x="704850" y="1714500"/>
            <a:ext cx="2476500" cy="3619500"/>
          </a:xfrm>
          <a:prstGeom prst="roundRect">
            <a:avLst>
              <a:gd name="adj" fmla="val 3077"/>
            </a:avLst>
          </a:prstGeom>
          <a:solidFill>
            <a:srgbClr val="071D33"/>
          </a:solidFill>
          <a:ln w="9525">
            <a:solidFill>
              <a:srgbClr val="071D33"/>
            </a:solidFill>
            <a:prstDash val="solid"/>
          </a:ln>
        </p:spPr>
      </p:sp>
      <p:sp>
        <p:nvSpPr>
          <p:cNvPr id="9" name="Rectangle 8">
            <a:extLst>
              <a:ext uri="{FF2B5EF4-FFF2-40B4-BE49-F238E27FC236}">
                <a16:creationId xmlns:a16="http://schemas.microsoft.com/office/drawing/2014/main" id="{C6AD243A-D499-4B34-A763-E2916FF4EF48}"/>
              </a:ext>
            </a:extLst>
          </p:cNvPr>
          <p:cNvSpPr>
            <a:spLocks noGrp="1"/>
          </p:cNvSpPr>
          <p:nvPr/>
        </p:nvSpPr>
        <p:spPr>
          <a:xfrm>
            <a:off x="933450" y="2019300"/>
            <a:ext cx="2019300" cy="800100"/>
          </a:xfrm>
          <a:prstGeom prst="rect">
            <a:avLst/>
          </a:prstGeom>
          <a:noFill/>
          <a:ln w="0">
            <a:noFill/>
            <a:prstDash val="solid"/>
          </a:ln>
        </p:spPr>
        <p:txBody>
          <a:bodyPr anchor="t"/>
          <a:lstStyle/>
          <a:p>
            <a:pPr algn="ctr">
              <a:defRPr sz="4350" b="1">
                <a:solidFill>
                  <a:srgbClr val="FFFFFF"/>
                </a:solidFill>
              </a:defRPr>
            </a:pPr>
            <a:r>
              <a:rPr sz="4350" b="1">
                <a:solidFill>
                  <a:srgbClr val="FFFFFF"/>
                </a:solidFill>
              </a:rPr>
              <a:t>91%</a:t>
            </a:r>
          </a:p>
        </p:txBody>
      </p:sp>
      <p:sp>
        <p:nvSpPr>
          <p:cNvPr id="10" name="Rectangle 9">
            <a:extLst>
              <a:ext uri="{FF2B5EF4-FFF2-40B4-BE49-F238E27FC236}">
                <a16:creationId xmlns:a16="http://schemas.microsoft.com/office/drawing/2014/main" id="{6FB120B1-825B-4B27-99AD-40F81E8304D0}"/>
              </a:ext>
            </a:extLst>
          </p:cNvPr>
          <p:cNvSpPr>
            <a:spLocks noGrp="1"/>
          </p:cNvSpPr>
          <p:nvPr/>
        </p:nvSpPr>
        <p:spPr>
          <a:xfrm>
            <a:off x="952500" y="2876550"/>
            <a:ext cx="1981200" cy="266700"/>
          </a:xfrm>
          <a:prstGeom prst="rect">
            <a:avLst/>
          </a:prstGeom>
          <a:noFill/>
          <a:ln w="0">
            <a:noFill/>
            <a:prstDash val="solid"/>
          </a:ln>
        </p:spPr>
        <p:txBody>
          <a:bodyPr anchor="t"/>
          <a:lstStyle/>
          <a:p>
            <a:pPr algn="ctr">
              <a:defRPr sz="1350" b="1">
                <a:solidFill>
                  <a:srgbClr val="46B8D8"/>
                </a:solidFill>
              </a:defRPr>
            </a:pPr>
            <a:r>
              <a:rPr sz="1350" b="1">
                <a:solidFill>
                  <a:srgbClr val="46B8D8"/>
                </a:solidFill>
              </a:rPr>
              <a:t>из 93 центробанков</a:t>
            </a:r>
          </a:p>
        </p:txBody>
      </p:sp>
      <p:sp>
        <p:nvSpPr>
          <p:cNvPr id="11" name="Rectangle 10">
            <a:extLst>
              <a:ext uri="{FF2B5EF4-FFF2-40B4-BE49-F238E27FC236}">
                <a16:creationId xmlns:a16="http://schemas.microsoft.com/office/drawing/2014/main" id="{E4217175-518E-4BC1-92B0-9E8A7222CEDB}"/>
              </a:ext>
            </a:extLst>
          </p:cNvPr>
          <p:cNvSpPr>
            <a:spLocks noGrp="1"/>
          </p:cNvSpPr>
          <p:nvPr/>
        </p:nvSpPr>
        <p:spPr>
          <a:xfrm>
            <a:off x="971550" y="3295650"/>
            <a:ext cx="1943100" cy="704850"/>
          </a:xfrm>
          <a:prstGeom prst="rect">
            <a:avLst/>
          </a:prstGeom>
          <a:noFill/>
          <a:ln w="0">
            <a:noFill/>
            <a:prstDash val="solid"/>
          </a:ln>
        </p:spPr>
        <p:txBody>
          <a:bodyPr anchor="t"/>
          <a:lstStyle/>
          <a:p>
            <a:pPr algn="ctr">
              <a:defRPr sz="1350" b="0">
                <a:solidFill>
                  <a:srgbClr val="E2E8ED"/>
                </a:solidFill>
              </a:defRPr>
            </a:pPr>
            <a:r>
              <a:rPr sz="1350" b="0">
                <a:solidFill>
                  <a:srgbClr val="E2E8ED"/>
                </a:solidFill>
              </a:rPr>
              <a:t>изучали розничную, оптовую CBDC или обе модели</a:t>
            </a:r>
          </a:p>
        </p:txBody>
      </p:sp>
      <p:sp>
        <p:nvSpPr>
          <p:cNvPr id="12" name="Straight Connector 11">
            <a:extLst>
              <a:ext uri="{FF2B5EF4-FFF2-40B4-BE49-F238E27FC236}">
                <a16:creationId xmlns:a16="http://schemas.microsoft.com/office/drawing/2014/main" id="{6D585A7F-0DAA-4147-96B3-FB808F76BBC3}"/>
              </a:ext>
            </a:extLst>
          </p:cNvPr>
          <p:cNvSpPr>
            <a:spLocks noGrp="1"/>
          </p:cNvSpPr>
          <p:nvPr/>
        </p:nvSpPr>
        <p:spPr>
          <a:xfrm>
            <a:off x="990600" y="4171950"/>
            <a:ext cx="1905000" cy="0"/>
          </a:xfrm>
          <a:prstGeom prst="line">
            <a:avLst/>
          </a:prstGeom>
          <a:noFill/>
          <a:ln w="9525">
            <a:solidFill>
              <a:srgbClr val="536777"/>
            </a:solidFill>
            <a:prstDash val="solid"/>
          </a:ln>
        </p:spPr>
      </p:sp>
      <p:sp>
        <p:nvSpPr>
          <p:cNvPr id="13" name="Rectangle 12">
            <a:extLst>
              <a:ext uri="{FF2B5EF4-FFF2-40B4-BE49-F238E27FC236}">
                <a16:creationId xmlns:a16="http://schemas.microsoft.com/office/drawing/2014/main" id="{25677D30-9CF7-46A4-998F-C6F3334A8CAA}"/>
              </a:ext>
            </a:extLst>
          </p:cNvPr>
          <p:cNvSpPr>
            <a:spLocks noGrp="1"/>
          </p:cNvSpPr>
          <p:nvPr/>
        </p:nvSpPr>
        <p:spPr>
          <a:xfrm>
            <a:off x="971550" y="4400550"/>
            <a:ext cx="1943100" cy="666750"/>
          </a:xfrm>
          <a:prstGeom prst="rect">
            <a:avLst/>
          </a:prstGeom>
          <a:noFill/>
          <a:ln w="0">
            <a:noFill/>
            <a:prstDash val="solid"/>
          </a:ln>
        </p:spPr>
        <p:txBody>
          <a:bodyPr anchor="t"/>
          <a:lstStyle/>
          <a:p>
            <a:pPr algn="ctr">
              <a:defRPr sz="1275" b="1">
                <a:solidFill>
                  <a:srgbClr val="FFFFFF"/>
                </a:solidFill>
              </a:defRPr>
            </a:pPr>
            <a:r>
              <a:rPr sz="1275" b="1">
                <a:solidFill>
                  <a:srgbClr val="FFFFFF"/>
                </a:solidFill>
              </a:rPr>
              <a:t>Оптовые проекты в среднем продвинулись дальше розничных</a:t>
            </a:r>
          </a:p>
        </p:txBody>
      </p:sp>
      <p:sp>
        <p:nvSpPr>
          <p:cNvPr id="14" name="Rounded Rectangle 13">
            <a:extLst>
              <a:ext uri="{FF2B5EF4-FFF2-40B4-BE49-F238E27FC236}">
                <a16:creationId xmlns:a16="http://schemas.microsoft.com/office/drawing/2014/main" id="{2080140B-36D6-43DC-B2C6-E6C40C6C82A8}"/>
              </a:ext>
            </a:extLst>
          </p:cNvPr>
          <p:cNvSpPr>
            <a:spLocks noGrp="1"/>
          </p:cNvSpPr>
          <p:nvPr/>
        </p:nvSpPr>
        <p:spPr>
          <a:xfrm>
            <a:off x="3486150" y="1714500"/>
            <a:ext cx="3810000" cy="1657350"/>
          </a:xfrm>
          <a:prstGeom prst="roundRect">
            <a:avLst>
              <a:gd name="adj" fmla="val 4598"/>
            </a:avLst>
          </a:prstGeom>
          <a:solidFill>
            <a:srgbClr val="FFFFFF"/>
          </a:solidFill>
          <a:ln w="9525">
            <a:solidFill>
              <a:srgbClr val="E2E8ED"/>
            </a:solidFill>
            <a:prstDash val="solid"/>
          </a:ln>
        </p:spPr>
      </p:sp>
      <p:sp>
        <p:nvSpPr>
          <p:cNvPr id="15" name="Rounded Rectangle 14">
            <a:extLst>
              <a:ext uri="{FF2B5EF4-FFF2-40B4-BE49-F238E27FC236}">
                <a16:creationId xmlns:a16="http://schemas.microsoft.com/office/drawing/2014/main" id="{E784478C-46FB-4063-9F3C-BEF889631488}"/>
              </a:ext>
            </a:extLst>
          </p:cNvPr>
          <p:cNvSpPr>
            <a:spLocks noGrp="1"/>
          </p:cNvSpPr>
          <p:nvPr/>
        </p:nvSpPr>
        <p:spPr>
          <a:xfrm>
            <a:off x="3486150" y="1714500"/>
            <a:ext cx="76200" cy="1657350"/>
          </a:xfrm>
          <a:prstGeom prst="roundRect">
            <a:avLst>
              <a:gd name="adj" fmla="val 50000"/>
            </a:avLst>
          </a:prstGeom>
          <a:solidFill>
            <a:srgbClr val="075BCB"/>
          </a:solidFill>
          <a:ln w="9525">
            <a:solidFill>
              <a:srgbClr val="075BCB"/>
            </a:solidFill>
            <a:prstDash val="solid"/>
          </a:ln>
        </p:spPr>
      </p:sp>
      <p:sp>
        <p:nvSpPr>
          <p:cNvPr id="16" name="Rectangle 15">
            <a:extLst>
              <a:ext uri="{FF2B5EF4-FFF2-40B4-BE49-F238E27FC236}">
                <a16:creationId xmlns:a16="http://schemas.microsoft.com/office/drawing/2014/main" id="{EF1AB206-D880-4CE6-886C-BC5F45C7A57C}"/>
              </a:ext>
            </a:extLst>
          </p:cNvPr>
          <p:cNvSpPr>
            <a:spLocks noGrp="1"/>
          </p:cNvSpPr>
          <p:nvPr/>
        </p:nvSpPr>
        <p:spPr>
          <a:xfrm>
            <a:off x="3733800" y="1885950"/>
            <a:ext cx="3333750" cy="19050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РОЗНИЧНЫЕ ЦИФРОВЫЕ НАЛИЧНЫЕ</a:t>
            </a:r>
          </a:p>
        </p:txBody>
      </p:sp>
      <p:sp>
        <p:nvSpPr>
          <p:cNvPr id="17" name="Rectangle 16">
            <a:extLst>
              <a:ext uri="{FF2B5EF4-FFF2-40B4-BE49-F238E27FC236}">
                <a16:creationId xmlns:a16="http://schemas.microsoft.com/office/drawing/2014/main" id="{41A09FBF-CA28-479D-9684-1F8BC2317141}"/>
              </a:ext>
            </a:extLst>
          </p:cNvPr>
          <p:cNvSpPr>
            <a:spLocks noGrp="1"/>
          </p:cNvSpPr>
          <p:nvPr/>
        </p:nvSpPr>
        <p:spPr>
          <a:xfrm>
            <a:off x="3733800" y="2200275"/>
            <a:ext cx="3333750" cy="266700"/>
          </a:xfrm>
          <a:prstGeom prst="rect">
            <a:avLst/>
          </a:prstGeom>
          <a:noFill/>
          <a:ln w="0">
            <a:noFill/>
            <a:prstDash val="solid"/>
          </a:ln>
        </p:spPr>
        <p:txBody>
          <a:bodyPr anchor="t"/>
          <a:lstStyle/>
          <a:p>
            <a:pPr algn="l">
              <a:defRPr sz="1650" b="1">
                <a:solidFill>
                  <a:srgbClr val="071D33"/>
                </a:solidFill>
              </a:defRPr>
            </a:pPr>
            <a:r>
              <a:rPr sz="1650" b="1">
                <a:solidFill>
                  <a:srgbClr val="071D33"/>
                </a:solidFill>
              </a:rPr>
              <a:t>Россия · Китай</a:t>
            </a:r>
          </a:p>
        </p:txBody>
      </p:sp>
      <p:sp>
        <p:nvSpPr>
          <p:cNvPr id="18" name="Rectangle 17">
            <a:extLst>
              <a:ext uri="{FF2B5EF4-FFF2-40B4-BE49-F238E27FC236}">
                <a16:creationId xmlns:a16="http://schemas.microsoft.com/office/drawing/2014/main" id="{DA5DBD69-EA5A-4F75-BABE-885C2B984B9E}"/>
              </a:ext>
            </a:extLst>
          </p:cNvPr>
          <p:cNvSpPr>
            <a:spLocks noGrp="1"/>
          </p:cNvSpPr>
          <p:nvPr/>
        </p:nvSpPr>
        <p:spPr>
          <a:xfrm>
            <a:off x="3733800" y="2590800"/>
            <a:ext cx="3333750" cy="590550"/>
          </a:xfrm>
          <a:prstGeom prst="rect">
            <a:avLst/>
          </a:prstGeom>
          <a:noFill/>
          <a:ln w="0">
            <a:noFill/>
            <a:prstDash val="solid"/>
          </a:ln>
        </p:spPr>
        <p:txBody>
          <a:bodyPr anchor="t"/>
          <a:lstStyle/>
          <a:p>
            <a:pPr algn="l">
              <a:defRPr sz="1275" b="0">
                <a:solidFill>
                  <a:srgbClr val="536777"/>
                </a:solidFill>
              </a:defRPr>
            </a:pPr>
            <a:r>
              <a:rPr sz="1275" b="0">
                <a:solidFill>
                  <a:srgbClr val="536777"/>
                </a:solidFill>
              </a:rPr>
              <a:t>Публичные деньги для ежедневных платежей; банки остаются интерфейсом.</a:t>
            </a:r>
          </a:p>
        </p:txBody>
      </p:sp>
      <p:sp>
        <p:nvSpPr>
          <p:cNvPr id="19" name="Rounded Rectangle 18">
            <a:extLst>
              <a:ext uri="{FF2B5EF4-FFF2-40B4-BE49-F238E27FC236}">
                <a16:creationId xmlns:a16="http://schemas.microsoft.com/office/drawing/2014/main" id="{E9D3A7C6-9EEA-48B3-AA64-D4DC556CB6C4}"/>
              </a:ext>
            </a:extLst>
          </p:cNvPr>
          <p:cNvSpPr>
            <a:spLocks noGrp="1"/>
          </p:cNvSpPr>
          <p:nvPr/>
        </p:nvSpPr>
        <p:spPr>
          <a:xfrm>
            <a:off x="7562850" y="1714500"/>
            <a:ext cx="3810000" cy="1657350"/>
          </a:xfrm>
          <a:prstGeom prst="roundRect">
            <a:avLst>
              <a:gd name="adj" fmla="val 4598"/>
            </a:avLst>
          </a:prstGeom>
          <a:solidFill>
            <a:srgbClr val="FFFFFF"/>
          </a:solidFill>
          <a:ln w="9525">
            <a:solidFill>
              <a:srgbClr val="E2E8ED"/>
            </a:solidFill>
            <a:prstDash val="solid"/>
          </a:ln>
        </p:spPr>
      </p:sp>
      <p:sp>
        <p:nvSpPr>
          <p:cNvPr id="20" name="Rounded Rectangle 19">
            <a:extLst>
              <a:ext uri="{FF2B5EF4-FFF2-40B4-BE49-F238E27FC236}">
                <a16:creationId xmlns:a16="http://schemas.microsoft.com/office/drawing/2014/main" id="{6F374775-2F90-48FF-BF16-B8D009C25E4C}"/>
              </a:ext>
            </a:extLst>
          </p:cNvPr>
          <p:cNvSpPr>
            <a:spLocks noGrp="1"/>
          </p:cNvSpPr>
          <p:nvPr/>
        </p:nvSpPr>
        <p:spPr>
          <a:xfrm>
            <a:off x="7562850" y="1714500"/>
            <a:ext cx="76200" cy="1657350"/>
          </a:xfrm>
          <a:prstGeom prst="roundRect">
            <a:avLst>
              <a:gd name="adj" fmla="val 50000"/>
            </a:avLst>
          </a:prstGeom>
          <a:solidFill>
            <a:srgbClr val="6750A4"/>
          </a:solidFill>
          <a:ln w="9525">
            <a:solidFill>
              <a:srgbClr val="6750A4"/>
            </a:solidFill>
            <a:prstDash val="solid"/>
          </a:ln>
        </p:spPr>
      </p:sp>
      <p:sp>
        <p:nvSpPr>
          <p:cNvPr id="21" name="Rectangle 20">
            <a:extLst>
              <a:ext uri="{FF2B5EF4-FFF2-40B4-BE49-F238E27FC236}">
                <a16:creationId xmlns:a16="http://schemas.microsoft.com/office/drawing/2014/main" id="{6D58349B-82F0-4212-B241-CCDEBB02202A}"/>
              </a:ext>
            </a:extLst>
          </p:cNvPr>
          <p:cNvSpPr>
            <a:spLocks noGrp="1"/>
          </p:cNvSpPr>
          <p:nvPr/>
        </p:nvSpPr>
        <p:spPr>
          <a:xfrm>
            <a:off x="7810500" y="1885950"/>
            <a:ext cx="3333750" cy="190500"/>
          </a:xfrm>
          <a:prstGeom prst="rect">
            <a:avLst/>
          </a:prstGeom>
          <a:noFill/>
          <a:ln w="0">
            <a:noFill/>
            <a:prstDash val="solid"/>
          </a:ln>
        </p:spPr>
        <p:txBody>
          <a:bodyPr anchor="t"/>
          <a:lstStyle/>
          <a:p>
            <a:pPr algn="l">
              <a:defRPr sz="975" b="1">
                <a:solidFill>
                  <a:srgbClr val="6750A4"/>
                </a:solidFill>
              </a:defRPr>
            </a:pPr>
            <a:r>
              <a:rPr sz="975" b="1">
                <a:solidFill>
                  <a:srgbClr val="6750A4"/>
                </a:solidFill>
              </a:rPr>
              <a:t>ПРИВАТНОСТЬ И АВТОНОМИЯ</a:t>
            </a:r>
          </a:p>
        </p:txBody>
      </p:sp>
      <p:sp>
        <p:nvSpPr>
          <p:cNvPr id="22" name="Rectangle 21">
            <a:extLst>
              <a:ext uri="{FF2B5EF4-FFF2-40B4-BE49-F238E27FC236}">
                <a16:creationId xmlns:a16="http://schemas.microsoft.com/office/drawing/2014/main" id="{6D0BD32F-8FC4-457B-AE17-47E9BC294498}"/>
              </a:ext>
            </a:extLst>
          </p:cNvPr>
          <p:cNvSpPr>
            <a:spLocks noGrp="1"/>
          </p:cNvSpPr>
          <p:nvPr/>
        </p:nvSpPr>
        <p:spPr>
          <a:xfrm>
            <a:off x="7810500" y="2200275"/>
            <a:ext cx="3333750" cy="266700"/>
          </a:xfrm>
          <a:prstGeom prst="rect">
            <a:avLst/>
          </a:prstGeom>
          <a:noFill/>
          <a:ln w="0">
            <a:noFill/>
            <a:prstDash val="solid"/>
          </a:ln>
        </p:spPr>
        <p:txBody>
          <a:bodyPr anchor="t"/>
          <a:lstStyle/>
          <a:p>
            <a:pPr algn="l">
              <a:defRPr sz="1650" b="1">
                <a:solidFill>
                  <a:srgbClr val="071D33"/>
                </a:solidFill>
              </a:defRPr>
            </a:pPr>
            <a:r>
              <a:rPr sz="1650" b="1">
                <a:solidFill>
                  <a:srgbClr val="071D33"/>
                </a:solidFill>
              </a:rPr>
              <a:t>Еврозона</a:t>
            </a:r>
          </a:p>
        </p:txBody>
      </p:sp>
      <p:sp>
        <p:nvSpPr>
          <p:cNvPr id="23" name="Rectangle 22">
            <a:extLst>
              <a:ext uri="{FF2B5EF4-FFF2-40B4-BE49-F238E27FC236}">
                <a16:creationId xmlns:a16="http://schemas.microsoft.com/office/drawing/2014/main" id="{65DA514E-ABA2-4121-9CCB-AA4F6249BC9C}"/>
              </a:ext>
            </a:extLst>
          </p:cNvPr>
          <p:cNvSpPr>
            <a:spLocks noGrp="1"/>
          </p:cNvSpPr>
          <p:nvPr/>
        </p:nvSpPr>
        <p:spPr>
          <a:xfrm>
            <a:off x="7810500" y="2590800"/>
            <a:ext cx="3333750" cy="590550"/>
          </a:xfrm>
          <a:prstGeom prst="rect">
            <a:avLst/>
          </a:prstGeom>
          <a:noFill/>
          <a:ln w="0">
            <a:noFill/>
            <a:prstDash val="solid"/>
          </a:ln>
        </p:spPr>
        <p:txBody>
          <a:bodyPr anchor="t"/>
          <a:lstStyle/>
          <a:p>
            <a:pPr algn="l">
              <a:defRPr sz="1275" b="0">
                <a:solidFill>
                  <a:srgbClr val="536777"/>
                </a:solidFill>
              </a:defRPr>
            </a:pPr>
            <a:r>
              <a:rPr sz="1275" b="0">
                <a:solidFill>
                  <a:srgbClr val="536777"/>
                </a:solidFill>
              </a:rPr>
              <a:t>Офлайн-приватность и публичная альтернатива картам; не «программируемые деньги».</a:t>
            </a:r>
          </a:p>
        </p:txBody>
      </p:sp>
      <p:sp>
        <p:nvSpPr>
          <p:cNvPr id="24" name="Rounded Rectangle 23">
            <a:extLst>
              <a:ext uri="{FF2B5EF4-FFF2-40B4-BE49-F238E27FC236}">
                <a16:creationId xmlns:a16="http://schemas.microsoft.com/office/drawing/2014/main" id="{AAFCECED-DF6D-4169-93FD-AB82453303E1}"/>
              </a:ext>
            </a:extLst>
          </p:cNvPr>
          <p:cNvSpPr>
            <a:spLocks noGrp="1"/>
          </p:cNvSpPr>
          <p:nvPr/>
        </p:nvSpPr>
        <p:spPr>
          <a:xfrm>
            <a:off x="3486150" y="3581400"/>
            <a:ext cx="3810000" cy="1657350"/>
          </a:xfrm>
          <a:prstGeom prst="roundRect">
            <a:avLst>
              <a:gd name="adj" fmla="val 4598"/>
            </a:avLst>
          </a:prstGeom>
          <a:solidFill>
            <a:srgbClr val="FFFFFF"/>
          </a:solidFill>
          <a:ln w="9525">
            <a:solidFill>
              <a:srgbClr val="E2E8ED"/>
            </a:solidFill>
            <a:prstDash val="solid"/>
          </a:ln>
        </p:spPr>
      </p:sp>
      <p:sp>
        <p:nvSpPr>
          <p:cNvPr id="25" name="Rounded Rectangle 24">
            <a:extLst>
              <a:ext uri="{FF2B5EF4-FFF2-40B4-BE49-F238E27FC236}">
                <a16:creationId xmlns:a16="http://schemas.microsoft.com/office/drawing/2014/main" id="{615F998C-B1F9-44C7-8974-371EB06C6A49}"/>
              </a:ext>
            </a:extLst>
          </p:cNvPr>
          <p:cNvSpPr>
            <a:spLocks noGrp="1"/>
          </p:cNvSpPr>
          <p:nvPr/>
        </p:nvSpPr>
        <p:spPr>
          <a:xfrm>
            <a:off x="3486150" y="3581400"/>
            <a:ext cx="76200" cy="1657350"/>
          </a:xfrm>
          <a:prstGeom prst="roundRect">
            <a:avLst>
              <a:gd name="adj" fmla="val 50000"/>
            </a:avLst>
          </a:prstGeom>
          <a:solidFill>
            <a:srgbClr val="008A82"/>
          </a:solidFill>
          <a:ln w="9525">
            <a:solidFill>
              <a:srgbClr val="008A82"/>
            </a:solidFill>
            <a:prstDash val="solid"/>
          </a:ln>
        </p:spPr>
      </p:sp>
      <p:sp>
        <p:nvSpPr>
          <p:cNvPr id="26" name="Rectangle 25">
            <a:extLst>
              <a:ext uri="{FF2B5EF4-FFF2-40B4-BE49-F238E27FC236}">
                <a16:creationId xmlns:a16="http://schemas.microsoft.com/office/drawing/2014/main" id="{3F68A029-D1EC-4783-A5BE-BBA47CFEDBA6}"/>
              </a:ext>
            </a:extLst>
          </p:cNvPr>
          <p:cNvSpPr>
            <a:spLocks noGrp="1"/>
          </p:cNvSpPr>
          <p:nvPr/>
        </p:nvSpPr>
        <p:spPr>
          <a:xfrm>
            <a:off x="3733800" y="3752850"/>
            <a:ext cx="3333750" cy="190500"/>
          </a:xfrm>
          <a:prstGeom prst="rect">
            <a:avLst/>
          </a:prstGeom>
          <a:noFill/>
          <a:ln w="0">
            <a:noFill/>
            <a:prstDash val="solid"/>
          </a:ln>
        </p:spPr>
        <p:txBody>
          <a:bodyPr anchor="t"/>
          <a:lstStyle/>
          <a:p>
            <a:pPr algn="l">
              <a:defRPr sz="975" b="1">
                <a:solidFill>
                  <a:srgbClr val="008A82"/>
                </a:solidFill>
              </a:defRPr>
            </a:pPr>
            <a:r>
              <a:rPr sz="975" b="1">
                <a:solidFill>
                  <a:srgbClr val="008A82"/>
                </a:solidFill>
              </a:rPr>
              <a:t>ИНКЛЮЗИЯ И УСТОЙЧИВОСТЬ</a:t>
            </a:r>
          </a:p>
        </p:txBody>
      </p:sp>
      <p:sp>
        <p:nvSpPr>
          <p:cNvPr id="27" name="Rectangle 26">
            <a:extLst>
              <a:ext uri="{FF2B5EF4-FFF2-40B4-BE49-F238E27FC236}">
                <a16:creationId xmlns:a16="http://schemas.microsoft.com/office/drawing/2014/main" id="{03175C16-EE03-453C-86B3-5F09FD81C47A}"/>
              </a:ext>
            </a:extLst>
          </p:cNvPr>
          <p:cNvSpPr>
            <a:spLocks noGrp="1"/>
          </p:cNvSpPr>
          <p:nvPr/>
        </p:nvSpPr>
        <p:spPr>
          <a:xfrm>
            <a:off x="3733800" y="4067175"/>
            <a:ext cx="3333750" cy="266700"/>
          </a:xfrm>
          <a:prstGeom prst="rect">
            <a:avLst/>
          </a:prstGeom>
          <a:noFill/>
          <a:ln w="0">
            <a:noFill/>
            <a:prstDash val="solid"/>
          </a:ln>
        </p:spPr>
        <p:txBody>
          <a:bodyPr anchor="t"/>
          <a:lstStyle/>
          <a:p>
            <a:pPr algn="l">
              <a:defRPr sz="1650" b="1">
                <a:solidFill>
                  <a:srgbClr val="071D33"/>
                </a:solidFill>
              </a:defRPr>
            </a:pPr>
            <a:r>
              <a:rPr sz="1650" b="1">
                <a:solidFill>
                  <a:srgbClr val="071D33"/>
                </a:solidFill>
              </a:rPr>
              <a:t>Багамы · Ямайка · Нигерия</a:t>
            </a:r>
          </a:p>
        </p:txBody>
      </p:sp>
      <p:sp>
        <p:nvSpPr>
          <p:cNvPr id="28" name="Rectangle 27">
            <a:extLst>
              <a:ext uri="{FF2B5EF4-FFF2-40B4-BE49-F238E27FC236}">
                <a16:creationId xmlns:a16="http://schemas.microsoft.com/office/drawing/2014/main" id="{478FEBF0-1284-493E-BED0-323A2CAD9426}"/>
              </a:ext>
            </a:extLst>
          </p:cNvPr>
          <p:cNvSpPr>
            <a:spLocks noGrp="1"/>
          </p:cNvSpPr>
          <p:nvPr/>
        </p:nvSpPr>
        <p:spPr>
          <a:xfrm>
            <a:off x="3733800" y="4457700"/>
            <a:ext cx="3333750" cy="590550"/>
          </a:xfrm>
          <a:prstGeom prst="rect">
            <a:avLst/>
          </a:prstGeom>
          <a:noFill/>
          <a:ln w="0">
            <a:noFill/>
            <a:prstDash val="solid"/>
          </a:ln>
        </p:spPr>
        <p:txBody>
          <a:bodyPr anchor="t"/>
          <a:lstStyle/>
          <a:p>
            <a:pPr algn="l">
              <a:defRPr sz="1275" b="0">
                <a:solidFill>
                  <a:srgbClr val="536777"/>
                </a:solidFill>
              </a:defRPr>
            </a:pPr>
            <a:r>
              <a:rPr sz="1275" b="0">
                <a:solidFill>
                  <a:srgbClr val="536777"/>
                </a:solidFill>
              </a:rPr>
              <a:t>Ранние запуски в небольших экономиках: доступность, островная и платежная устойчивость.</a:t>
            </a:r>
          </a:p>
        </p:txBody>
      </p:sp>
      <p:sp>
        <p:nvSpPr>
          <p:cNvPr id="29" name="Rounded Rectangle 28">
            <a:extLst>
              <a:ext uri="{FF2B5EF4-FFF2-40B4-BE49-F238E27FC236}">
                <a16:creationId xmlns:a16="http://schemas.microsoft.com/office/drawing/2014/main" id="{8BA3D6F1-B612-449B-81A3-2F41551F072D}"/>
              </a:ext>
            </a:extLst>
          </p:cNvPr>
          <p:cNvSpPr>
            <a:spLocks noGrp="1"/>
          </p:cNvSpPr>
          <p:nvPr/>
        </p:nvSpPr>
        <p:spPr>
          <a:xfrm>
            <a:off x="7562850" y="3581400"/>
            <a:ext cx="3810000" cy="1657350"/>
          </a:xfrm>
          <a:prstGeom prst="roundRect">
            <a:avLst>
              <a:gd name="adj" fmla="val 4598"/>
            </a:avLst>
          </a:prstGeom>
          <a:solidFill>
            <a:srgbClr val="FFFFFF"/>
          </a:solidFill>
          <a:ln w="9525">
            <a:solidFill>
              <a:srgbClr val="E2E8ED"/>
            </a:solidFill>
            <a:prstDash val="solid"/>
          </a:ln>
        </p:spPr>
      </p:sp>
      <p:sp>
        <p:nvSpPr>
          <p:cNvPr id="30" name="Rounded Rectangle 29">
            <a:extLst>
              <a:ext uri="{FF2B5EF4-FFF2-40B4-BE49-F238E27FC236}">
                <a16:creationId xmlns:a16="http://schemas.microsoft.com/office/drawing/2014/main" id="{6067FBF8-015C-4038-9F72-B3FEC8EFE88D}"/>
              </a:ext>
            </a:extLst>
          </p:cNvPr>
          <p:cNvSpPr>
            <a:spLocks noGrp="1"/>
          </p:cNvSpPr>
          <p:nvPr/>
        </p:nvSpPr>
        <p:spPr>
          <a:xfrm>
            <a:off x="7562850" y="3581400"/>
            <a:ext cx="76200" cy="1657350"/>
          </a:xfrm>
          <a:prstGeom prst="roundRect">
            <a:avLst>
              <a:gd name="adj" fmla="val 50000"/>
            </a:avLst>
          </a:prstGeom>
          <a:solidFill>
            <a:srgbClr val="D98216"/>
          </a:solidFill>
          <a:ln w="9525">
            <a:solidFill>
              <a:srgbClr val="D98216"/>
            </a:solidFill>
            <a:prstDash val="solid"/>
          </a:ln>
        </p:spPr>
      </p:sp>
      <p:sp>
        <p:nvSpPr>
          <p:cNvPr id="31" name="Rectangle 30">
            <a:extLst>
              <a:ext uri="{FF2B5EF4-FFF2-40B4-BE49-F238E27FC236}">
                <a16:creationId xmlns:a16="http://schemas.microsoft.com/office/drawing/2014/main" id="{E81F4325-4046-4C6B-95E1-F7FD63A9A95F}"/>
              </a:ext>
            </a:extLst>
          </p:cNvPr>
          <p:cNvSpPr>
            <a:spLocks noGrp="1"/>
          </p:cNvSpPr>
          <p:nvPr/>
        </p:nvSpPr>
        <p:spPr>
          <a:xfrm>
            <a:off x="7810500" y="3752850"/>
            <a:ext cx="3333750" cy="190500"/>
          </a:xfrm>
          <a:prstGeom prst="rect">
            <a:avLst/>
          </a:prstGeom>
          <a:noFill/>
          <a:ln w="0">
            <a:noFill/>
            <a:prstDash val="solid"/>
          </a:ln>
        </p:spPr>
        <p:txBody>
          <a:bodyPr anchor="t"/>
          <a:lstStyle/>
          <a:p>
            <a:pPr algn="l">
              <a:defRPr sz="975" b="1">
                <a:solidFill>
                  <a:srgbClr val="D98216"/>
                </a:solidFill>
              </a:defRPr>
            </a:pPr>
            <a:r>
              <a:rPr sz="975" b="1">
                <a:solidFill>
                  <a:srgbClr val="D98216"/>
                </a:solidFill>
              </a:rPr>
              <a:t>ТОКЕНИЗИРОВАННЫЕ РАСЧЁТЫ</a:t>
            </a:r>
          </a:p>
        </p:txBody>
      </p:sp>
      <p:sp>
        <p:nvSpPr>
          <p:cNvPr id="32" name="Rectangle 31">
            <a:extLst>
              <a:ext uri="{FF2B5EF4-FFF2-40B4-BE49-F238E27FC236}">
                <a16:creationId xmlns:a16="http://schemas.microsoft.com/office/drawing/2014/main" id="{309BFB0C-8D9C-45F9-BFB7-C9F3F1C6E51C}"/>
              </a:ext>
            </a:extLst>
          </p:cNvPr>
          <p:cNvSpPr>
            <a:spLocks noGrp="1"/>
          </p:cNvSpPr>
          <p:nvPr/>
        </p:nvSpPr>
        <p:spPr>
          <a:xfrm>
            <a:off x="7810500" y="4067175"/>
            <a:ext cx="3333750" cy="266700"/>
          </a:xfrm>
          <a:prstGeom prst="rect">
            <a:avLst/>
          </a:prstGeom>
          <a:noFill/>
          <a:ln w="0">
            <a:noFill/>
            <a:prstDash val="solid"/>
          </a:ln>
        </p:spPr>
        <p:txBody>
          <a:bodyPr anchor="t"/>
          <a:lstStyle/>
          <a:p>
            <a:pPr algn="l">
              <a:defRPr sz="1650" b="1">
                <a:solidFill>
                  <a:srgbClr val="071D33"/>
                </a:solidFill>
              </a:defRPr>
            </a:pPr>
            <a:r>
              <a:rPr sz="1650" b="1">
                <a:solidFill>
                  <a:srgbClr val="071D33"/>
                </a:solidFill>
              </a:rPr>
              <a:t>Бразилия Drex</a:t>
            </a:r>
          </a:p>
        </p:txBody>
      </p:sp>
      <p:sp>
        <p:nvSpPr>
          <p:cNvPr id="33" name="Rectangle 32">
            <a:extLst>
              <a:ext uri="{FF2B5EF4-FFF2-40B4-BE49-F238E27FC236}">
                <a16:creationId xmlns:a16="http://schemas.microsoft.com/office/drawing/2014/main" id="{42C3C46D-A20C-4FF3-AC12-1F0AADEDB345}"/>
              </a:ext>
            </a:extLst>
          </p:cNvPr>
          <p:cNvSpPr>
            <a:spLocks noGrp="1"/>
          </p:cNvSpPr>
          <p:nvPr/>
        </p:nvSpPr>
        <p:spPr>
          <a:xfrm>
            <a:off x="7810500" y="4457700"/>
            <a:ext cx="3333750" cy="590550"/>
          </a:xfrm>
          <a:prstGeom prst="rect">
            <a:avLst/>
          </a:prstGeom>
          <a:noFill/>
          <a:ln w="0">
            <a:noFill/>
            <a:prstDash val="solid"/>
          </a:ln>
        </p:spPr>
        <p:txBody>
          <a:bodyPr anchor="t"/>
          <a:lstStyle/>
          <a:p>
            <a:pPr algn="l">
              <a:defRPr sz="1275" b="0">
                <a:solidFill>
                  <a:srgbClr val="536777"/>
                </a:solidFill>
              </a:defRPr>
            </a:pPr>
            <a:r>
              <a:rPr sz="1275" b="0">
                <a:solidFill>
                  <a:srgbClr val="536777"/>
                </a:solidFill>
              </a:rPr>
              <a:t>Расчётный актив для банков и токенизированных рынков, а не просто новый кошелёк гражданина.</a:t>
            </a:r>
          </a:p>
        </p:txBody>
      </p:sp>
      <p:sp>
        <p:nvSpPr>
          <p:cNvPr id="34" name="Rounded Rectangle 33">
            <a:extLst>
              <a:ext uri="{FF2B5EF4-FFF2-40B4-BE49-F238E27FC236}">
                <a16:creationId xmlns:a16="http://schemas.microsoft.com/office/drawing/2014/main" id="{AC85B07C-E185-4A2F-969F-6177D2E9A4E0}"/>
              </a:ext>
            </a:extLst>
          </p:cNvPr>
          <p:cNvSpPr>
            <a:spLocks noGrp="1"/>
          </p:cNvSpPr>
          <p:nvPr/>
        </p:nvSpPr>
        <p:spPr>
          <a:xfrm>
            <a:off x="609600" y="5791200"/>
            <a:ext cx="10972800" cy="590550"/>
          </a:xfrm>
          <a:prstGeom prst="roundRect">
            <a:avLst>
              <a:gd name="adj" fmla="val 9677"/>
            </a:avLst>
          </a:prstGeom>
          <a:solidFill>
            <a:srgbClr val="DDEBFA"/>
          </a:solidFill>
          <a:ln w="9525">
            <a:solidFill>
              <a:srgbClr val="DDEBFA"/>
            </a:solidFill>
            <a:prstDash val="solid"/>
          </a:ln>
        </p:spPr>
      </p:sp>
      <p:sp>
        <p:nvSpPr>
          <p:cNvPr id="35" name="Rounded Rectangle 34">
            <a:extLst>
              <a:ext uri="{FF2B5EF4-FFF2-40B4-BE49-F238E27FC236}">
                <a16:creationId xmlns:a16="http://schemas.microsoft.com/office/drawing/2014/main" id="{B2B900A3-0A20-4F93-88DF-11B8A2B66FAB}"/>
              </a:ext>
            </a:extLst>
          </p:cNvPr>
          <p:cNvSpPr>
            <a:spLocks noGrp="1"/>
          </p:cNvSpPr>
          <p:nvPr/>
        </p:nvSpPr>
        <p:spPr>
          <a:xfrm>
            <a:off x="609600" y="5791200"/>
            <a:ext cx="66675" cy="590550"/>
          </a:xfrm>
          <a:prstGeom prst="roundRect">
            <a:avLst>
              <a:gd name="adj" fmla="val 50000"/>
            </a:avLst>
          </a:prstGeom>
          <a:solidFill>
            <a:srgbClr val="075BCB"/>
          </a:solidFill>
          <a:ln w="9525">
            <a:solidFill>
              <a:srgbClr val="075BCB"/>
            </a:solidFill>
            <a:prstDash val="solid"/>
          </a:ln>
        </p:spPr>
      </p:sp>
      <p:sp>
        <p:nvSpPr>
          <p:cNvPr id="36" name="Rectangle 35">
            <a:extLst>
              <a:ext uri="{FF2B5EF4-FFF2-40B4-BE49-F238E27FC236}">
                <a16:creationId xmlns:a16="http://schemas.microsoft.com/office/drawing/2014/main" id="{CD2C7D66-F1DC-4E26-9DDE-77E40B068132}"/>
              </a:ext>
            </a:extLst>
          </p:cNvPr>
          <p:cNvSpPr>
            <a:spLocks noGrp="1"/>
          </p:cNvSpPr>
          <p:nvPr/>
        </p:nvSpPr>
        <p:spPr>
          <a:xfrm>
            <a:off x="838200" y="5924550"/>
            <a:ext cx="10477500" cy="323850"/>
          </a:xfrm>
          <a:prstGeom prst="rect">
            <a:avLst/>
          </a:prstGeom>
          <a:noFill/>
          <a:ln w="0">
            <a:noFill/>
            <a:prstDash val="solid"/>
          </a:ln>
        </p:spPr>
        <p:txBody>
          <a:bodyPr anchor="ctr"/>
          <a:lstStyle/>
          <a:p>
            <a:pPr algn="l">
              <a:defRPr sz="1500" b="1">
                <a:solidFill>
                  <a:srgbClr val="075BCB"/>
                </a:solidFill>
              </a:defRPr>
            </a:pPr>
            <a:r>
              <a:rPr sz="1500" b="1">
                <a:solidFill>
                  <a:srgbClr val="075BCB"/>
                </a:solidFill>
              </a:rPr>
              <a:t>Слово CBDC описывает эмитента, но не дизайн: розничная и оптовая модели дают разные выгоды, риски и роли банкам.</a:t>
            </a:r>
          </a:p>
        </p:txBody>
      </p:sp>
    </p:spTree>
    <p:extLst>
      <p:ext uri="{BB962C8B-B14F-4D97-AF65-F5344CB8AC3E}">
        <p14:creationId xmlns:p14="http://schemas.microsoft.com/office/powerpoint/2010/main" val="1286926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71" name="Rounded Rectangle 70">
            <a:extLst>
              <a:ext uri="{FF2B5EF4-FFF2-40B4-BE49-F238E27FC236}">
                <a16:creationId xmlns:a16="http://schemas.microsoft.com/office/drawing/2014/main" id="{88AAF094-B3AF-479F-8955-BACE56767E6B}"/>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40C5BCE1-3BEB-4312-A728-B709B8CD5D21}"/>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10">
            <a:extLst>
              <a:ext uri="{FF2B5EF4-FFF2-40B4-BE49-F238E27FC236}">
                <a16:creationId xmlns:a16="http://schemas.microsoft.com/office/drawing/2014/main" id="{423FF148-781F-404A-B194-BBE7553E2895}"/>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9. СРАВНЕНИЕ СТРАН · СТАТУС НА 05.09.2026</a:t>
            </a:r>
          </a:p>
        </p:txBody>
      </p:sp>
      <p:sp>
        <p:nvSpPr>
          <p:cNvPr id="4" name="title-10">
            <a:extLst>
              <a:ext uri="{FF2B5EF4-FFF2-40B4-BE49-F238E27FC236}">
                <a16:creationId xmlns:a16="http://schemas.microsoft.com/office/drawing/2014/main" id="{02650748-1271-47BA-87AC-F1D7427756CC}"/>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Главные различия — в цели, архитектуре и границах контроля</a:t>
            </a:r>
          </a:p>
        </p:txBody>
      </p:sp>
      <p:sp>
        <p:nvSpPr>
          <p:cNvPr id="5" name="Straight Connector 4">
            <a:extLst>
              <a:ext uri="{FF2B5EF4-FFF2-40B4-BE49-F238E27FC236}">
                <a16:creationId xmlns:a16="http://schemas.microsoft.com/office/drawing/2014/main" id="{63006FBD-8ABA-4801-B74E-BF55289537C2}"/>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2BB04774-8574-41BA-AF94-C18C0E7C8C89}"/>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491CB35B-359E-42C0-86F6-740A914A28B9}"/>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10</a:t>
            </a:r>
          </a:p>
        </p:txBody>
      </p:sp>
      <p:sp>
        <p:nvSpPr>
          <p:cNvPr id="8" name="Rounded Rectangle 7">
            <a:extLst>
              <a:ext uri="{FF2B5EF4-FFF2-40B4-BE49-F238E27FC236}">
                <a16:creationId xmlns:a16="http://schemas.microsoft.com/office/drawing/2014/main" id="{E90B736B-8841-4B8A-9828-38025D02C980}"/>
              </a:ext>
            </a:extLst>
          </p:cNvPr>
          <p:cNvSpPr>
            <a:spLocks noGrp="1"/>
          </p:cNvSpPr>
          <p:nvPr/>
        </p:nvSpPr>
        <p:spPr>
          <a:xfrm>
            <a:off x="609600" y="1695450"/>
            <a:ext cx="1409700" cy="457200"/>
          </a:xfrm>
          <a:prstGeom prst="roundRect">
            <a:avLst>
              <a:gd name="adj" fmla="val 25000"/>
            </a:avLst>
          </a:prstGeom>
          <a:solidFill>
            <a:srgbClr val="071D33"/>
          </a:solidFill>
          <a:ln w="9525">
            <a:solidFill>
              <a:srgbClr val="FFFFFF"/>
            </a:solidFill>
            <a:prstDash val="solid"/>
          </a:ln>
        </p:spPr>
      </p:sp>
      <p:sp>
        <p:nvSpPr>
          <p:cNvPr id="9" name="Rectangle 8">
            <a:extLst>
              <a:ext uri="{FF2B5EF4-FFF2-40B4-BE49-F238E27FC236}">
                <a16:creationId xmlns:a16="http://schemas.microsoft.com/office/drawing/2014/main" id="{8D09DFAE-5D02-45EC-897F-07C7088A25D8}"/>
              </a:ext>
            </a:extLst>
          </p:cNvPr>
          <p:cNvSpPr>
            <a:spLocks noGrp="1"/>
          </p:cNvSpPr>
          <p:nvPr/>
        </p:nvSpPr>
        <p:spPr>
          <a:xfrm>
            <a:off x="704850" y="1819275"/>
            <a:ext cx="1219200" cy="209550"/>
          </a:xfrm>
          <a:prstGeom prst="rect">
            <a:avLst/>
          </a:prstGeom>
          <a:noFill/>
          <a:ln w="0">
            <a:noFill/>
            <a:prstDash val="solid"/>
          </a:ln>
        </p:spPr>
        <p:txBody>
          <a:bodyPr anchor="t"/>
          <a:lstStyle/>
          <a:p>
            <a:pPr algn="l">
              <a:defRPr sz="1050" b="1">
                <a:solidFill>
                  <a:srgbClr val="FFFFFF"/>
                </a:solidFill>
              </a:defRPr>
            </a:pPr>
            <a:r>
              <a:rPr sz="1050" b="1">
                <a:solidFill>
                  <a:srgbClr val="FFFFFF"/>
                </a:solidFill>
              </a:rPr>
              <a:t>СТРАНА</a:t>
            </a:r>
          </a:p>
        </p:txBody>
      </p:sp>
      <p:sp>
        <p:nvSpPr>
          <p:cNvPr id="10" name="Rounded Rectangle 9">
            <a:extLst>
              <a:ext uri="{FF2B5EF4-FFF2-40B4-BE49-F238E27FC236}">
                <a16:creationId xmlns:a16="http://schemas.microsoft.com/office/drawing/2014/main" id="{2E70FF84-BE86-4BC9-8826-B6D1DF883FAE}"/>
              </a:ext>
            </a:extLst>
          </p:cNvPr>
          <p:cNvSpPr>
            <a:spLocks noGrp="1"/>
          </p:cNvSpPr>
          <p:nvPr/>
        </p:nvSpPr>
        <p:spPr>
          <a:xfrm>
            <a:off x="2019300" y="1695450"/>
            <a:ext cx="1543050" cy="457200"/>
          </a:xfrm>
          <a:prstGeom prst="roundRect">
            <a:avLst>
              <a:gd name="adj" fmla="val 25000"/>
            </a:avLst>
          </a:prstGeom>
          <a:solidFill>
            <a:srgbClr val="071D33"/>
          </a:solidFill>
          <a:ln w="9525">
            <a:solidFill>
              <a:srgbClr val="FFFFFF"/>
            </a:solidFill>
            <a:prstDash val="solid"/>
          </a:ln>
        </p:spPr>
      </p:sp>
      <p:sp>
        <p:nvSpPr>
          <p:cNvPr id="11" name="Rectangle 10">
            <a:extLst>
              <a:ext uri="{FF2B5EF4-FFF2-40B4-BE49-F238E27FC236}">
                <a16:creationId xmlns:a16="http://schemas.microsoft.com/office/drawing/2014/main" id="{FD4B405B-1785-44A7-A9DE-812D89B4C064}"/>
              </a:ext>
            </a:extLst>
          </p:cNvPr>
          <p:cNvSpPr>
            <a:spLocks noGrp="1"/>
          </p:cNvSpPr>
          <p:nvPr/>
        </p:nvSpPr>
        <p:spPr>
          <a:xfrm>
            <a:off x="2114550" y="1819275"/>
            <a:ext cx="1352550" cy="209550"/>
          </a:xfrm>
          <a:prstGeom prst="rect">
            <a:avLst/>
          </a:prstGeom>
          <a:noFill/>
          <a:ln w="0">
            <a:noFill/>
            <a:prstDash val="solid"/>
          </a:ln>
        </p:spPr>
        <p:txBody>
          <a:bodyPr anchor="t"/>
          <a:lstStyle/>
          <a:p>
            <a:pPr algn="ctr">
              <a:defRPr sz="1050" b="1">
                <a:solidFill>
                  <a:srgbClr val="FFFFFF"/>
                </a:solidFill>
              </a:defRPr>
            </a:pPr>
            <a:r>
              <a:rPr sz="1050" b="1">
                <a:solidFill>
                  <a:srgbClr val="FFFFFF"/>
                </a:solidFill>
              </a:rPr>
              <a:t>СТАТУС</a:t>
            </a:r>
          </a:p>
        </p:txBody>
      </p:sp>
      <p:sp>
        <p:nvSpPr>
          <p:cNvPr id="12" name="Rounded Rectangle 11">
            <a:extLst>
              <a:ext uri="{FF2B5EF4-FFF2-40B4-BE49-F238E27FC236}">
                <a16:creationId xmlns:a16="http://schemas.microsoft.com/office/drawing/2014/main" id="{E2B47010-87D5-40C2-9A96-6471FCC64AE7}"/>
              </a:ext>
            </a:extLst>
          </p:cNvPr>
          <p:cNvSpPr>
            <a:spLocks noGrp="1"/>
          </p:cNvSpPr>
          <p:nvPr/>
        </p:nvSpPr>
        <p:spPr>
          <a:xfrm>
            <a:off x="3562350" y="1695450"/>
            <a:ext cx="2266950" cy="457200"/>
          </a:xfrm>
          <a:prstGeom prst="roundRect">
            <a:avLst>
              <a:gd name="adj" fmla="val 25000"/>
            </a:avLst>
          </a:prstGeom>
          <a:solidFill>
            <a:srgbClr val="071D33"/>
          </a:solidFill>
          <a:ln w="9525">
            <a:solidFill>
              <a:srgbClr val="FFFFFF"/>
            </a:solidFill>
            <a:prstDash val="solid"/>
          </a:ln>
        </p:spPr>
      </p:sp>
      <p:sp>
        <p:nvSpPr>
          <p:cNvPr id="13" name="Rectangle 12">
            <a:extLst>
              <a:ext uri="{FF2B5EF4-FFF2-40B4-BE49-F238E27FC236}">
                <a16:creationId xmlns:a16="http://schemas.microsoft.com/office/drawing/2014/main" id="{3CEFC3FC-6F36-458D-8F2D-DD6F877D467F}"/>
              </a:ext>
            </a:extLst>
          </p:cNvPr>
          <p:cNvSpPr>
            <a:spLocks noGrp="1"/>
          </p:cNvSpPr>
          <p:nvPr/>
        </p:nvSpPr>
        <p:spPr>
          <a:xfrm>
            <a:off x="3657600" y="1819275"/>
            <a:ext cx="2076450" cy="209550"/>
          </a:xfrm>
          <a:prstGeom prst="rect">
            <a:avLst/>
          </a:prstGeom>
          <a:noFill/>
          <a:ln w="0">
            <a:noFill/>
            <a:prstDash val="solid"/>
          </a:ln>
        </p:spPr>
        <p:txBody>
          <a:bodyPr anchor="t"/>
          <a:lstStyle/>
          <a:p>
            <a:pPr algn="ctr">
              <a:defRPr sz="1050" b="1">
                <a:solidFill>
                  <a:srgbClr val="FFFFFF"/>
                </a:solidFill>
              </a:defRPr>
            </a:pPr>
            <a:r>
              <a:rPr sz="1050" b="1">
                <a:solidFill>
                  <a:srgbClr val="FFFFFF"/>
                </a:solidFill>
              </a:rPr>
              <a:t>МОДЕЛЬ</a:t>
            </a:r>
          </a:p>
        </p:txBody>
      </p:sp>
      <p:sp>
        <p:nvSpPr>
          <p:cNvPr id="14" name="Rounded Rectangle 13">
            <a:extLst>
              <a:ext uri="{FF2B5EF4-FFF2-40B4-BE49-F238E27FC236}">
                <a16:creationId xmlns:a16="http://schemas.microsoft.com/office/drawing/2014/main" id="{DF4B7CE2-7B61-433E-8581-FF702474841E}"/>
              </a:ext>
            </a:extLst>
          </p:cNvPr>
          <p:cNvSpPr>
            <a:spLocks noGrp="1"/>
          </p:cNvSpPr>
          <p:nvPr/>
        </p:nvSpPr>
        <p:spPr>
          <a:xfrm>
            <a:off x="5829300" y="1695450"/>
            <a:ext cx="2895600" cy="457200"/>
          </a:xfrm>
          <a:prstGeom prst="roundRect">
            <a:avLst>
              <a:gd name="adj" fmla="val 25000"/>
            </a:avLst>
          </a:prstGeom>
          <a:solidFill>
            <a:srgbClr val="071D33"/>
          </a:solidFill>
          <a:ln w="9525">
            <a:solidFill>
              <a:srgbClr val="FFFFFF"/>
            </a:solidFill>
            <a:prstDash val="solid"/>
          </a:ln>
        </p:spPr>
      </p:sp>
      <p:sp>
        <p:nvSpPr>
          <p:cNvPr id="15" name="Rectangle 14">
            <a:extLst>
              <a:ext uri="{FF2B5EF4-FFF2-40B4-BE49-F238E27FC236}">
                <a16:creationId xmlns:a16="http://schemas.microsoft.com/office/drawing/2014/main" id="{1245186B-E551-44FE-9EE8-526F53C9311C}"/>
              </a:ext>
            </a:extLst>
          </p:cNvPr>
          <p:cNvSpPr>
            <a:spLocks noGrp="1"/>
          </p:cNvSpPr>
          <p:nvPr/>
        </p:nvSpPr>
        <p:spPr>
          <a:xfrm>
            <a:off x="5924550" y="1819275"/>
            <a:ext cx="2705100" cy="209550"/>
          </a:xfrm>
          <a:prstGeom prst="rect">
            <a:avLst/>
          </a:prstGeom>
          <a:noFill/>
          <a:ln w="0">
            <a:noFill/>
            <a:prstDash val="solid"/>
          </a:ln>
        </p:spPr>
        <p:txBody>
          <a:bodyPr anchor="t"/>
          <a:lstStyle/>
          <a:p>
            <a:pPr algn="ctr">
              <a:defRPr sz="1050" b="1">
                <a:solidFill>
                  <a:srgbClr val="FFFFFF"/>
                </a:solidFill>
              </a:defRPr>
            </a:pPr>
            <a:r>
              <a:rPr sz="1050" b="1">
                <a:solidFill>
                  <a:srgbClr val="FFFFFF"/>
                </a:solidFill>
              </a:rPr>
              <a:t>ДАННЫЕ И ПРАВИЛА</a:t>
            </a:r>
          </a:p>
        </p:txBody>
      </p:sp>
      <p:sp>
        <p:nvSpPr>
          <p:cNvPr id="16" name="Rounded Rectangle 15">
            <a:extLst>
              <a:ext uri="{FF2B5EF4-FFF2-40B4-BE49-F238E27FC236}">
                <a16:creationId xmlns:a16="http://schemas.microsoft.com/office/drawing/2014/main" id="{DE7E41E4-2900-49C9-95C9-E3C5D5E57DE1}"/>
              </a:ext>
            </a:extLst>
          </p:cNvPr>
          <p:cNvSpPr>
            <a:spLocks noGrp="1"/>
          </p:cNvSpPr>
          <p:nvPr/>
        </p:nvSpPr>
        <p:spPr>
          <a:xfrm>
            <a:off x="8724900" y="1695450"/>
            <a:ext cx="2857500" cy="457200"/>
          </a:xfrm>
          <a:prstGeom prst="roundRect">
            <a:avLst>
              <a:gd name="adj" fmla="val 25000"/>
            </a:avLst>
          </a:prstGeom>
          <a:solidFill>
            <a:srgbClr val="071D33"/>
          </a:solidFill>
          <a:ln w="9525">
            <a:solidFill>
              <a:srgbClr val="FFFFFF"/>
            </a:solidFill>
            <a:prstDash val="solid"/>
          </a:ln>
        </p:spPr>
      </p:sp>
      <p:sp>
        <p:nvSpPr>
          <p:cNvPr id="17" name="Rectangle 16">
            <a:extLst>
              <a:ext uri="{FF2B5EF4-FFF2-40B4-BE49-F238E27FC236}">
                <a16:creationId xmlns:a16="http://schemas.microsoft.com/office/drawing/2014/main" id="{ABAD1099-407B-43C0-AA00-75F1B71A22A7}"/>
              </a:ext>
            </a:extLst>
          </p:cNvPr>
          <p:cNvSpPr>
            <a:spLocks noGrp="1"/>
          </p:cNvSpPr>
          <p:nvPr/>
        </p:nvSpPr>
        <p:spPr>
          <a:xfrm>
            <a:off x="8820150" y="1819275"/>
            <a:ext cx="2667000" cy="209550"/>
          </a:xfrm>
          <a:prstGeom prst="rect">
            <a:avLst/>
          </a:prstGeom>
          <a:noFill/>
          <a:ln w="0">
            <a:noFill/>
            <a:prstDash val="solid"/>
          </a:ln>
        </p:spPr>
        <p:txBody>
          <a:bodyPr anchor="t"/>
          <a:lstStyle/>
          <a:p>
            <a:pPr algn="ctr">
              <a:defRPr sz="1050" b="1">
                <a:solidFill>
                  <a:srgbClr val="FFFFFF"/>
                </a:solidFill>
              </a:defRPr>
            </a:pPr>
            <a:r>
              <a:rPr sz="1050" b="1">
                <a:solidFill>
                  <a:srgbClr val="FFFFFF"/>
                </a:solidFill>
              </a:rPr>
              <a:t>ГЛАВНАЯ ИДЕЯ</a:t>
            </a:r>
          </a:p>
        </p:txBody>
      </p:sp>
      <p:sp>
        <p:nvSpPr>
          <p:cNvPr id="18" name="Rounded Rectangle 17">
            <a:extLst>
              <a:ext uri="{FF2B5EF4-FFF2-40B4-BE49-F238E27FC236}">
                <a16:creationId xmlns:a16="http://schemas.microsoft.com/office/drawing/2014/main" id="{1672C3AA-7651-46AC-A429-FB4676A3826E}"/>
              </a:ext>
            </a:extLst>
          </p:cNvPr>
          <p:cNvSpPr>
            <a:spLocks noGrp="1"/>
          </p:cNvSpPr>
          <p:nvPr/>
        </p:nvSpPr>
        <p:spPr>
          <a:xfrm>
            <a:off x="609600" y="2152650"/>
            <a:ext cx="1409700" cy="666750"/>
          </a:xfrm>
          <a:prstGeom prst="roundRect">
            <a:avLst>
              <a:gd name="adj" fmla="val 17143"/>
            </a:avLst>
          </a:prstGeom>
          <a:solidFill>
            <a:srgbClr val="FFFFFF"/>
          </a:solidFill>
          <a:ln w="9525">
            <a:solidFill>
              <a:srgbClr val="E2E8ED"/>
            </a:solidFill>
            <a:prstDash val="solid"/>
          </a:ln>
        </p:spPr>
      </p:sp>
      <p:sp>
        <p:nvSpPr>
          <p:cNvPr id="19" name="Rectangle 18">
            <a:extLst>
              <a:ext uri="{FF2B5EF4-FFF2-40B4-BE49-F238E27FC236}">
                <a16:creationId xmlns:a16="http://schemas.microsoft.com/office/drawing/2014/main" id="{997CD6EA-9D72-45BE-8D46-538F0523AB61}"/>
              </a:ext>
            </a:extLst>
          </p:cNvPr>
          <p:cNvSpPr>
            <a:spLocks noGrp="1"/>
          </p:cNvSpPr>
          <p:nvPr/>
        </p:nvSpPr>
        <p:spPr>
          <a:xfrm>
            <a:off x="704850" y="2228850"/>
            <a:ext cx="1219200" cy="5143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Россия</a:t>
            </a:r>
          </a:p>
        </p:txBody>
      </p:sp>
      <p:sp>
        <p:nvSpPr>
          <p:cNvPr id="20" name="Rounded Rectangle 19">
            <a:extLst>
              <a:ext uri="{FF2B5EF4-FFF2-40B4-BE49-F238E27FC236}">
                <a16:creationId xmlns:a16="http://schemas.microsoft.com/office/drawing/2014/main" id="{D8B3157A-2428-4242-8711-A3E03156E897}"/>
              </a:ext>
            </a:extLst>
          </p:cNvPr>
          <p:cNvSpPr>
            <a:spLocks noGrp="1"/>
          </p:cNvSpPr>
          <p:nvPr/>
        </p:nvSpPr>
        <p:spPr>
          <a:xfrm>
            <a:off x="2019300" y="2152650"/>
            <a:ext cx="1543050" cy="666750"/>
          </a:xfrm>
          <a:prstGeom prst="roundRect">
            <a:avLst>
              <a:gd name="adj" fmla="val 17143"/>
            </a:avLst>
          </a:prstGeom>
          <a:solidFill>
            <a:srgbClr val="FFFFFF"/>
          </a:solidFill>
          <a:ln w="9525">
            <a:solidFill>
              <a:srgbClr val="E2E8ED"/>
            </a:solidFill>
            <a:prstDash val="solid"/>
          </a:ln>
        </p:spPr>
      </p:sp>
      <p:sp>
        <p:nvSpPr>
          <p:cNvPr id="21" name="Rectangle 20">
            <a:extLst>
              <a:ext uri="{FF2B5EF4-FFF2-40B4-BE49-F238E27FC236}">
                <a16:creationId xmlns:a16="http://schemas.microsoft.com/office/drawing/2014/main" id="{00F78C98-F836-4304-AB9C-E2E9216000FC}"/>
              </a:ext>
            </a:extLst>
          </p:cNvPr>
          <p:cNvSpPr>
            <a:spLocks noGrp="1"/>
          </p:cNvSpPr>
          <p:nvPr/>
        </p:nvSpPr>
        <p:spPr>
          <a:xfrm>
            <a:off x="2114550" y="2228850"/>
            <a:ext cx="13525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Массовое подключение</a:t>
            </a:r>
          </a:p>
          <a:p>
            <a:pPr algn="ctr">
              <a:defRPr sz="1200" b="0">
                <a:solidFill>
                  <a:srgbClr val="263746"/>
                </a:solidFill>
              </a:defRPr>
            </a:pPr>
            <a:r>
              <a:rPr sz="1200" b="0">
                <a:solidFill>
                  <a:srgbClr val="263746"/>
                </a:solidFill>
              </a:rPr>
              <a:t>с 01.09.2026</a:t>
            </a:r>
          </a:p>
        </p:txBody>
      </p:sp>
      <p:sp>
        <p:nvSpPr>
          <p:cNvPr id="22" name="Rounded Rectangle 21">
            <a:extLst>
              <a:ext uri="{FF2B5EF4-FFF2-40B4-BE49-F238E27FC236}">
                <a16:creationId xmlns:a16="http://schemas.microsoft.com/office/drawing/2014/main" id="{EBE293B3-D4A0-4748-BAB8-7993F4332ECB}"/>
              </a:ext>
            </a:extLst>
          </p:cNvPr>
          <p:cNvSpPr>
            <a:spLocks noGrp="1"/>
          </p:cNvSpPr>
          <p:nvPr/>
        </p:nvSpPr>
        <p:spPr>
          <a:xfrm>
            <a:off x="3562350" y="2152650"/>
            <a:ext cx="2266950" cy="666750"/>
          </a:xfrm>
          <a:prstGeom prst="roundRect">
            <a:avLst>
              <a:gd name="adj" fmla="val 17143"/>
            </a:avLst>
          </a:prstGeom>
          <a:solidFill>
            <a:srgbClr val="FFFFFF"/>
          </a:solidFill>
          <a:ln w="9525">
            <a:solidFill>
              <a:srgbClr val="E2E8ED"/>
            </a:solidFill>
            <a:prstDash val="solid"/>
          </a:ln>
        </p:spPr>
      </p:sp>
      <p:sp>
        <p:nvSpPr>
          <p:cNvPr id="23" name="Rectangle 22">
            <a:extLst>
              <a:ext uri="{FF2B5EF4-FFF2-40B4-BE49-F238E27FC236}">
                <a16:creationId xmlns:a16="http://schemas.microsoft.com/office/drawing/2014/main" id="{23568115-AD75-4C9B-B4BC-F389EAD8A87A}"/>
              </a:ext>
            </a:extLst>
          </p:cNvPr>
          <p:cNvSpPr>
            <a:spLocks noGrp="1"/>
          </p:cNvSpPr>
          <p:nvPr/>
        </p:nvSpPr>
        <p:spPr>
          <a:xfrm>
            <a:off x="3657600" y="2228850"/>
            <a:ext cx="20764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Розничная; платформа ЦБ,</a:t>
            </a:r>
          </a:p>
          <a:p>
            <a:pPr algn="ctr">
              <a:defRPr sz="1200" b="0">
                <a:solidFill>
                  <a:srgbClr val="263746"/>
                </a:solidFill>
              </a:defRPr>
            </a:pPr>
            <a:r>
              <a:rPr sz="1200" b="0">
                <a:solidFill>
                  <a:srgbClr val="263746"/>
                </a:solidFill>
              </a:rPr>
              <a:t>доступ через банки</a:t>
            </a:r>
          </a:p>
        </p:txBody>
      </p:sp>
      <p:sp>
        <p:nvSpPr>
          <p:cNvPr id="24" name="Rounded Rectangle 23">
            <a:extLst>
              <a:ext uri="{FF2B5EF4-FFF2-40B4-BE49-F238E27FC236}">
                <a16:creationId xmlns:a16="http://schemas.microsoft.com/office/drawing/2014/main" id="{5B44DF2F-19C5-44E3-BE3B-B1B373F48081}"/>
              </a:ext>
            </a:extLst>
          </p:cNvPr>
          <p:cNvSpPr>
            <a:spLocks noGrp="1"/>
          </p:cNvSpPr>
          <p:nvPr/>
        </p:nvSpPr>
        <p:spPr>
          <a:xfrm>
            <a:off x="5829300" y="2152650"/>
            <a:ext cx="2895600" cy="666750"/>
          </a:xfrm>
          <a:prstGeom prst="roundRect">
            <a:avLst>
              <a:gd name="adj" fmla="val 17143"/>
            </a:avLst>
          </a:prstGeom>
          <a:solidFill>
            <a:srgbClr val="FFFFFF"/>
          </a:solidFill>
          <a:ln w="9525">
            <a:solidFill>
              <a:srgbClr val="E2E8ED"/>
            </a:solidFill>
            <a:prstDash val="solid"/>
          </a:ln>
        </p:spPr>
      </p:sp>
      <p:sp>
        <p:nvSpPr>
          <p:cNvPr id="25" name="Rectangle 24">
            <a:extLst>
              <a:ext uri="{FF2B5EF4-FFF2-40B4-BE49-F238E27FC236}">
                <a16:creationId xmlns:a16="http://schemas.microsoft.com/office/drawing/2014/main" id="{AEE88A47-6ED3-4E1F-97BC-DA4F324E9ED9}"/>
              </a:ext>
            </a:extLst>
          </p:cNvPr>
          <p:cNvSpPr>
            <a:spLocks noGrp="1"/>
          </p:cNvSpPr>
          <p:nvPr/>
        </p:nvSpPr>
        <p:spPr>
          <a:xfrm>
            <a:off x="5924550" y="2228850"/>
            <a:ext cx="27051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Не анонимна; единый реестр;</a:t>
            </a:r>
          </a:p>
          <a:p>
            <a:pPr algn="ctr">
              <a:defRPr sz="1200" b="0">
                <a:solidFill>
                  <a:srgbClr val="263746"/>
                </a:solidFill>
              </a:defRPr>
            </a:pPr>
            <a:r>
              <a:rPr sz="1200" b="0">
                <a:solidFill>
                  <a:srgbClr val="263746"/>
                </a:solidFill>
              </a:rPr>
              <a:t>смарт-контракты и маркирование</a:t>
            </a:r>
          </a:p>
        </p:txBody>
      </p:sp>
      <p:sp>
        <p:nvSpPr>
          <p:cNvPr id="26" name="Rounded Rectangle 25">
            <a:extLst>
              <a:ext uri="{FF2B5EF4-FFF2-40B4-BE49-F238E27FC236}">
                <a16:creationId xmlns:a16="http://schemas.microsoft.com/office/drawing/2014/main" id="{58DE162E-2526-4E6A-A314-494A906CB70D}"/>
              </a:ext>
            </a:extLst>
          </p:cNvPr>
          <p:cNvSpPr>
            <a:spLocks noGrp="1"/>
          </p:cNvSpPr>
          <p:nvPr/>
        </p:nvSpPr>
        <p:spPr>
          <a:xfrm>
            <a:off x="8724900" y="2152650"/>
            <a:ext cx="2857500" cy="666750"/>
          </a:xfrm>
          <a:prstGeom prst="roundRect">
            <a:avLst>
              <a:gd name="adj" fmla="val 17143"/>
            </a:avLst>
          </a:prstGeom>
          <a:solidFill>
            <a:srgbClr val="FFFFFF"/>
          </a:solidFill>
          <a:ln w="9525">
            <a:solidFill>
              <a:srgbClr val="E2E8ED"/>
            </a:solidFill>
            <a:prstDash val="solid"/>
          </a:ln>
        </p:spPr>
      </p:sp>
      <p:sp>
        <p:nvSpPr>
          <p:cNvPr id="27" name="Rectangle 26">
            <a:extLst>
              <a:ext uri="{FF2B5EF4-FFF2-40B4-BE49-F238E27FC236}">
                <a16:creationId xmlns:a16="http://schemas.microsoft.com/office/drawing/2014/main" id="{94F9F33A-CB2F-473F-94A9-18FFA0DEB8B8}"/>
              </a:ext>
            </a:extLst>
          </p:cNvPr>
          <p:cNvSpPr>
            <a:spLocks noGrp="1"/>
          </p:cNvSpPr>
          <p:nvPr/>
        </p:nvSpPr>
        <p:spPr>
          <a:xfrm>
            <a:off x="8820150" y="2228850"/>
            <a:ext cx="26670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Платежная инфраструктура +</a:t>
            </a:r>
          </a:p>
          <a:p>
            <a:pPr algn="ctr">
              <a:defRPr sz="1200" b="0">
                <a:solidFill>
                  <a:srgbClr val="263746"/>
                </a:solidFill>
              </a:defRPr>
            </a:pPr>
            <a:r>
              <a:rPr sz="1200" b="0">
                <a:solidFill>
                  <a:srgbClr val="263746"/>
                </a:solidFill>
              </a:rPr>
              <a:t>автоматизация целевых потоков</a:t>
            </a:r>
          </a:p>
        </p:txBody>
      </p:sp>
      <p:sp>
        <p:nvSpPr>
          <p:cNvPr id="28" name="Rounded Rectangle 27">
            <a:extLst>
              <a:ext uri="{FF2B5EF4-FFF2-40B4-BE49-F238E27FC236}">
                <a16:creationId xmlns:a16="http://schemas.microsoft.com/office/drawing/2014/main" id="{55F2F6F5-F507-4FFC-BA07-6FDA55BD5A43}"/>
              </a:ext>
            </a:extLst>
          </p:cNvPr>
          <p:cNvSpPr>
            <a:spLocks noGrp="1"/>
          </p:cNvSpPr>
          <p:nvPr/>
        </p:nvSpPr>
        <p:spPr>
          <a:xfrm>
            <a:off x="609600" y="2819400"/>
            <a:ext cx="1409700" cy="666750"/>
          </a:xfrm>
          <a:prstGeom prst="roundRect">
            <a:avLst>
              <a:gd name="adj" fmla="val 17143"/>
            </a:avLst>
          </a:prstGeom>
          <a:solidFill>
            <a:srgbClr val="EEF2F5"/>
          </a:solidFill>
          <a:ln w="9525">
            <a:solidFill>
              <a:srgbClr val="E2E8ED"/>
            </a:solidFill>
            <a:prstDash val="solid"/>
          </a:ln>
        </p:spPr>
      </p:sp>
      <p:sp>
        <p:nvSpPr>
          <p:cNvPr id="29" name="Rectangle 28">
            <a:extLst>
              <a:ext uri="{FF2B5EF4-FFF2-40B4-BE49-F238E27FC236}">
                <a16:creationId xmlns:a16="http://schemas.microsoft.com/office/drawing/2014/main" id="{B45E4E02-4A4C-464A-A92F-90D84C354915}"/>
              </a:ext>
            </a:extLst>
          </p:cNvPr>
          <p:cNvSpPr>
            <a:spLocks noGrp="1"/>
          </p:cNvSpPr>
          <p:nvPr/>
        </p:nvSpPr>
        <p:spPr>
          <a:xfrm>
            <a:off x="704850" y="2895600"/>
            <a:ext cx="1219200" cy="5143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Китай</a:t>
            </a:r>
          </a:p>
        </p:txBody>
      </p:sp>
      <p:sp>
        <p:nvSpPr>
          <p:cNvPr id="30" name="Rounded Rectangle 29">
            <a:extLst>
              <a:ext uri="{FF2B5EF4-FFF2-40B4-BE49-F238E27FC236}">
                <a16:creationId xmlns:a16="http://schemas.microsoft.com/office/drawing/2014/main" id="{857058BF-F060-449F-9C15-57082CA69932}"/>
              </a:ext>
            </a:extLst>
          </p:cNvPr>
          <p:cNvSpPr>
            <a:spLocks noGrp="1"/>
          </p:cNvSpPr>
          <p:nvPr/>
        </p:nvSpPr>
        <p:spPr>
          <a:xfrm>
            <a:off x="2019300" y="2819400"/>
            <a:ext cx="1543050" cy="666750"/>
          </a:xfrm>
          <a:prstGeom prst="roundRect">
            <a:avLst>
              <a:gd name="adj" fmla="val 17143"/>
            </a:avLst>
          </a:prstGeom>
          <a:solidFill>
            <a:srgbClr val="EEF2F5"/>
          </a:solidFill>
          <a:ln w="9525">
            <a:solidFill>
              <a:srgbClr val="E2E8ED"/>
            </a:solidFill>
            <a:prstDash val="solid"/>
          </a:ln>
        </p:spPr>
      </p:sp>
      <p:sp>
        <p:nvSpPr>
          <p:cNvPr id="31" name="Rectangle 30">
            <a:extLst>
              <a:ext uri="{FF2B5EF4-FFF2-40B4-BE49-F238E27FC236}">
                <a16:creationId xmlns:a16="http://schemas.microsoft.com/office/drawing/2014/main" id="{7AA85DDF-C486-45A3-965B-ED6F5152A491}"/>
              </a:ext>
            </a:extLst>
          </p:cNvPr>
          <p:cNvSpPr>
            <a:spLocks noGrp="1"/>
          </p:cNvSpPr>
          <p:nvPr/>
        </p:nvSpPr>
        <p:spPr>
          <a:xfrm>
            <a:off x="2114550" y="2895600"/>
            <a:ext cx="13525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Пилот / расширенное</a:t>
            </a:r>
          </a:p>
          <a:p>
            <a:pPr algn="ctr">
              <a:defRPr sz="1200" b="0">
                <a:solidFill>
                  <a:srgbClr val="263746"/>
                </a:solidFill>
              </a:defRPr>
            </a:pPr>
            <a:r>
              <a:rPr sz="1200" b="0">
                <a:solidFill>
                  <a:srgbClr val="263746"/>
                </a:solidFill>
              </a:rPr>
              <a:t>тестирование</a:t>
            </a:r>
          </a:p>
        </p:txBody>
      </p:sp>
      <p:sp>
        <p:nvSpPr>
          <p:cNvPr id="32" name="Rounded Rectangle 31">
            <a:extLst>
              <a:ext uri="{FF2B5EF4-FFF2-40B4-BE49-F238E27FC236}">
                <a16:creationId xmlns:a16="http://schemas.microsoft.com/office/drawing/2014/main" id="{793731BE-D2FC-4FC4-893C-36A6BD88AB33}"/>
              </a:ext>
            </a:extLst>
          </p:cNvPr>
          <p:cNvSpPr>
            <a:spLocks noGrp="1"/>
          </p:cNvSpPr>
          <p:nvPr/>
        </p:nvSpPr>
        <p:spPr>
          <a:xfrm>
            <a:off x="3562350" y="2819400"/>
            <a:ext cx="2266950" cy="666750"/>
          </a:xfrm>
          <a:prstGeom prst="roundRect">
            <a:avLst>
              <a:gd name="adj" fmla="val 17143"/>
            </a:avLst>
          </a:prstGeom>
          <a:solidFill>
            <a:srgbClr val="EEF2F5"/>
          </a:solidFill>
          <a:ln w="9525">
            <a:solidFill>
              <a:srgbClr val="E2E8ED"/>
            </a:solidFill>
            <a:prstDash val="solid"/>
          </a:ln>
        </p:spPr>
      </p:sp>
      <p:sp>
        <p:nvSpPr>
          <p:cNvPr id="33" name="Rectangle 32">
            <a:extLst>
              <a:ext uri="{FF2B5EF4-FFF2-40B4-BE49-F238E27FC236}">
                <a16:creationId xmlns:a16="http://schemas.microsoft.com/office/drawing/2014/main" id="{58A5842C-2F1E-41B0-8712-47E1268A94FF}"/>
              </a:ext>
            </a:extLst>
          </p:cNvPr>
          <p:cNvSpPr>
            <a:spLocks noGrp="1"/>
          </p:cNvSpPr>
          <p:nvPr/>
        </p:nvSpPr>
        <p:spPr>
          <a:xfrm>
            <a:off x="3657600" y="2895600"/>
            <a:ext cx="20764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Розничная; двухуровневая</a:t>
            </a:r>
          </a:p>
          <a:p>
            <a:pPr algn="ctr">
              <a:defRPr sz="1200" b="0">
                <a:solidFill>
                  <a:srgbClr val="263746"/>
                </a:solidFill>
              </a:defRPr>
            </a:pPr>
            <a:r>
              <a:rPr sz="1200" b="0">
                <a:solidFill>
                  <a:srgbClr val="263746"/>
                </a:solidFill>
              </a:rPr>
              <a:t>через операторов</a:t>
            </a:r>
          </a:p>
        </p:txBody>
      </p:sp>
      <p:sp>
        <p:nvSpPr>
          <p:cNvPr id="34" name="Rounded Rectangle 33">
            <a:extLst>
              <a:ext uri="{FF2B5EF4-FFF2-40B4-BE49-F238E27FC236}">
                <a16:creationId xmlns:a16="http://schemas.microsoft.com/office/drawing/2014/main" id="{278547A4-CCCD-43B0-A6F3-4695DFCFDBB1}"/>
              </a:ext>
            </a:extLst>
          </p:cNvPr>
          <p:cNvSpPr>
            <a:spLocks noGrp="1"/>
          </p:cNvSpPr>
          <p:nvPr/>
        </p:nvSpPr>
        <p:spPr>
          <a:xfrm>
            <a:off x="5829300" y="2819400"/>
            <a:ext cx="2895600" cy="666750"/>
          </a:xfrm>
          <a:prstGeom prst="roundRect">
            <a:avLst>
              <a:gd name="adj" fmla="val 17143"/>
            </a:avLst>
          </a:prstGeom>
          <a:solidFill>
            <a:srgbClr val="EEF2F5"/>
          </a:solidFill>
          <a:ln w="9525">
            <a:solidFill>
              <a:srgbClr val="E2E8ED"/>
            </a:solidFill>
            <a:prstDash val="solid"/>
          </a:ln>
        </p:spPr>
      </p:sp>
      <p:sp>
        <p:nvSpPr>
          <p:cNvPr id="35" name="Rectangle 34">
            <a:extLst>
              <a:ext uri="{FF2B5EF4-FFF2-40B4-BE49-F238E27FC236}">
                <a16:creationId xmlns:a16="http://schemas.microsoft.com/office/drawing/2014/main" id="{F08A1A6C-0CD5-45D0-9173-5843DC737E14}"/>
              </a:ext>
            </a:extLst>
          </p:cNvPr>
          <p:cNvSpPr>
            <a:spLocks noGrp="1"/>
          </p:cNvSpPr>
          <p:nvPr/>
        </p:nvSpPr>
        <p:spPr>
          <a:xfrm>
            <a:off x="5924550" y="2895600"/>
            <a:ext cx="27051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«Управляемая анонимность»;</a:t>
            </a:r>
          </a:p>
          <a:p>
            <a:pPr algn="ctr">
              <a:defRPr sz="1200" b="0">
                <a:solidFill>
                  <a:srgbClr val="263746"/>
                </a:solidFill>
              </a:defRPr>
            </a:pPr>
            <a:r>
              <a:rPr sz="1200" b="0">
                <a:solidFill>
                  <a:srgbClr val="263746"/>
                </a:solidFill>
              </a:rPr>
              <a:t>отслеживание по закону</a:t>
            </a:r>
          </a:p>
        </p:txBody>
      </p:sp>
      <p:sp>
        <p:nvSpPr>
          <p:cNvPr id="36" name="Rounded Rectangle 35">
            <a:extLst>
              <a:ext uri="{FF2B5EF4-FFF2-40B4-BE49-F238E27FC236}">
                <a16:creationId xmlns:a16="http://schemas.microsoft.com/office/drawing/2014/main" id="{AC68C593-9F9B-4A3F-874F-67C6C3571848}"/>
              </a:ext>
            </a:extLst>
          </p:cNvPr>
          <p:cNvSpPr>
            <a:spLocks noGrp="1"/>
          </p:cNvSpPr>
          <p:nvPr/>
        </p:nvSpPr>
        <p:spPr>
          <a:xfrm>
            <a:off x="8724900" y="2819400"/>
            <a:ext cx="2857500" cy="666750"/>
          </a:xfrm>
          <a:prstGeom prst="roundRect">
            <a:avLst>
              <a:gd name="adj" fmla="val 17143"/>
            </a:avLst>
          </a:prstGeom>
          <a:solidFill>
            <a:srgbClr val="EEF2F5"/>
          </a:solidFill>
          <a:ln w="9525">
            <a:solidFill>
              <a:srgbClr val="E2E8ED"/>
            </a:solidFill>
            <a:prstDash val="solid"/>
          </a:ln>
        </p:spPr>
      </p:sp>
      <p:sp>
        <p:nvSpPr>
          <p:cNvPr id="37" name="Rectangle 36">
            <a:extLst>
              <a:ext uri="{FF2B5EF4-FFF2-40B4-BE49-F238E27FC236}">
                <a16:creationId xmlns:a16="http://schemas.microsoft.com/office/drawing/2014/main" id="{304B662A-D757-41FC-A471-B779119F429E}"/>
              </a:ext>
            </a:extLst>
          </p:cNvPr>
          <p:cNvSpPr>
            <a:spLocks noGrp="1"/>
          </p:cNvSpPr>
          <p:nvPr/>
        </p:nvSpPr>
        <p:spPr>
          <a:xfrm>
            <a:off x="8820150" y="2895600"/>
            <a:ext cx="26670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Цифровая замена M0 и</a:t>
            </a:r>
          </a:p>
          <a:p>
            <a:pPr algn="ctr">
              <a:defRPr sz="1200" b="0">
                <a:solidFill>
                  <a:srgbClr val="263746"/>
                </a:solidFill>
              </a:defRPr>
            </a:pPr>
            <a:r>
              <a:rPr sz="1200" b="0">
                <a:solidFill>
                  <a:srgbClr val="263746"/>
                </a:solidFill>
              </a:rPr>
              <a:t>эффективность розничных платежей</a:t>
            </a:r>
          </a:p>
        </p:txBody>
      </p:sp>
      <p:sp>
        <p:nvSpPr>
          <p:cNvPr id="38" name="Rounded Rectangle 37">
            <a:extLst>
              <a:ext uri="{FF2B5EF4-FFF2-40B4-BE49-F238E27FC236}">
                <a16:creationId xmlns:a16="http://schemas.microsoft.com/office/drawing/2014/main" id="{CC7D988E-D5BE-43D5-ABB0-A4F50E5C9DAA}"/>
              </a:ext>
            </a:extLst>
          </p:cNvPr>
          <p:cNvSpPr>
            <a:spLocks noGrp="1"/>
          </p:cNvSpPr>
          <p:nvPr/>
        </p:nvSpPr>
        <p:spPr>
          <a:xfrm>
            <a:off x="609600" y="3486150"/>
            <a:ext cx="1409700" cy="666750"/>
          </a:xfrm>
          <a:prstGeom prst="roundRect">
            <a:avLst>
              <a:gd name="adj" fmla="val 17143"/>
            </a:avLst>
          </a:prstGeom>
          <a:solidFill>
            <a:srgbClr val="FFFFFF"/>
          </a:solidFill>
          <a:ln w="9525">
            <a:solidFill>
              <a:srgbClr val="E2E8ED"/>
            </a:solidFill>
            <a:prstDash val="solid"/>
          </a:ln>
        </p:spPr>
      </p:sp>
      <p:sp>
        <p:nvSpPr>
          <p:cNvPr id="39" name="Rectangle 38">
            <a:extLst>
              <a:ext uri="{FF2B5EF4-FFF2-40B4-BE49-F238E27FC236}">
                <a16:creationId xmlns:a16="http://schemas.microsoft.com/office/drawing/2014/main" id="{16597971-FCE9-4C4D-902F-004ADA702C31}"/>
              </a:ext>
            </a:extLst>
          </p:cNvPr>
          <p:cNvSpPr>
            <a:spLocks noGrp="1"/>
          </p:cNvSpPr>
          <p:nvPr/>
        </p:nvSpPr>
        <p:spPr>
          <a:xfrm>
            <a:off x="704850" y="3562350"/>
            <a:ext cx="1219200" cy="5143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Еврозона</a:t>
            </a:r>
          </a:p>
        </p:txBody>
      </p:sp>
      <p:sp>
        <p:nvSpPr>
          <p:cNvPr id="40" name="Rounded Rectangle 39">
            <a:extLst>
              <a:ext uri="{FF2B5EF4-FFF2-40B4-BE49-F238E27FC236}">
                <a16:creationId xmlns:a16="http://schemas.microsoft.com/office/drawing/2014/main" id="{A1C7931A-FAF9-4C97-A318-BEF8BDD7AC5B}"/>
              </a:ext>
            </a:extLst>
          </p:cNvPr>
          <p:cNvSpPr>
            <a:spLocks noGrp="1"/>
          </p:cNvSpPr>
          <p:nvPr/>
        </p:nvSpPr>
        <p:spPr>
          <a:xfrm>
            <a:off x="2019300" y="3486150"/>
            <a:ext cx="1543050" cy="666750"/>
          </a:xfrm>
          <a:prstGeom prst="roundRect">
            <a:avLst>
              <a:gd name="adj" fmla="val 17143"/>
            </a:avLst>
          </a:prstGeom>
          <a:solidFill>
            <a:srgbClr val="FFFFFF"/>
          </a:solidFill>
          <a:ln w="9525">
            <a:solidFill>
              <a:srgbClr val="E2E8ED"/>
            </a:solidFill>
            <a:prstDash val="solid"/>
          </a:ln>
        </p:spPr>
      </p:sp>
      <p:sp>
        <p:nvSpPr>
          <p:cNvPr id="41" name="Rectangle 40">
            <a:extLst>
              <a:ext uri="{FF2B5EF4-FFF2-40B4-BE49-F238E27FC236}">
                <a16:creationId xmlns:a16="http://schemas.microsoft.com/office/drawing/2014/main" id="{91BFD752-AA9B-4874-A301-C017EAA7083C}"/>
              </a:ext>
            </a:extLst>
          </p:cNvPr>
          <p:cNvSpPr>
            <a:spLocks noGrp="1"/>
          </p:cNvSpPr>
          <p:nvPr/>
        </p:nvSpPr>
        <p:spPr>
          <a:xfrm>
            <a:off x="2114550" y="3562350"/>
            <a:ext cx="13525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Подготовка; возможная</a:t>
            </a:r>
          </a:p>
          <a:p>
            <a:pPr algn="ctr">
              <a:defRPr sz="1200" b="0">
                <a:solidFill>
                  <a:srgbClr val="263746"/>
                </a:solidFill>
              </a:defRPr>
            </a:pPr>
            <a:r>
              <a:rPr sz="1200" b="0">
                <a:solidFill>
                  <a:srgbClr val="263746"/>
                </a:solidFill>
              </a:rPr>
              <a:t>эмиссия в 2029</a:t>
            </a:r>
          </a:p>
        </p:txBody>
      </p:sp>
      <p:sp>
        <p:nvSpPr>
          <p:cNvPr id="42" name="Rounded Rectangle 41">
            <a:extLst>
              <a:ext uri="{FF2B5EF4-FFF2-40B4-BE49-F238E27FC236}">
                <a16:creationId xmlns:a16="http://schemas.microsoft.com/office/drawing/2014/main" id="{9DF6C501-197F-4B2B-AAD4-A5A190B63B29}"/>
              </a:ext>
            </a:extLst>
          </p:cNvPr>
          <p:cNvSpPr>
            <a:spLocks noGrp="1"/>
          </p:cNvSpPr>
          <p:nvPr/>
        </p:nvSpPr>
        <p:spPr>
          <a:xfrm>
            <a:off x="3562350" y="3486150"/>
            <a:ext cx="2266950" cy="666750"/>
          </a:xfrm>
          <a:prstGeom prst="roundRect">
            <a:avLst>
              <a:gd name="adj" fmla="val 17143"/>
            </a:avLst>
          </a:prstGeom>
          <a:solidFill>
            <a:srgbClr val="FFFFFF"/>
          </a:solidFill>
          <a:ln w="9525">
            <a:solidFill>
              <a:srgbClr val="E2E8ED"/>
            </a:solidFill>
            <a:prstDash val="solid"/>
          </a:ln>
        </p:spPr>
      </p:sp>
      <p:sp>
        <p:nvSpPr>
          <p:cNvPr id="43" name="Rectangle 42">
            <a:extLst>
              <a:ext uri="{FF2B5EF4-FFF2-40B4-BE49-F238E27FC236}">
                <a16:creationId xmlns:a16="http://schemas.microsoft.com/office/drawing/2014/main" id="{0BA73490-BB7C-448C-98BF-1EB5A8D24EDA}"/>
              </a:ext>
            </a:extLst>
          </p:cNvPr>
          <p:cNvSpPr>
            <a:spLocks noGrp="1"/>
          </p:cNvSpPr>
          <p:nvPr/>
        </p:nvSpPr>
        <p:spPr>
          <a:xfrm>
            <a:off x="3657600" y="3562350"/>
            <a:ext cx="20764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Розничная; через банки</a:t>
            </a:r>
          </a:p>
          <a:p>
            <a:pPr algn="ctr">
              <a:defRPr sz="1200" b="0">
                <a:solidFill>
                  <a:srgbClr val="263746"/>
                </a:solidFill>
              </a:defRPr>
            </a:pPr>
            <a:r>
              <a:rPr sz="1200" b="0">
                <a:solidFill>
                  <a:srgbClr val="263746"/>
                </a:solidFill>
              </a:rPr>
              <a:t>и публичных посредников</a:t>
            </a:r>
          </a:p>
        </p:txBody>
      </p:sp>
      <p:sp>
        <p:nvSpPr>
          <p:cNvPr id="44" name="Rounded Rectangle 43">
            <a:extLst>
              <a:ext uri="{FF2B5EF4-FFF2-40B4-BE49-F238E27FC236}">
                <a16:creationId xmlns:a16="http://schemas.microsoft.com/office/drawing/2014/main" id="{D4AE0C1A-2966-4A15-B749-AB016477029F}"/>
              </a:ext>
            </a:extLst>
          </p:cNvPr>
          <p:cNvSpPr>
            <a:spLocks noGrp="1"/>
          </p:cNvSpPr>
          <p:nvPr/>
        </p:nvSpPr>
        <p:spPr>
          <a:xfrm>
            <a:off x="5829300" y="3486150"/>
            <a:ext cx="2895600" cy="666750"/>
          </a:xfrm>
          <a:prstGeom prst="roundRect">
            <a:avLst>
              <a:gd name="adj" fmla="val 17143"/>
            </a:avLst>
          </a:prstGeom>
          <a:solidFill>
            <a:srgbClr val="FFFFFF"/>
          </a:solidFill>
          <a:ln w="9525">
            <a:solidFill>
              <a:srgbClr val="E2E8ED"/>
            </a:solidFill>
            <a:prstDash val="solid"/>
          </a:ln>
        </p:spPr>
      </p:sp>
      <p:sp>
        <p:nvSpPr>
          <p:cNvPr id="45" name="Rectangle 44">
            <a:extLst>
              <a:ext uri="{FF2B5EF4-FFF2-40B4-BE49-F238E27FC236}">
                <a16:creationId xmlns:a16="http://schemas.microsoft.com/office/drawing/2014/main" id="{0D90C277-5CB6-46C2-93F9-03D56D82E0B3}"/>
              </a:ext>
            </a:extLst>
          </p:cNvPr>
          <p:cNvSpPr>
            <a:spLocks noGrp="1"/>
          </p:cNvSpPr>
          <p:nvPr/>
        </p:nvSpPr>
        <p:spPr>
          <a:xfrm>
            <a:off x="5924550" y="3562350"/>
            <a:ext cx="27051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ЦБ не должен видеть личность;</a:t>
            </a:r>
          </a:p>
          <a:p>
            <a:pPr algn="ctr">
              <a:defRPr sz="1200" b="0">
                <a:solidFill>
                  <a:srgbClr val="263746"/>
                </a:solidFill>
              </a:defRPr>
            </a:pPr>
            <a:r>
              <a:rPr sz="1200" b="0">
                <a:solidFill>
                  <a:srgbClr val="263746"/>
                </a:solidFill>
              </a:rPr>
              <a:t>офлайн — приватность как у наличных</a:t>
            </a:r>
          </a:p>
        </p:txBody>
      </p:sp>
      <p:sp>
        <p:nvSpPr>
          <p:cNvPr id="46" name="Rounded Rectangle 45">
            <a:extLst>
              <a:ext uri="{FF2B5EF4-FFF2-40B4-BE49-F238E27FC236}">
                <a16:creationId xmlns:a16="http://schemas.microsoft.com/office/drawing/2014/main" id="{A77FB1F6-C787-403E-A0E4-D05C4FF1C7C3}"/>
              </a:ext>
            </a:extLst>
          </p:cNvPr>
          <p:cNvSpPr>
            <a:spLocks noGrp="1"/>
          </p:cNvSpPr>
          <p:nvPr/>
        </p:nvSpPr>
        <p:spPr>
          <a:xfrm>
            <a:off x="8724900" y="3486150"/>
            <a:ext cx="2857500" cy="666750"/>
          </a:xfrm>
          <a:prstGeom prst="roundRect">
            <a:avLst>
              <a:gd name="adj" fmla="val 17143"/>
            </a:avLst>
          </a:prstGeom>
          <a:solidFill>
            <a:srgbClr val="FFFFFF"/>
          </a:solidFill>
          <a:ln w="9525">
            <a:solidFill>
              <a:srgbClr val="E2E8ED"/>
            </a:solidFill>
            <a:prstDash val="solid"/>
          </a:ln>
        </p:spPr>
      </p:sp>
      <p:sp>
        <p:nvSpPr>
          <p:cNvPr id="47" name="Rectangle 46">
            <a:extLst>
              <a:ext uri="{FF2B5EF4-FFF2-40B4-BE49-F238E27FC236}">
                <a16:creationId xmlns:a16="http://schemas.microsoft.com/office/drawing/2014/main" id="{5B5DB12D-66FD-46B8-AF0D-BA57BFB2047D}"/>
              </a:ext>
            </a:extLst>
          </p:cNvPr>
          <p:cNvSpPr>
            <a:spLocks noGrp="1"/>
          </p:cNvSpPr>
          <p:nvPr/>
        </p:nvSpPr>
        <p:spPr>
          <a:xfrm>
            <a:off x="8820150" y="3562350"/>
            <a:ext cx="26670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Публичная европейская опция;</a:t>
            </a:r>
          </a:p>
          <a:p>
            <a:pPr algn="ctr">
              <a:defRPr sz="1200" b="0">
                <a:solidFill>
                  <a:srgbClr val="263746"/>
                </a:solidFill>
              </a:defRPr>
            </a:pPr>
            <a:r>
              <a:rPr sz="1200" b="0">
                <a:solidFill>
                  <a:srgbClr val="263746"/>
                </a:solidFill>
              </a:rPr>
              <a:t>не программируемые деньги</a:t>
            </a:r>
          </a:p>
        </p:txBody>
      </p:sp>
      <p:sp>
        <p:nvSpPr>
          <p:cNvPr id="48" name="Rounded Rectangle 47">
            <a:extLst>
              <a:ext uri="{FF2B5EF4-FFF2-40B4-BE49-F238E27FC236}">
                <a16:creationId xmlns:a16="http://schemas.microsoft.com/office/drawing/2014/main" id="{2C22FE6F-7DE6-4330-9036-27BD319AA4FE}"/>
              </a:ext>
            </a:extLst>
          </p:cNvPr>
          <p:cNvSpPr>
            <a:spLocks noGrp="1"/>
          </p:cNvSpPr>
          <p:nvPr/>
        </p:nvSpPr>
        <p:spPr>
          <a:xfrm>
            <a:off x="609600" y="4152900"/>
            <a:ext cx="1409700" cy="666750"/>
          </a:xfrm>
          <a:prstGeom prst="roundRect">
            <a:avLst>
              <a:gd name="adj" fmla="val 17143"/>
            </a:avLst>
          </a:prstGeom>
          <a:solidFill>
            <a:srgbClr val="EEF2F5"/>
          </a:solidFill>
          <a:ln w="9525">
            <a:solidFill>
              <a:srgbClr val="E2E8ED"/>
            </a:solidFill>
            <a:prstDash val="solid"/>
          </a:ln>
        </p:spPr>
      </p:sp>
      <p:sp>
        <p:nvSpPr>
          <p:cNvPr id="49" name="Rectangle 48">
            <a:extLst>
              <a:ext uri="{FF2B5EF4-FFF2-40B4-BE49-F238E27FC236}">
                <a16:creationId xmlns:a16="http://schemas.microsoft.com/office/drawing/2014/main" id="{A06ABFC8-951B-45D2-A0B2-0843282AAD1E}"/>
              </a:ext>
            </a:extLst>
          </p:cNvPr>
          <p:cNvSpPr>
            <a:spLocks noGrp="1"/>
          </p:cNvSpPr>
          <p:nvPr/>
        </p:nvSpPr>
        <p:spPr>
          <a:xfrm>
            <a:off x="704850" y="4229100"/>
            <a:ext cx="1219200" cy="5143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Бразилия</a:t>
            </a:r>
          </a:p>
        </p:txBody>
      </p:sp>
      <p:sp>
        <p:nvSpPr>
          <p:cNvPr id="50" name="Rounded Rectangle 49">
            <a:extLst>
              <a:ext uri="{FF2B5EF4-FFF2-40B4-BE49-F238E27FC236}">
                <a16:creationId xmlns:a16="http://schemas.microsoft.com/office/drawing/2014/main" id="{44848E5D-B7F1-4A8E-998F-7D0EFE7A75F5}"/>
              </a:ext>
            </a:extLst>
          </p:cNvPr>
          <p:cNvSpPr>
            <a:spLocks noGrp="1"/>
          </p:cNvSpPr>
          <p:nvPr/>
        </p:nvSpPr>
        <p:spPr>
          <a:xfrm>
            <a:off x="2019300" y="4152900"/>
            <a:ext cx="1543050" cy="666750"/>
          </a:xfrm>
          <a:prstGeom prst="roundRect">
            <a:avLst>
              <a:gd name="adj" fmla="val 17143"/>
            </a:avLst>
          </a:prstGeom>
          <a:solidFill>
            <a:srgbClr val="EEF2F5"/>
          </a:solidFill>
          <a:ln w="9525">
            <a:solidFill>
              <a:srgbClr val="E2E8ED"/>
            </a:solidFill>
            <a:prstDash val="solid"/>
          </a:ln>
        </p:spPr>
      </p:sp>
      <p:sp>
        <p:nvSpPr>
          <p:cNvPr id="51" name="Rectangle 50">
            <a:extLst>
              <a:ext uri="{FF2B5EF4-FFF2-40B4-BE49-F238E27FC236}">
                <a16:creationId xmlns:a16="http://schemas.microsoft.com/office/drawing/2014/main" id="{8E6D5A53-546A-4653-BD0B-821A01883084}"/>
              </a:ext>
            </a:extLst>
          </p:cNvPr>
          <p:cNvSpPr>
            <a:spLocks noGrp="1"/>
          </p:cNvSpPr>
          <p:nvPr/>
        </p:nvSpPr>
        <p:spPr>
          <a:xfrm>
            <a:off x="2114550" y="4229100"/>
            <a:ext cx="13525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Пилот Drex</a:t>
            </a:r>
          </a:p>
        </p:txBody>
      </p:sp>
      <p:sp>
        <p:nvSpPr>
          <p:cNvPr id="52" name="Rounded Rectangle 51">
            <a:extLst>
              <a:ext uri="{FF2B5EF4-FFF2-40B4-BE49-F238E27FC236}">
                <a16:creationId xmlns:a16="http://schemas.microsoft.com/office/drawing/2014/main" id="{9B7A5A7A-E79A-4726-80A6-027F1DEF94CD}"/>
              </a:ext>
            </a:extLst>
          </p:cNvPr>
          <p:cNvSpPr>
            <a:spLocks noGrp="1"/>
          </p:cNvSpPr>
          <p:nvPr/>
        </p:nvSpPr>
        <p:spPr>
          <a:xfrm>
            <a:off x="3562350" y="4152900"/>
            <a:ext cx="2266950" cy="666750"/>
          </a:xfrm>
          <a:prstGeom prst="roundRect">
            <a:avLst>
              <a:gd name="adj" fmla="val 17143"/>
            </a:avLst>
          </a:prstGeom>
          <a:solidFill>
            <a:srgbClr val="EEF2F5"/>
          </a:solidFill>
          <a:ln w="9525">
            <a:solidFill>
              <a:srgbClr val="E2E8ED"/>
            </a:solidFill>
            <a:prstDash val="solid"/>
          </a:ln>
        </p:spPr>
      </p:sp>
      <p:sp>
        <p:nvSpPr>
          <p:cNvPr id="53" name="Rectangle 52">
            <a:extLst>
              <a:ext uri="{FF2B5EF4-FFF2-40B4-BE49-F238E27FC236}">
                <a16:creationId xmlns:a16="http://schemas.microsoft.com/office/drawing/2014/main" id="{6FD31571-AFD2-4851-8C87-6D277240BBC7}"/>
              </a:ext>
            </a:extLst>
          </p:cNvPr>
          <p:cNvSpPr>
            <a:spLocks noGrp="1"/>
          </p:cNvSpPr>
          <p:nvPr/>
        </p:nvSpPr>
        <p:spPr>
          <a:xfrm>
            <a:off x="3657600" y="4229100"/>
            <a:ext cx="20764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Токенизированная</a:t>
            </a:r>
          </a:p>
          <a:p>
            <a:pPr algn="ctr">
              <a:defRPr sz="1200" b="0">
                <a:solidFill>
                  <a:srgbClr val="263746"/>
                </a:solidFill>
              </a:defRPr>
            </a:pPr>
            <a:r>
              <a:rPr sz="1200" b="0">
                <a:solidFill>
                  <a:srgbClr val="263746"/>
                </a:solidFill>
              </a:rPr>
              <a:t>оптовая инфраструктура</a:t>
            </a:r>
          </a:p>
        </p:txBody>
      </p:sp>
      <p:sp>
        <p:nvSpPr>
          <p:cNvPr id="54" name="Rounded Rectangle 53">
            <a:extLst>
              <a:ext uri="{FF2B5EF4-FFF2-40B4-BE49-F238E27FC236}">
                <a16:creationId xmlns:a16="http://schemas.microsoft.com/office/drawing/2014/main" id="{95210F5A-890C-4C17-B946-A8DF087F5E86}"/>
              </a:ext>
            </a:extLst>
          </p:cNvPr>
          <p:cNvSpPr>
            <a:spLocks noGrp="1"/>
          </p:cNvSpPr>
          <p:nvPr/>
        </p:nvSpPr>
        <p:spPr>
          <a:xfrm>
            <a:off x="5829300" y="4152900"/>
            <a:ext cx="2895600" cy="666750"/>
          </a:xfrm>
          <a:prstGeom prst="roundRect">
            <a:avLst>
              <a:gd name="adj" fmla="val 17143"/>
            </a:avLst>
          </a:prstGeom>
          <a:solidFill>
            <a:srgbClr val="EEF2F5"/>
          </a:solidFill>
          <a:ln w="9525">
            <a:solidFill>
              <a:srgbClr val="E2E8ED"/>
            </a:solidFill>
            <a:prstDash val="solid"/>
          </a:ln>
        </p:spPr>
      </p:sp>
      <p:sp>
        <p:nvSpPr>
          <p:cNvPr id="55" name="Rectangle 54">
            <a:extLst>
              <a:ext uri="{FF2B5EF4-FFF2-40B4-BE49-F238E27FC236}">
                <a16:creationId xmlns:a16="http://schemas.microsoft.com/office/drawing/2014/main" id="{6D70469D-D135-41FA-87C0-22C09D90790D}"/>
              </a:ext>
            </a:extLst>
          </p:cNvPr>
          <p:cNvSpPr>
            <a:spLocks noGrp="1"/>
          </p:cNvSpPr>
          <p:nvPr/>
        </p:nvSpPr>
        <p:spPr>
          <a:xfrm>
            <a:off x="5924550" y="4229100"/>
            <a:ext cx="27051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Разрешённые участники;</a:t>
            </a:r>
          </a:p>
          <a:p>
            <a:pPr algn="ctr">
              <a:defRPr sz="1200" b="0">
                <a:solidFill>
                  <a:srgbClr val="263746"/>
                </a:solidFill>
              </a:defRPr>
            </a:pPr>
            <a:r>
              <a:rPr sz="1200" b="0">
                <a:solidFill>
                  <a:srgbClr val="263746"/>
                </a:solidFill>
              </a:rPr>
              <a:t>автоматизация смарт-контрактами</a:t>
            </a:r>
          </a:p>
        </p:txBody>
      </p:sp>
      <p:sp>
        <p:nvSpPr>
          <p:cNvPr id="56" name="Rounded Rectangle 55">
            <a:extLst>
              <a:ext uri="{FF2B5EF4-FFF2-40B4-BE49-F238E27FC236}">
                <a16:creationId xmlns:a16="http://schemas.microsoft.com/office/drawing/2014/main" id="{FC200F40-D1AF-4921-AB8E-2FE572C81721}"/>
              </a:ext>
            </a:extLst>
          </p:cNvPr>
          <p:cNvSpPr>
            <a:spLocks noGrp="1"/>
          </p:cNvSpPr>
          <p:nvPr/>
        </p:nvSpPr>
        <p:spPr>
          <a:xfrm>
            <a:off x="8724900" y="4152900"/>
            <a:ext cx="2857500" cy="666750"/>
          </a:xfrm>
          <a:prstGeom prst="roundRect">
            <a:avLst>
              <a:gd name="adj" fmla="val 17143"/>
            </a:avLst>
          </a:prstGeom>
          <a:solidFill>
            <a:srgbClr val="EEF2F5"/>
          </a:solidFill>
          <a:ln w="9525">
            <a:solidFill>
              <a:srgbClr val="E2E8ED"/>
            </a:solidFill>
            <a:prstDash val="solid"/>
          </a:ln>
        </p:spPr>
      </p:sp>
      <p:sp>
        <p:nvSpPr>
          <p:cNvPr id="57" name="Rectangle 56">
            <a:extLst>
              <a:ext uri="{FF2B5EF4-FFF2-40B4-BE49-F238E27FC236}">
                <a16:creationId xmlns:a16="http://schemas.microsoft.com/office/drawing/2014/main" id="{BD12CFF5-04A0-4FA3-9A7F-4EAA9169DFF7}"/>
              </a:ext>
            </a:extLst>
          </p:cNvPr>
          <p:cNvSpPr>
            <a:spLocks noGrp="1"/>
          </p:cNvSpPr>
          <p:nvPr/>
        </p:nvSpPr>
        <p:spPr>
          <a:xfrm>
            <a:off x="8820150" y="4229100"/>
            <a:ext cx="26670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Расчёт токенизированных</a:t>
            </a:r>
          </a:p>
          <a:p>
            <a:pPr algn="ctr">
              <a:defRPr sz="1200" b="0">
                <a:solidFill>
                  <a:srgbClr val="263746"/>
                </a:solidFill>
              </a:defRPr>
            </a:pPr>
            <a:r>
              <a:rPr sz="1200" b="0">
                <a:solidFill>
                  <a:srgbClr val="263746"/>
                </a:solidFill>
              </a:rPr>
              <a:t>активов и обязательств</a:t>
            </a:r>
          </a:p>
        </p:txBody>
      </p:sp>
      <p:sp>
        <p:nvSpPr>
          <p:cNvPr id="58" name="Rounded Rectangle 57">
            <a:extLst>
              <a:ext uri="{FF2B5EF4-FFF2-40B4-BE49-F238E27FC236}">
                <a16:creationId xmlns:a16="http://schemas.microsoft.com/office/drawing/2014/main" id="{CB49CBA6-7BB6-4DA2-A509-04AFEB9A05DD}"/>
              </a:ext>
            </a:extLst>
          </p:cNvPr>
          <p:cNvSpPr>
            <a:spLocks noGrp="1"/>
          </p:cNvSpPr>
          <p:nvPr/>
        </p:nvSpPr>
        <p:spPr>
          <a:xfrm>
            <a:off x="609600" y="4819650"/>
            <a:ext cx="1409700" cy="666750"/>
          </a:xfrm>
          <a:prstGeom prst="roundRect">
            <a:avLst>
              <a:gd name="adj" fmla="val 17143"/>
            </a:avLst>
          </a:prstGeom>
          <a:solidFill>
            <a:srgbClr val="FFFFFF"/>
          </a:solidFill>
          <a:ln w="9525">
            <a:solidFill>
              <a:srgbClr val="E2E8ED"/>
            </a:solidFill>
            <a:prstDash val="solid"/>
          </a:ln>
        </p:spPr>
      </p:sp>
      <p:sp>
        <p:nvSpPr>
          <p:cNvPr id="59" name="Rectangle 58">
            <a:extLst>
              <a:ext uri="{FF2B5EF4-FFF2-40B4-BE49-F238E27FC236}">
                <a16:creationId xmlns:a16="http://schemas.microsoft.com/office/drawing/2014/main" id="{57929928-232B-4B89-B4C9-B96EC5CC7B38}"/>
              </a:ext>
            </a:extLst>
          </p:cNvPr>
          <p:cNvSpPr>
            <a:spLocks noGrp="1"/>
          </p:cNvSpPr>
          <p:nvPr/>
        </p:nvSpPr>
        <p:spPr>
          <a:xfrm>
            <a:off x="704850" y="4895850"/>
            <a:ext cx="1219200" cy="514350"/>
          </a:xfrm>
          <a:prstGeom prst="rect">
            <a:avLst/>
          </a:prstGeom>
          <a:noFill/>
          <a:ln w="0">
            <a:noFill/>
            <a:prstDash val="solid"/>
          </a:ln>
        </p:spPr>
        <p:txBody>
          <a:bodyPr anchor="ctr"/>
          <a:lstStyle/>
          <a:p>
            <a:pPr algn="l">
              <a:defRPr sz="1350" b="1">
                <a:solidFill>
                  <a:srgbClr val="071D33"/>
                </a:solidFill>
              </a:defRPr>
            </a:pPr>
            <a:r>
              <a:rPr sz="1350" b="1">
                <a:solidFill>
                  <a:srgbClr val="071D33"/>
                </a:solidFill>
              </a:rPr>
              <a:t>Багамы</a:t>
            </a:r>
          </a:p>
        </p:txBody>
      </p:sp>
      <p:sp>
        <p:nvSpPr>
          <p:cNvPr id="60" name="Rounded Rectangle 59">
            <a:extLst>
              <a:ext uri="{FF2B5EF4-FFF2-40B4-BE49-F238E27FC236}">
                <a16:creationId xmlns:a16="http://schemas.microsoft.com/office/drawing/2014/main" id="{978A85FE-AA29-47D1-AA4E-8F95EC363F09}"/>
              </a:ext>
            </a:extLst>
          </p:cNvPr>
          <p:cNvSpPr>
            <a:spLocks noGrp="1"/>
          </p:cNvSpPr>
          <p:nvPr/>
        </p:nvSpPr>
        <p:spPr>
          <a:xfrm>
            <a:off x="2019300" y="4819650"/>
            <a:ext cx="1543050" cy="666750"/>
          </a:xfrm>
          <a:prstGeom prst="roundRect">
            <a:avLst>
              <a:gd name="adj" fmla="val 17143"/>
            </a:avLst>
          </a:prstGeom>
          <a:solidFill>
            <a:srgbClr val="FFFFFF"/>
          </a:solidFill>
          <a:ln w="9525">
            <a:solidFill>
              <a:srgbClr val="E2E8ED"/>
            </a:solidFill>
            <a:prstDash val="solid"/>
          </a:ln>
        </p:spPr>
      </p:sp>
      <p:sp>
        <p:nvSpPr>
          <p:cNvPr id="61" name="Rectangle 60">
            <a:extLst>
              <a:ext uri="{FF2B5EF4-FFF2-40B4-BE49-F238E27FC236}">
                <a16:creationId xmlns:a16="http://schemas.microsoft.com/office/drawing/2014/main" id="{2163444D-CE36-4DF2-B1D7-94C99B524609}"/>
              </a:ext>
            </a:extLst>
          </p:cNvPr>
          <p:cNvSpPr>
            <a:spLocks noGrp="1"/>
          </p:cNvSpPr>
          <p:nvPr/>
        </p:nvSpPr>
        <p:spPr>
          <a:xfrm>
            <a:off x="2114550" y="4895850"/>
            <a:ext cx="13525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Запущен</a:t>
            </a:r>
          </a:p>
        </p:txBody>
      </p:sp>
      <p:sp>
        <p:nvSpPr>
          <p:cNvPr id="62" name="Rounded Rectangle 61">
            <a:extLst>
              <a:ext uri="{FF2B5EF4-FFF2-40B4-BE49-F238E27FC236}">
                <a16:creationId xmlns:a16="http://schemas.microsoft.com/office/drawing/2014/main" id="{FE6487A0-51B5-4BA6-ACDA-169C6E31EF6C}"/>
              </a:ext>
            </a:extLst>
          </p:cNvPr>
          <p:cNvSpPr>
            <a:spLocks noGrp="1"/>
          </p:cNvSpPr>
          <p:nvPr/>
        </p:nvSpPr>
        <p:spPr>
          <a:xfrm>
            <a:off x="3562350" y="4819650"/>
            <a:ext cx="2266950" cy="666750"/>
          </a:xfrm>
          <a:prstGeom prst="roundRect">
            <a:avLst>
              <a:gd name="adj" fmla="val 17143"/>
            </a:avLst>
          </a:prstGeom>
          <a:solidFill>
            <a:srgbClr val="FFFFFF"/>
          </a:solidFill>
          <a:ln w="9525">
            <a:solidFill>
              <a:srgbClr val="E2E8ED"/>
            </a:solidFill>
            <a:prstDash val="solid"/>
          </a:ln>
        </p:spPr>
      </p:sp>
      <p:sp>
        <p:nvSpPr>
          <p:cNvPr id="63" name="Rectangle 62">
            <a:extLst>
              <a:ext uri="{FF2B5EF4-FFF2-40B4-BE49-F238E27FC236}">
                <a16:creationId xmlns:a16="http://schemas.microsoft.com/office/drawing/2014/main" id="{D7767893-99BA-44D2-8AF1-22B01C023F30}"/>
              </a:ext>
            </a:extLst>
          </p:cNvPr>
          <p:cNvSpPr>
            <a:spLocks noGrp="1"/>
          </p:cNvSpPr>
          <p:nvPr/>
        </p:nvSpPr>
        <p:spPr>
          <a:xfrm>
            <a:off x="3657600" y="4895850"/>
            <a:ext cx="207645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Розничная; через</a:t>
            </a:r>
          </a:p>
          <a:p>
            <a:pPr algn="ctr">
              <a:defRPr sz="1200" b="0">
                <a:solidFill>
                  <a:srgbClr val="263746"/>
                </a:solidFill>
              </a:defRPr>
            </a:pPr>
            <a:r>
              <a:rPr sz="1200" b="0">
                <a:solidFill>
                  <a:srgbClr val="263746"/>
                </a:solidFill>
              </a:rPr>
              <a:t>платёжных провайдеров</a:t>
            </a:r>
          </a:p>
        </p:txBody>
      </p:sp>
      <p:sp>
        <p:nvSpPr>
          <p:cNvPr id="64" name="Rounded Rectangle 63">
            <a:extLst>
              <a:ext uri="{FF2B5EF4-FFF2-40B4-BE49-F238E27FC236}">
                <a16:creationId xmlns:a16="http://schemas.microsoft.com/office/drawing/2014/main" id="{42F33C6D-9776-44EF-AAC9-BEA90B04BAF0}"/>
              </a:ext>
            </a:extLst>
          </p:cNvPr>
          <p:cNvSpPr>
            <a:spLocks noGrp="1"/>
          </p:cNvSpPr>
          <p:nvPr/>
        </p:nvSpPr>
        <p:spPr>
          <a:xfrm>
            <a:off x="5829300" y="4819650"/>
            <a:ext cx="2895600" cy="666750"/>
          </a:xfrm>
          <a:prstGeom prst="roundRect">
            <a:avLst>
              <a:gd name="adj" fmla="val 17143"/>
            </a:avLst>
          </a:prstGeom>
          <a:solidFill>
            <a:srgbClr val="FFFFFF"/>
          </a:solidFill>
          <a:ln w="9525">
            <a:solidFill>
              <a:srgbClr val="E2E8ED"/>
            </a:solidFill>
            <a:prstDash val="solid"/>
          </a:ln>
        </p:spPr>
      </p:sp>
      <p:sp>
        <p:nvSpPr>
          <p:cNvPr id="65" name="Rectangle 64">
            <a:extLst>
              <a:ext uri="{FF2B5EF4-FFF2-40B4-BE49-F238E27FC236}">
                <a16:creationId xmlns:a16="http://schemas.microsoft.com/office/drawing/2014/main" id="{20D106D7-0E14-4738-8551-BE86342DA1BC}"/>
              </a:ext>
            </a:extLst>
          </p:cNvPr>
          <p:cNvSpPr>
            <a:spLocks noGrp="1"/>
          </p:cNvSpPr>
          <p:nvPr/>
        </p:nvSpPr>
        <p:spPr>
          <a:xfrm>
            <a:off x="5924550" y="4895850"/>
            <a:ext cx="27051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KYC и уровни кошельков</a:t>
            </a:r>
          </a:p>
        </p:txBody>
      </p:sp>
      <p:sp>
        <p:nvSpPr>
          <p:cNvPr id="66" name="Rounded Rectangle 65">
            <a:extLst>
              <a:ext uri="{FF2B5EF4-FFF2-40B4-BE49-F238E27FC236}">
                <a16:creationId xmlns:a16="http://schemas.microsoft.com/office/drawing/2014/main" id="{8D760AB3-020B-45E9-AA0D-A2750B1354B2}"/>
              </a:ext>
            </a:extLst>
          </p:cNvPr>
          <p:cNvSpPr>
            <a:spLocks noGrp="1"/>
          </p:cNvSpPr>
          <p:nvPr/>
        </p:nvSpPr>
        <p:spPr>
          <a:xfrm>
            <a:off x="8724900" y="4819650"/>
            <a:ext cx="2857500" cy="666750"/>
          </a:xfrm>
          <a:prstGeom prst="roundRect">
            <a:avLst>
              <a:gd name="adj" fmla="val 17143"/>
            </a:avLst>
          </a:prstGeom>
          <a:solidFill>
            <a:srgbClr val="FFFFFF"/>
          </a:solidFill>
          <a:ln w="9525">
            <a:solidFill>
              <a:srgbClr val="E2E8ED"/>
            </a:solidFill>
            <a:prstDash val="solid"/>
          </a:ln>
        </p:spPr>
      </p:sp>
      <p:sp>
        <p:nvSpPr>
          <p:cNvPr id="67" name="Rectangle 66">
            <a:extLst>
              <a:ext uri="{FF2B5EF4-FFF2-40B4-BE49-F238E27FC236}">
                <a16:creationId xmlns:a16="http://schemas.microsoft.com/office/drawing/2014/main" id="{D7BD268A-3551-420E-9D46-D87661836368}"/>
              </a:ext>
            </a:extLst>
          </p:cNvPr>
          <p:cNvSpPr>
            <a:spLocks noGrp="1"/>
          </p:cNvSpPr>
          <p:nvPr/>
        </p:nvSpPr>
        <p:spPr>
          <a:xfrm>
            <a:off x="8820150" y="4895850"/>
            <a:ext cx="2667000" cy="514350"/>
          </a:xfrm>
          <a:prstGeom prst="rect">
            <a:avLst/>
          </a:prstGeom>
          <a:noFill/>
          <a:ln w="0">
            <a:noFill/>
            <a:prstDash val="solid"/>
          </a:ln>
        </p:spPr>
        <p:txBody>
          <a:bodyPr anchor="ctr"/>
          <a:lstStyle/>
          <a:p>
            <a:pPr algn="ctr">
              <a:defRPr sz="1200" b="0">
                <a:solidFill>
                  <a:srgbClr val="263746"/>
                </a:solidFill>
              </a:defRPr>
            </a:pPr>
            <a:r>
              <a:rPr sz="1200" b="0">
                <a:solidFill>
                  <a:srgbClr val="263746"/>
                </a:solidFill>
              </a:rPr>
              <a:t>Финансовая доступность и</a:t>
            </a:r>
          </a:p>
          <a:p>
            <a:pPr algn="ctr">
              <a:defRPr sz="1200" b="0">
                <a:solidFill>
                  <a:srgbClr val="263746"/>
                </a:solidFill>
              </a:defRPr>
            </a:pPr>
            <a:r>
              <a:rPr sz="1200" b="0">
                <a:solidFill>
                  <a:srgbClr val="263746"/>
                </a:solidFill>
              </a:rPr>
              <a:t>устойчивость островной системы</a:t>
            </a:r>
          </a:p>
        </p:txBody>
      </p:sp>
      <p:sp>
        <p:nvSpPr>
          <p:cNvPr id="68" name="Rounded Rectangle 67">
            <a:extLst>
              <a:ext uri="{FF2B5EF4-FFF2-40B4-BE49-F238E27FC236}">
                <a16:creationId xmlns:a16="http://schemas.microsoft.com/office/drawing/2014/main" id="{E7F17D88-C60B-46CC-B281-62D8BE8F4E90}"/>
              </a:ext>
            </a:extLst>
          </p:cNvPr>
          <p:cNvSpPr>
            <a:spLocks noGrp="1"/>
          </p:cNvSpPr>
          <p:nvPr/>
        </p:nvSpPr>
        <p:spPr>
          <a:xfrm>
            <a:off x="609600" y="5791200"/>
            <a:ext cx="10972800" cy="590550"/>
          </a:xfrm>
          <a:prstGeom prst="roundRect">
            <a:avLst>
              <a:gd name="adj" fmla="val 9677"/>
            </a:avLst>
          </a:prstGeom>
          <a:solidFill>
            <a:srgbClr val="ECE7F7"/>
          </a:solidFill>
          <a:ln w="9525">
            <a:solidFill>
              <a:srgbClr val="ECE7F7"/>
            </a:solidFill>
            <a:prstDash val="solid"/>
          </a:ln>
        </p:spPr>
      </p:sp>
      <p:sp>
        <p:nvSpPr>
          <p:cNvPr id="69" name="Rounded Rectangle 68">
            <a:extLst>
              <a:ext uri="{FF2B5EF4-FFF2-40B4-BE49-F238E27FC236}">
                <a16:creationId xmlns:a16="http://schemas.microsoft.com/office/drawing/2014/main" id="{7342D958-6077-4CDA-889B-F697C4A2E578}"/>
              </a:ext>
            </a:extLst>
          </p:cNvPr>
          <p:cNvSpPr>
            <a:spLocks noGrp="1"/>
          </p:cNvSpPr>
          <p:nvPr/>
        </p:nvSpPr>
        <p:spPr>
          <a:xfrm>
            <a:off x="609600" y="5791200"/>
            <a:ext cx="66675" cy="590550"/>
          </a:xfrm>
          <a:prstGeom prst="roundRect">
            <a:avLst>
              <a:gd name="adj" fmla="val 50000"/>
            </a:avLst>
          </a:prstGeom>
          <a:solidFill>
            <a:srgbClr val="6750A4"/>
          </a:solidFill>
          <a:ln w="9525">
            <a:solidFill>
              <a:srgbClr val="6750A4"/>
            </a:solidFill>
            <a:prstDash val="solid"/>
          </a:ln>
        </p:spPr>
      </p:sp>
      <p:sp>
        <p:nvSpPr>
          <p:cNvPr id="70" name="Rectangle 69">
            <a:extLst>
              <a:ext uri="{FF2B5EF4-FFF2-40B4-BE49-F238E27FC236}">
                <a16:creationId xmlns:a16="http://schemas.microsoft.com/office/drawing/2014/main" id="{6686584D-3B0C-4734-A593-1D9754C88336}"/>
              </a:ext>
            </a:extLst>
          </p:cNvPr>
          <p:cNvSpPr>
            <a:spLocks noGrp="1"/>
          </p:cNvSpPr>
          <p:nvPr/>
        </p:nvSpPr>
        <p:spPr>
          <a:xfrm>
            <a:off x="838200" y="5924550"/>
            <a:ext cx="10477500" cy="323850"/>
          </a:xfrm>
          <a:prstGeom prst="rect">
            <a:avLst/>
          </a:prstGeom>
          <a:noFill/>
          <a:ln w="0">
            <a:noFill/>
            <a:prstDash val="solid"/>
          </a:ln>
        </p:spPr>
        <p:txBody>
          <a:bodyPr anchor="ctr"/>
          <a:lstStyle/>
          <a:p>
            <a:pPr algn="l">
              <a:defRPr sz="1500" b="1">
                <a:solidFill>
                  <a:srgbClr val="6750A4"/>
                </a:solidFill>
              </a:defRPr>
            </a:pPr>
            <a:r>
              <a:rPr sz="1500" b="1">
                <a:solidFill>
                  <a:srgbClr val="6750A4"/>
                </a:solidFill>
              </a:rPr>
              <a:t>Россия и Китай допускают более сильную управляемость потоков; проект евро сознательно отделяет условный платёж от ограничений на сами деньги.</a:t>
            </a:r>
          </a:p>
        </p:txBody>
      </p:sp>
    </p:spTree>
    <p:extLst>
      <p:ext uri="{BB962C8B-B14F-4D97-AF65-F5344CB8AC3E}">
        <p14:creationId xmlns:p14="http://schemas.microsoft.com/office/powerpoint/2010/main" val="378871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50" name="Rounded Rectangle 49">
            <a:extLst>
              <a:ext uri="{FF2B5EF4-FFF2-40B4-BE49-F238E27FC236}">
                <a16:creationId xmlns:a16="http://schemas.microsoft.com/office/drawing/2014/main" id="{3D319B8A-287B-48E8-B044-44B47D33BEE9}"/>
              </a:ext>
            </a:extLst>
          </p:cNvPr>
          <p:cNvSpPr>
            <a:spLocks noGrp="1"/>
          </p:cNvSpPr>
          <p:nvPr/>
        </p:nvSpPr>
        <p:spPr>
          <a:xfrm>
            <a:off x="0" y="0"/>
            <a:ext cx="114300" cy="6858000"/>
          </a:xfrm>
          <a:prstGeom prst="roundRect">
            <a:avLst>
              <a:gd name="adj" fmla="val 50000"/>
            </a:avLst>
          </a:prstGeom>
          <a:solidFill>
            <a:srgbClr val="075BCB"/>
          </a:solidFill>
          <a:ln w="9525">
            <a:solidFill>
              <a:srgbClr val="075BCB"/>
            </a:solidFill>
            <a:prstDash val="solid"/>
          </a:ln>
        </p:spPr>
      </p:sp>
      <p:sp>
        <p:nvSpPr>
          <p:cNvPr id="2" name="Rounded Rectangle 1">
            <a:extLst>
              <a:ext uri="{FF2B5EF4-FFF2-40B4-BE49-F238E27FC236}">
                <a16:creationId xmlns:a16="http://schemas.microsoft.com/office/drawing/2014/main" id="{3E78C847-9014-4EE5-898A-C2CEB64C7AA5}"/>
              </a:ext>
            </a:extLst>
          </p:cNvPr>
          <p:cNvSpPr>
            <a:spLocks noGrp="1"/>
          </p:cNvSpPr>
          <p:nvPr/>
        </p:nvSpPr>
        <p:spPr>
          <a:xfrm>
            <a:off x="609600" y="304800"/>
            <a:ext cx="323850" cy="47625"/>
          </a:xfrm>
          <a:prstGeom prst="roundRect">
            <a:avLst>
              <a:gd name="adj" fmla="val 50000"/>
            </a:avLst>
          </a:prstGeom>
          <a:solidFill>
            <a:srgbClr val="075BCB"/>
          </a:solidFill>
          <a:ln w="9525">
            <a:solidFill>
              <a:srgbClr val="075BCB"/>
            </a:solidFill>
            <a:prstDash val="solid"/>
          </a:ln>
        </p:spPr>
      </p:sp>
      <p:sp>
        <p:nvSpPr>
          <p:cNvPr id="3" name="kicker-11">
            <a:extLst>
              <a:ext uri="{FF2B5EF4-FFF2-40B4-BE49-F238E27FC236}">
                <a16:creationId xmlns:a16="http://schemas.microsoft.com/office/drawing/2014/main" id="{65B52E7C-F0E9-4CC5-93FC-B93E0C046153}"/>
              </a:ext>
            </a:extLst>
          </p:cNvPr>
          <p:cNvSpPr>
            <a:spLocks noGrp="1"/>
          </p:cNvSpPr>
          <p:nvPr/>
        </p:nvSpPr>
        <p:spPr>
          <a:xfrm>
            <a:off x="1066800" y="228600"/>
            <a:ext cx="47625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10. МЕЖДУНАРОДНЫЕ ПЛАТЕЖИ</a:t>
            </a:r>
          </a:p>
        </p:txBody>
      </p:sp>
      <p:sp>
        <p:nvSpPr>
          <p:cNvPr id="4" name="title-11">
            <a:extLst>
              <a:ext uri="{FF2B5EF4-FFF2-40B4-BE49-F238E27FC236}">
                <a16:creationId xmlns:a16="http://schemas.microsoft.com/office/drawing/2014/main" id="{023EF59D-FA7E-41CF-831F-89DBA258CA71}"/>
              </a:ext>
            </a:extLst>
          </p:cNvPr>
          <p:cNvSpPr>
            <a:spLocks noGrp="1"/>
          </p:cNvSpPr>
          <p:nvPr/>
        </p:nvSpPr>
        <p:spPr>
          <a:xfrm>
            <a:off x="609600" y="542925"/>
            <a:ext cx="10344150" cy="895350"/>
          </a:xfrm>
          <a:prstGeom prst="rect">
            <a:avLst/>
          </a:prstGeom>
          <a:noFill/>
          <a:ln w="0">
            <a:noFill/>
            <a:prstDash val="solid"/>
          </a:ln>
        </p:spPr>
        <p:txBody>
          <a:bodyPr anchor="t"/>
          <a:lstStyle/>
          <a:p>
            <a:pPr algn="l">
              <a:defRPr sz="2325" b="1">
                <a:solidFill>
                  <a:srgbClr val="071D33"/>
                </a:solidFill>
              </a:defRPr>
            </a:pPr>
            <a:r>
              <a:rPr sz="2325" b="1">
                <a:solidFill>
                  <a:srgbClr val="071D33"/>
                </a:solidFill>
              </a:rPr>
              <a:t>Трансграничный потенциал — в сокращении расчётной цепочки, а не в отмене ограничений</a:t>
            </a:r>
          </a:p>
        </p:txBody>
      </p:sp>
      <p:sp>
        <p:nvSpPr>
          <p:cNvPr id="5" name="Straight Connector 4">
            <a:extLst>
              <a:ext uri="{FF2B5EF4-FFF2-40B4-BE49-F238E27FC236}">
                <a16:creationId xmlns:a16="http://schemas.microsoft.com/office/drawing/2014/main" id="{D70EA8B1-AF75-4369-AA10-9161D2B34276}"/>
              </a:ext>
            </a:extLst>
          </p:cNvPr>
          <p:cNvSpPr>
            <a:spLocks noGrp="1"/>
          </p:cNvSpPr>
          <p:nvPr/>
        </p:nvSpPr>
        <p:spPr>
          <a:xfrm>
            <a:off x="609600" y="1524000"/>
            <a:ext cx="10972800" cy="0"/>
          </a:xfrm>
          <a:prstGeom prst="line">
            <a:avLst/>
          </a:prstGeom>
          <a:noFill/>
          <a:ln w="9525">
            <a:solidFill>
              <a:srgbClr val="E2E8ED"/>
            </a:solidFill>
            <a:prstDash val="solid"/>
          </a:ln>
        </p:spPr>
      </p:sp>
      <p:sp>
        <p:nvSpPr>
          <p:cNvPr id="6" name="Rounded Rectangle 5">
            <a:extLst>
              <a:ext uri="{FF2B5EF4-FFF2-40B4-BE49-F238E27FC236}">
                <a16:creationId xmlns:a16="http://schemas.microsoft.com/office/drawing/2014/main" id="{5EA897B7-C034-493F-AE0D-B2AD120D1A4A}"/>
              </a:ext>
            </a:extLst>
          </p:cNvPr>
          <p:cNvSpPr>
            <a:spLocks noGrp="1"/>
          </p:cNvSpPr>
          <p:nvPr/>
        </p:nvSpPr>
        <p:spPr>
          <a:xfrm>
            <a:off x="11068050" y="228600"/>
            <a:ext cx="514350" cy="285750"/>
          </a:xfrm>
          <a:prstGeom prst="roundRect">
            <a:avLst>
              <a:gd name="adj" fmla="val 50000"/>
            </a:avLst>
          </a:prstGeom>
          <a:solidFill>
            <a:srgbClr val="071D33"/>
          </a:solidFill>
          <a:ln w="9525">
            <a:solidFill>
              <a:srgbClr val="071D33"/>
            </a:solidFill>
            <a:prstDash val="solid"/>
          </a:ln>
        </p:spPr>
      </p:sp>
      <p:sp>
        <p:nvSpPr>
          <p:cNvPr id="7" name="Rectangle 6">
            <a:extLst>
              <a:ext uri="{FF2B5EF4-FFF2-40B4-BE49-F238E27FC236}">
                <a16:creationId xmlns:a16="http://schemas.microsoft.com/office/drawing/2014/main" id="{18D751DB-6311-46D2-85E5-41C47CB4856A}"/>
              </a:ext>
            </a:extLst>
          </p:cNvPr>
          <p:cNvSpPr>
            <a:spLocks noGrp="1"/>
          </p:cNvSpPr>
          <p:nvPr/>
        </p:nvSpPr>
        <p:spPr>
          <a:xfrm>
            <a:off x="11163300" y="285750"/>
            <a:ext cx="3238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11</a:t>
            </a:r>
          </a:p>
        </p:txBody>
      </p:sp>
      <p:sp>
        <p:nvSpPr>
          <p:cNvPr id="8" name="Rounded Rectangle 7">
            <a:extLst>
              <a:ext uri="{FF2B5EF4-FFF2-40B4-BE49-F238E27FC236}">
                <a16:creationId xmlns:a16="http://schemas.microsoft.com/office/drawing/2014/main" id="{10C6DB86-8667-4ED6-8FFE-9044F2578A94}"/>
              </a:ext>
            </a:extLst>
          </p:cNvPr>
          <p:cNvSpPr>
            <a:spLocks noGrp="1"/>
          </p:cNvSpPr>
          <p:nvPr/>
        </p:nvSpPr>
        <p:spPr>
          <a:xfrm>
            <a:off x="781050" y="1695450"/>
            <a:ext cx="1066800" cy="285750"/>
          </a:xfrm>
          <a:prstGeom prst="roundRect">
            <a:avLst>
              <a:gd name="adj" fmla="val 50000"/>
            </a:avLst>
          </a:prstGeom>
          <a:solidFill>
            <a:srgbClr val="EEF2F5"/>
          </a:solidFill>
          <a:ln w="9525">
            <a:solidFill>
              <a:srgbClr val="EEF2F5"/>
            </a:solidFill>
            <a:prstDash val="solid"/>
          </a:ln>
        </p:spPr>
      </p:sp>
      <p:sp>
        <p:nvSpPr>
          <p:cNvPr id="9" name="Rectangle 8">
            <a:extLst>
              <a:ext uri="{FF2B5EF4-FFF2-40B4-BE49-F238E27FC236}">
                <a16:creationId xmlns:a16="http://schemas.microsoft.com/office/drawing/2014/main" id="{3FEC4FAE-E55D-4006-8EAB-46DAC31FB42C}"/>
              </a:ext>
            </a:extLst>
          </p:cNvPr>
          <p:cNvSpPr>
            <a:spLocks noGrp="1"/>
          </p:cNvSpPr>
          <p:nvPr/>
        </p:nvSpPr>
        <p:spPr>
          <a:xfrm>
            <a:off x="857250" y="1743075"/>
            <a:ext cx="914400" cy="190500"/>
          </a:xfrm>
          <a:prstGeom prst="rect">
            <a:avLst/>
          </a:prstGeom>
          <a:noFill/>
          <a:ln w="0">
            <a:noFill/>
            <a:prstDash val="solid"/>
          </a:ln>
        </p:spPr>
        <p:txBody>
          <a:bodyPr anchor="ctr"/>
          <a:lstStyle/>
          <a:p>
            <a:pPr algn="ctr">
              <a:defRPr sz="975" b="1">
                <a:solidFill>
                  <a:srgbClr val="536777"/>
                </a:solidFill>
              </a:defRPr>
            </a:pPr>
            <a:r>
              <a:rPr sz="975" b="1">
                <a:solidFill>
                  <a:srgbClr val="536777"/>
                </a:solidFill>
              </a:rPr>
              <a:t>СЕГОДНЯ</a:t>
            </a:r>
          </a:p>
        </p:txBody>
      </p:sp>
      <p:sp>
        <p:nvSpPr>
          <p:cNvPr id="10" name="Rectangle 9">
            <a:extLst>
              <a:ext uri="{FF2B5EF4-FFF2-40B4-BE49-F238E27FC236}">
                <a16:creationId xmlns:a16="http://schemas.microsoft.com/office/drawing/2014/main" id="{6B458A3E-966F-4987-A82C-B40F84DE8198}"/>
              </a:ext>
            </a:extLst>
          </p:cNvPr>
          <p:cNvSpPr>
            <a:spLocks noGrp="1"/>
          </p:cNvSpPr>
          <p:nvPr/>
        </p:nvSpPr>
        <p:spPr>
          <a:xfrm>
            <a:off x="781050" y="2057400"/>
            <a:ext cx="4953000" cy="304800"/>
          </a:xfrm>
          <a:prstGeom prst="rect">
            <a:avLst/>
          </a:prstGeom>
          <a:noFill/>
          <a:ln w="0">
            <a:noFill/>
            <a:prstDash val="solid"/>
          </a:ln>
        </p:spPr>
        <p:txBody>
          <a:bodyPr anchor="t"/>
          <a:lstStyle/>
          <a:p>
            <a:pPr algn="l">
              <a:defRPr sz="1800" b="1">
                <a:solidFill>
                  <a:srgbClr val="071D33"/>
                </a:solidFill>
              </a:defRPr>
            </a:pPr>
            <a:r>
              <a:rPr sz="1800" b="1">
                <a:solidFill>
                  <a:srgbClr val="071D33"/>
                </a:solidFill>
              </a:rPr>
              <a:t>Корреспондентская цепочка</a:t>
            </a:r>
          </a:p>
        </p:txBody>
      </p:sp>
      <p:sp>
        <p:nvSpPr>
          <p:cNvPr id="11" name="Rounded Rectangle 10">
            <a:extLst>
              <a:ext uri="{FF2B5EF4-FFF2-40B4-BE49-F238E27FC236}">
                <a16:creationId xmlns:a16="http://schemas.microsoft.com/office/drawing/2014/main" id="{F7ACD3EE-012D-4FCF-AD06-F6F10DE690FB}"/>
              </a:ext>
            </a:extLst>
          </p:cNvPr>
          <p:cNvSpPr>
            <a:spLocks noGrp="1"/>
          </p:cNvSpPr>
          <p:nvPr/>
        </p:nvSpPr>
        <p:spPr>
          <a:xfrm>
            <a:off x="704850" y="2476500"/>
            <a:ext cx="5143500" cy="1390650"/>
          </a:xfrm>
          <a:prstGeom prst="roundRect">
            <a:avLst>
              <a:gd name="adj" fmla="val 5479"/>
            </a:avLst>
          </a:prstGeom>
          <a:solidFill>
            <a:srgbClr val="FFFFFF"/>
          </a:solidFill>
          <a:ln w="9525">
            <a:solidFill>
              <a:srgbClr val="E2E8ED"/>
            </a:solidFill>
            <a:prstDash val="solid"/>
          </a:ln>
        </p:spPr>
      </p:sp>
      <p:sp>
        <p:nvSpPr>
          <p:cNvPr id="12" name="Rounded Rectangle 11">
            <a:extLst>
              <a:ext uri="{FF2B5EF4-FFF2-40B4-BE49-F238E27FC236}">
                <a16:creationId xmlns:a16="http://schemas.microsoft.com/office/drawing/2014/main" id="{820D5635-365B-4560-8F35-FB4C020E747F}"/>
              </a:ext>
            </a:extLst>
          </p:cNvPr>
          <p:cNvSpPr>
            <a:spLocks noGrp="1"/>
          </p:cNvSpPr>
          <p:nvPr/>
        </p:nvSpPr>
        <p:spPr>
          <a:xfrm>
            <a:off x="914400" y="2838450"/>
            <a:ext cx="1295400" cy="609600"/>
          </a:xfrm>
          <a:prstGeom prst="roundRect">
            <a:avLst>
              <a:gd name="adj" fmla="val 9375"/>
            </a:avLst>
          </a:prstGeom>
          <a:solidFill>
            <a:srgbClr val="DDEBFA"/>
          </a:solidFill>
          <a:ln w="9525">
            <a:solidFill>
              <a:srgbClr val="075BCB"/>
            </a:solidFill>
            <a:prstDash val="solid"/>
          </a:ln>
        </p:spPr>
      </p:sp>
      <p:sp>
        <p:nvSpPr>
          <p:cNvPr id="13" name="Rectangle 12">
            <a:extLst>
              <a:ext uri="{FF2B5EF4-FFF2-40B4-BE49-F238E27FC236}">
                <a16:creationId xmlns:a16="http://schemas.microsoft.com/office/drawing/2014/main" id="{2F6024E4-6432-492B-ADC4-B649667CCE07}"/>
              </a:ext>
            </a:extLst>
          </p:cNvPr>
          <p:cNvSpPr>
            <a:spLocks noGrp="1"/>
          </p:cNvSpPr>
          <p:nvPr/>
        </p:nvSpPr>
        <p:spPr>
          <a:xfrm>
            <a:off x="1047750" y="3000375"/>
            <a:ext cx="1028700" cy="266700"/>
          </a:xfrm>
          <a:prstGeom prst="rect">
            <a:avLst/>
          </a:prstGeom>
          <a:noFill/>
          <a:ln w="0">
            <a:noFill/>
            <a:prstDash val="solid"/>
          </a:ln>
        </p:spPr>
        <p:txBody>
          <a:bodyPr anchor="ctr"/>
          <a:lstStyle/>
          <a:p>
            <a:pPr algn="ctr">
              <a:defRPr sz="1425" b="1">
                <a:solidFill>
                  <a:srgbClr val="075BCB"/>
                </a:solidFill>
              </a:defRPr>
            </a:pPr>
            <a:r>
              <a:rPr sz="1425" b="1">
                <a:solidFill>
                  <a:srgbClr val="075BCB"/>
                </a:solidFill>
              </a:rPr>
              <a:t>Банк A</a:t>
            </a:r>
          </a:p>
        </p:txBody>
      </p:sp>
      <p:sp>
        <p:nvSpPr>
          <p:cNvPr id="14" name="Right Arrow 13">
            <a:extLst>
              <a:ext uri="{FF2B5EF4-FFF2-40B4-BE49-F238E27FC236}">
                <a16:creationId xmlns:a16="http://schemas.microsoft.com/office/drawing/2014/main" id="{C1A5D46D-8CEF-45D3-94E5-B54A020483F6}"/>
              </a:ext>
            </a:extLst>
          </p:cNvPr>
          <p:cNvSpPr>
            <a:spLocks noGrp="1"/>
          </p:cNvSpPr>
          <p:nvPr/>
        </p:nvSpPr>
        <p:spPr>
          <a:xfrm>
            <a:off x="2324100" y="3028950"/>
            <a:ext cx="533400" cy="190500"/>
          </a:xfrm>
          <a:prstGeom prst="rightArrow">
            <a:avLst/>
          </a:prstGeom>
          <a:solidFill>
            <a:srgbClr val="CCD5DC"/>
          </a:solidFill>
          <a:ln w="0">
            <a:solidFill>
              <a:srgbClr val="CCD5DC"/>
            </a:solidFill>
            <a:prstDash val="solid"/>
          </a:ln>
        </p:spPr>
      </p:sp>
      <p:sp>
        <p:nvSpPr>
          <p:cNvPr id="15" name="Rounded Rectangle 14">
            <a:extLst>
              <a:ext uri="{FF2B5EF4-FFF2-40B4-BE49-F238E27FC236}">
                <a16:creationId xmlns:a16="http://schemas.microsoft.com/office/drawing/2014/main" id="{8EEB2800-F341-4F09-AEAE-1B66D42CEB88}"/>
              </a:ext>
            </a:extLst>
          </p:cNvPr>
          <p:cNvSpPr>
            <a:spLocks noGrp="1"/>
          </p:cNvSpPr>
          <p:nvPr/>
        </p:nvSpPr>
        <p:spPr>
          <a:xfrm>
            <a:off x="2971800" y="2762250"/>
            <a:ext cx="1581150" cy="762000"/>
          </a:xfrm>
          <a:prstGeom prst="roundRect">
            <a:avLst>
              <a:gd name="adj" fmla="val 7500"/>
            </a:avLst>
          </a:prstGeom>
          <a:solidFill>
            <a:srgbClr val="EEF2F5"/>
          </a:solidFill>
          <a:ln w="9525">
            <a:solidFill>
              <a:srgbClr val="CCD5DC"/>
            </a:solidFill>
            <a:prstDash val="solid"/>
          </a:ln>
        </p:spPr>
      </p:sp>
      <p:sp>
        <p:nvSpPr>
          <p:cNvPr id="16" name="Rectangle 15">
            <a:extLst>
              <a:ext uri="{FF2B5EF4-FFF2-40B4-BE49-F238E27FC236}">
                <a16:creationId xmlns:a16="http://schemas.microsoft.com/office/drawing/2014/main" id="{FC1961A3-5AD2-4453-8172-63871A4E8C9F}"/>
              </a:ext>
            </a:extLst>
          </p:cNvPr>
          <p:cNvSpPr>
            <a:spLocks noGrp="1"/>
          </p:cNvSpPr>
          <p:nvPr/>
        </p:nvSpPr>
        <p:spPr>
          <a:xfrm>
            <a:off x="3105150" y="2914650"/>
            <a:ext cx="1314450" cy="438150"/>
          </a:xfrm>
          <a:prstGeom prst="rect">
            <a:avLst/>
          </a:prstGeom>
          <a:noFill/>
          <a:ln w="0">
            <a:noFill/>
            <a:prstDash val="solid"/>
          </a:ln>
        </p:spPr>
        <p:txBody>
          <a:bodyPr anchor="ctr"/>
          <a:lstStyle/>
          <a:p>
            <a:pPr algn="ctr">
              <a:defRPr sz="1275" b="1">
                <a:solidFill>
                  <a:srgbClr val="536777"/>
                </a:solidFill>
              </a:defRPr>
            </a:pPr>
            <a:r>
              <a:rPr sz="1275" b="1">
                <a:solidFill>
                  <a:srgbClr val="536777"/>
                </a:solidFill>
              </a:rPr>
              <a:t>1–3 банка</a:t>
            </a:r>
          </a:p>
          <a:p>
            <a:pPr algn="ctr">
              <a:defRPr sz="1275" b="1">
                <a:solidFill>
                  <a:srgbClr val="536777"/>
                </a:solidFill>
              </a:defRPr>
            </a:pPr>
            <a:r>
              <a:rPr sz="1275" b="1">
                <a:solidFill>
                  <a:srgbClr val="536777"/>
                </a:solidFill>
              </a:rPr>
              <a:t>счета + сообщения</a:t>
            </a:r>
          </a:p>
        </p:txBody>
      </p:sp>
      <p:sp>
        <p:nvSpPr>
          <p:cNvPr id="17" name="Right Arrow 16">
            <a:extLst>
              <a:ext uri="{FF2B5EF4-FFF2-40B4-BE49-F238E27FC236}">
                <a16:creationId xmlns:a16="http://schemas.microsoft.com/office/drawing/2014/main" id="{A4F3A2F8-6D30-4689-8CBD-E79967A4D964}"/>
              </a:ext>
            </a:extLst>
          </p:cNvPr>
          <p:cNvSpPr>
            <a:spLocks noGrp="1"/>
          </p:cNvSpPr>
          <p:nvPr/>
        </p:nvSpPr>
        <p:spPr>
          <a:xfrm>
            <a:off x="4667250" y="3028950"/>
            <a:ext cx="438150" cy="190500"/>
          </a:xfrm>
          <a:prstGeom prst="rightArrow">
            <a:avLst/>
          </a:prstGeom>
          <a:solidFill>
            <a:srgbClr val="CCD5DC"/>
          </a:solidFill>
          <a:ln w="0">
            <a:solidFill>
              <a:srgbClr val="CCD5DC"/>
            </a:solidFill>
            <a:prstDash val="solid"/>
          </a:ln>
        </p:spPr>
      </p:sp>
      <p:sp>
        <p:nvSpPr>
          <p:cNvPr id="18" name="Rounded Rectangle 17">
            <a:extLst>
              <a:ext uri="{FF2B5EF4-FFF2-40B4-BE49-F238E27FC236}">
                <a16:creationId xmlns:a16="http://schemas.microsoft.com/office/drawing/2014/main" id="{3CCB7C52-3476-448B-9760-A658183A0BED}"/>
              </a:ext>
            </a:extLst>
          </p:cNvPr>
          <p:cNvSpPr>
            <a:spLocks noGrp="1"/>
          </p:cNvSpPr>
          <p:nvPr/>
        </p:nvSpPr>
        <p:spPr>
          <a:xfrm>
            <a:off x="5219700" y="2838450"/>
            <a:ext cx="419100" cy="609600"/>
          </a:xfrm>
          <a:prstGeom prst="roundRect">
            <a:avLst>
              <a:gd name="adj" fmla="val 13636"/>
            </a:avLst>
          </a:prstGeom>
          <a:solidFill>
            <a:srgbClr val="DDF2EF"/>
          </a:solidFill>
          <a:ln w="9525">
            <a:solidFill>
              <a:srgbClr val="008A82"/>
            </a:solidFill>
            <a:prstDash val="solid"/>
          </a:ln>
        </p:spPr>
      </p:sp>
      <p:sp>
        <p:nvSpPr>
          <p:cNvPr id="19" name="Rectangle 18">
            <a:extLst>
              <a:ext uri="{FF2B5EF4-FFF2-40B4-BE49-F238E27FC236}">
                <a16:creationId xmlns:a16="http://schemas.microsoft.com/office/drawing/2014/main" id="{5931BD18-8FAA-48EE-BD3E-CF2F07DA6046}"/>
              </a:ext>
            </a:extLst>
          </p:cNvPr>
          <p:cNvSpPr>
            <a:spLocks noGrp="1"/>
          </p:cNvSpPr>
          <p:nvPr/>
        </p:nvSpPr>
        <p:spPr>
          <a:xfrm>
            <a:off x="5295900" y="3000375"/>
            <a:ext cx="266700" cy="266700"/>
          </a:xfrm>
          <a:prstGeom prst="rect">
            <a:avLst/>
          </a:prstGeom>
          <a:noFill/>
          <a:ln w="0">
            <a:noFill/>
            <a:prstDash val="solid"/>
          </a:ln>
        </p:spPr>
        <p:txBody>
          <a:bodyPr anchor="t"/>
          <a:lstStyle/>
          <a:p>
            <a:pPr algn="ctr">
              <a:defRPr sz="1500" b="1">
                <a:solidFill>
                  <a:srgbClr val="008A82"/>
                </a:solidFill>
              </a:defRPr>
            </a:pPr>
            <a:r>
              <a:rPr sz="1500" b="1">
                <a:solidFill>
                  <a:srgbClr val="008A82"/>
                </a:solidFill>
              </a:rPr>
              <a:t>B</a:t>
            </a:r>
          </a:p>
        </p:txBody>
      </p:sp>
      <p:sp>
        <p:nvSpPr>
          <p:cNvPr id="20" name="Rectangle 19">
            <a:extLst>
              <a:ext uri="{FF2B5EF4-FFF2-40B4-BE49-F238E27FC236}">
                <a16:creationId xmlns:a16="http://schemas.microsoft.com/office/drawing/2014/main" id="{99401791-76F6-44BB-9527-89C0B4103E57}"/>
              </a:ext>
            </a:extLst>
          </p:cNvPr>
          <p:cNvSpPr>
            <a:spLocks noGrp="1"/>
          </p:cNvSpPr>
          <p:nvPr/>
        </p:nvSpPr>
        <p:spPr>
          <a:xfrm>
            <a:off x="895350" y="3600450"/>
            <a:ext cx="4762500" cy="190500"/>
          </a:xfrm>
          <a:prstGeom prst="rect">
            <a:avLst/>
          </a:prstGeom>
          <a:noFill/>
          <a:ln w="0">
            <a:noFill/>
            <a:prstDash val="solid"/>
          </a:ln>
        </p:spPr>
        <p:txBody>
          <a:bodyPr anchor="t"/>
          <a:lstStyle/>
          <a:p>
            <a:pPr algn="ctr">
              <a:defRPr sz="1200" b="0">
                <a:solidFill>
                  <a:srgbClr val="536777"/>
                </a:solidFill>
              </a:defRPr>
            </a:pPr>
            <a:r>
              <a:rPr sz="1200" b="0">
                <a:solidFill>
                  <a:srgbClr val="536777"/>
                </a:solidFill>
              </a:rPr>
              <a:t>Предфондирование · комиссии · рабочие часы · риск разрыва FX-расчёта</a:t>
            </a:r>
          </a:p>
        </p:txBody>
      </p:sp>
      <p:sp>
        <p:nvSpPr>
          <p:cNvPr id="21" name="Rounded Rectangle 20">
            <a:extLst>
              <a:ext uri="{FF2B5EF4-FFF2-40B4-BE49-F238E27FC236}">
                <a16:creationId xmlns:a16="http://schemas.microsoft.com/office/drawing/2014/main" id="{0653513D-BCD4-48FA-AB42-7227B4BA5429}"/>
              </a:ext>
            </a:extLst>
          </p:cNvPr>
          <p:cNvSpPr>
            <a:spLocks noGrp="1"/>
          </p:cNvSpPr>
          <p:nvPr/>
        </p:nvSpPr>
        <p:spPr>
          <a:xfrm>
            <a:off x="6419850" y="1695450"/>
            <a:ext cx="1638300" cy="285750"/>
          </a:xfrm>
          <a:prstGeom prst="roundRect">
            <a:avLst>
              <a:gd name="adj" fmla="val 50000"/>
            </a:avLst>
          </a:prstGeom>
          <a:solidFill>
            <a:srgbClr val="DDF2EF"/>
          </a:solidFill>
          <a:ln w="9525">
            <a:solidFill>
              <a:srgbClr val="DDF2EF"/>
            </a:solidFill>
            <a:prstDash val="solid"/>
          </a:ln>
        </p:spPr>
      </p:sp>
      <p:sp>
        <p:nvSpPr>
          <p:cNvPr id="22" name="Rectangle 21">
            <a:extLst>
              <a:ext uri="{FF2B5EF4-FFF2-40B4-BE49-F238E27FC236}">
                <a16:creationId xmlns:a16="http://schemas.microsoft.com/office/drawing/2014/main" id="{86B4BA54-0D20-469B-ABBE-6CAD6D043A76}"/>
              </a:ext>
            </a:extLst>
          </p:cNvPr>
          <p:cNvSpPr>
            <a:spLocks noGrp="1"/>
          </p:cNvSpPr>
          <p:nvPr/>
        </p:nvSpPr>
        <p:spPr>
          <a:xfrm>
            <a:off x="6496050" y="1743075"/>
            <a:ext cx="1485900" cy="190500"/>
          </a:xfrm>
          <a:prstGeom prst="rect">
            <a:avLst/>
          </a:prstGeom>
          <a:noFill/>
          <a:ln w="0">
            <a:noFill/>
            <a:prstDash val="solid"/>
          </a:ln>
        </p:spPr>
        <p:txBody>
          <a:bodyPr anchor="ctr"/>
          <a:lstStyle/>
          <a:p>
            <a:pPr algn="ctr">
              <a:defRPr sz="975" b="1">
                <a:solidFill>
                  <a:srgbClr val="008A82"/>
                </a:solidFill>
              </a:defRPr>
            </a:pPr>
            <a:r>
              <a:rPr sz="975" b="1">
                <a:solidFill>
                  <a:srgbClr val="008A82"/>
                </a:solidFill>
              </a:rPr>
              <a:t>ПОТЕНЦИАЛ CBDC</a:t>
            </a:r>
          </a:p>
        </p:txBody>
      </p:sp>
      <p:sp>
        <p:nvSpPr>
          <p:cNvPr id="23" name="Rectangle 22">
            <a:extLst>
              <a:ext uri="{FF2B5EF4-FFF2-40B4-BE49-F238E27FC236}">
                <a16:creationId xmlns:a16="http://schemas.microsoft.com/office/drawing/2014/main" id="{11160F28-8526-4BF4-9CD4-FCB12CBA238F}"/>
              </a:ext>
            </a:extLst>
          </p:cNvPr>
          <p:cNvSpPr>
            <a:spLocks noGrp="1"/>
          </p:cNvSpPr>
          <p:nvPr/>
        </p:nvSpPr>
        <p:spPr>
          <a:xfrm>
            <a:off x="6419850" y="2057400"/>
            <a:ext cx="4953000" cy="304800"/>
          </a:xfrm>
          <a:prstGeom prst="rect">
            <a:avLst/>
          </a:prstGeom>
          <a:noFill/>
          <a:ln w="0">
            <a:noFill/>
            <a:prstDash val="solid"/>
          </a:ln>
        </p:spPr>
        <p:txBody>
          <a:bodyPr anchor="t"/>
          <a:lstStyle/>
          <a:p>
            <a:pPr algn="l">
              <a:defRPr sz="1800" b="1">
                <a:solidFill>
                  <a:srgbClr val="071D33"/>
                </a:solidFill>
              </a:defRPr>
            </a:pPr>
            <a:r>
              <a:rPr sz="1800" b="1">
                <a:solidFill>
                  <a:srgbClr val="071D33"/>
                </a:solidFill>
              </a:rPr>
              <a:t>Связанные платформы / общий мост</a:t>
            </a:r>
          </a:p>
        </p:txBody>
      </p:sp>
      <p:sp>
        <p:nvSpPr>
          <p:cNvPr id="24" name="Rounded Rectangle 23">
            <a:extLst>
              <a:ext uri="{FF2B5EF4-FFF2-40B4-BE49-F238E27FC236}">
                <a16:creationId xmlns:a16="http://schemas.microsoft.com/office/drawing/2014/main" id="{AFB59F6B-DFB7-47BE-B0DF-D35DFBFDAA7D}"/>
              </a:ext>
            </a:extLst>
          </p:cNvPr>
          <p:cNvSpPr>
            <a:spLocks noGrp="1"/>
          </p:cNvSpPr>
          <p:nvPr/>
        </p:nvSpPr>
        <p:spPr>
          <a:xfrm>
            <a:off x="6343650" y="2476500"/>
            <a:ext cx="5105400" cy="1390650"/>
          </a:xfrm>
          <a:prstGeom prst="roundRect">
            <a:avLst>
              <a:gd name="adj" fmla="val 5479"/>
            </a:avLst>
          </a:prstGeom>
          <a:solidFill>
            <a:srgbClr val="FFFFFF"/>
          </a:solidFill>
          <a:ln w="9525">
            <a:solidFill>
              <a:srgbClr val="E2E8ED"/>
            </a:solidFill>
            <a:prstDash val="solid"/>
          </a:ln>
        </p:spPr>
      </p:sp>
      <p:sp>
        <p:nvSpPr>
          <p:cNvPr id="25" name="Rounded Rectangle 24">
            <a:extLst>
              <a:ext uri="{FF2B5EF4-FFF2-40B4-BE49-F238E27FC236}">
                <a16:creationId xmlns:a16="http://schemas.microsoft.com/office/drawing/2014/main" id="{19C61314-887A-4D34-9FDA-362DB28121E5}"/>
              </a:ext>
            </a:extLst>
          </p:cNvPr>
          <p:cNvSpPr>
            <a:spLocks noGrp="1"/>
          </p:cNvSpPr>
          <p:nvPr/>
        </p:nvSpPr>
        <p:spPr>
          <a:xfrm>
            <a:off x="6572250" y="2838450"/>
            <a:ext cx="1257300" cy="609600"/>
          </a:xfrm>
          <a:prstGeom prst="roundRect">
            <a:avLst>
              <a:gd name="adj" fmla="val 9375"/>
            </a:avLst>
          </a:prstGeom>
          <a:solidFill>
            <a:srgbClr val="DDEBFA"/>
          </a:solidFill>
          <a:ln w="9525">
            <a:solidFill>
              <a:srgbClr val="075BCB"/>
            </a:solidFill>
            <a:prstDash val="solid"/>
          </a:ln>
        </p:spPr>
      </p:sp>
      <p:sp>
        <p:nvSpPr>
          <p:cNvPr id="26" name="Rectangle 25">
            <a:extLst>
              <a:ext uri="{FF2B5EF4-FFF2-40B4-BE49-F238E27FC236}">
                <a16:creationId xmlns:a16="http://schemas.microsoft.com/office/drawing/2014/main" id="{A67398A4-1902-4CED-B63A-427AB1959BE0}"/>
              </a:ext>
            </a:extLst>
          </p:cNvPr>
          <p:cNvSpPr>
            <a:spLocks noGrp="1"/>
          </p:cNvSpPr>
          <p:nvPr/>
        </p:nvSpPr>
        <p:spPr>
          <a:xfrm>
            <a:off x="6724650" y="3000375"/>
            <a:ext cx="952500" cy="266700"/>
          </a:xfrm>
          <a:prstGeom prst="rect">
            <a:avLst/>
          </a:prstGeom>
          <a:noFill/>
          <a:ln w="0">
            <a:noFill/>
            <a:prstDash val="solid"/>
          </a:ln>
        </p:spPr>
        <p:txBody>
          <a:bodyPr anchor="ctr"/>
          <a:lstStyle/>
          <a:p>
            <a:pPr algn="ctr">
              <a:defRPr sz="1425" b="1">
                <a:solidFill>
                  <a:srgbClr val="075BCB"/>
                </a:solidFill>
              </a:defRPr>
            </a:pPr>
            <a:r>
              <a:rPr sz="1425" b="1">
                <a:solidFill>
                  <a:srgbClr val="075BCB"/>
                </a:solidFill>
              </a:rPr>
              <a:t>CBDC A</a:t>
            </a:r>
          </a:p>
        </p:txBody>
      </p:sp>
      <p:sp>
        <p:nvSpPr>
          <p:cNvPr id="27" name="Right Arrow 26">
            <a:extLst>
              <a:ext uri="{FF2B5EF4-FFF2-40B4-BE49-F238E27FC236}">
                <a16:creationId xmlns:a16="http://schemas.microsoft.com/office/drawing/2014/main" id="{5FB543CD-0B15-4C6A-9933-ADC4AA4454F4}"/>
              </a:ext>
            </a:extLst>
          </p:cNvPr>
          <p:cNvSpPr>
            <a:spLocks noGrp="1"/>
          </p:cNvSpPr>
          <p:nvPr/>
        </p:nvSpPr>
        <p:spPr>
          <a:xfrm>
            <a:off x="7943850" y="3028950"/>
            <a:ext cx="419100" cy="190500"/>
          </a:xfrm>
          <a:prstGeom prst="rightArrow">
            <a:avLst/>
          </a:prstGeom>
          <a:solidFill>
            <a:srgbClr val="DDF2EF"/>
          </a:solidFill>
          <a:ln w="0">
            <a:solidFill>
              <a:srgbClr val="DDF2EF"/>
            </a:solidFill>
            <a:prstDash val="solid"/>
          </a:ln>
        </p:spPr>
      </p:sp>
      <p:sp>
        <p:nvSpPr>
          <p:cNvPr id="28" name="Rounded Rectangle 27">
            <a:extLst>
              <a:ext uri="{FF2B5EF4-FFF2-40B4-BE49-F238E27FC236}">
                <a16:creationId xmlns:a16="http://schemas.microsoft.com/office/drawing/2014/main" id="{B3648812-4584-4B17-AFD5-6105495DA57A}"/>
              </a:ext>
            </a:extLst>
          </p:cNvPr>
          <p:cNvSpPr>
            <a:spLocks noGrp="1"/>
          </p:cNvSpPr>
          <p:nvPr/>
        </p:nvSpPr>
        <p:spPr>
          <a:xfrm>
            <a:off x="8477250" y="2743200"/>
            <a:ext cx="1276350" cy="800100"/>
          </a:xfrm>
          <a:prstGeom prst="roundRect">
            <a:avLst>
              <a:gd name="adj" fmla="val 7143"/>
            </a:avLst>
          </a:prstGeom>
          <a:solidFill>
            <a:srgbClr val="071D33"/>
          </a:solidFill>
          <a:ln w="9525">
            <a:solidFill>
              <a:srgbClr val="071D33"/>
            </a:solidFill>
            <a:prstDash val="solid"/>
          </a:ln>
        </p:spPr>
      </p:sp>
      <p:sp>
        <p:nvSpPr>
          <p:cNvPr id="29" name="Rectangle 28">
            <a:extLst>
              <a:ext uri="{FF2B5EF4-FFF2-40B4-BE49-F238E27FC236}">
                <a16:creationId xmlns:a16="http://schemas.microsoft.com/office/drawing/2014/main" id="{D997D138-E616-4784-A246-D408A2997740}"/>
              </a:ext>
            </a:extLst>
          </p:cNvPr>
          <p:cNvSpPr>
            <a:spLocks noGrp="1"/>
          </p:cNvSpPr>
          <p:nvPr/>
        </p:nvSpPr>
        <p:spPr>
          <a:xfrm>
            <a:off x="8591550" y="2895600"/>
            <a:ext cx="1047750" cy="45720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PvP</a:t>
            </a:r>
          </a:p>
          <a:p>
            <a:pPr algn="ctr">
              <a:defRPr sz="1275" b="1">
                <a:solidFill>
                  <a:srgbClr val="FFFFFF"/>
                </a:solidFill>
              </a:defRPr>
            </a:pPr>
            <a:r>
              <a:rPr sz="1275" b="1">
                <a:solidFill>
                  <a:srgbClr val="FFFFFF"/>
                </a:solidFill>
              </a:rPr>
              <a:t>атомарный обмен</a:t>
            </a:r>
          </a:p>
        </p:txBody>
      </p:sp>
      <p:sp>
        <p:nvSpPr>
          <p:cNvPr id="30" name="Right Arrow 29">
            <a:extLst>
              <a:ext uri="{FF2B5EF4-FFF2-40B4-BE49-F238E27FC236}">
                <a16:creationId xmlns:a16="http://schemas.microsoft.com/office/drawing/2014/main" id="{1B6BD5DB-9DBE-48E5-987B-A2500F6B148E}"/>
              </a:ext>
            </a:extLst>
          </p:cNvPr>
          <p:cNvSpPr>
            <a:spLocks noGrp="1"/>
          </p:cNvSpPr>
          <p:nvPr/>
        </p:nvSpPr>
        <p:spPr>
          <a:xfrm>
            <a:off x="9867900" y="3028950"/>
            <a:ext cx="419100" cy="190500"/>
          </a:xfrm>
          <a:prstGeom prst="rightArrow">
            <a:avLst/>
          </a:prstGeom>
          <a:solidFill>
            <a:srgbClr val="DDF2EF"/>
          </a:solidFill>
          <a:ln w="0">
            <a:solidFill>
              <a:srgbClr val="DDF2EF"/>
            </a:solidFill>
            <a:prstDash val="solid"/>
          </a:ln>
        </p:spPr>
      </p:sp>
      <p:sp>
        <p:nvSpPr>
          <p:cNvPr id="31" name="Rounded Rectangle 30">
            <a:extLst>
              <a:ext uri="{FF2B5EF4-FFF2-40B4-BE49-F238E27FC236}">
                <a16:creationId xmlns:a16="http://schemas.microsoft.com/office/drawing/2014/main" id="{C8076D61-5147-495D-9B33-D9C7B1EF05D0}"/>
              </a:ext>
            </a:extLst>
          </p:cNvPr>
          <p:cNvSpPr>
            <a:spLocks noGrp="1"/>
          </p:cNvSpPr>
          <p:nvPr/>
        </p:nvSpPr>
        <p:spPr>
          <a:xfrm>
            <a:off x="10401300" y="2838450"/>
            <a:ext cx="819150" cy="609600"/>
          </a:xfrm>
          <a:prstGeom prst="roundRect">
            <a:avLst>
              <a:gd name="adj" fmla="val 9375"/>
            </a:avLst>
          </a:prstGeom>
          <a:solidFill>
            <a:srgbClr val="DDF2EF"/>
          </a:solidFill>
          <a:ln w="9525">
            <a:solidFill>
              <a:srgbClr val="008A82"/>
            </a:solidFill>
            <a:prstDash val="solid"/>
          </a:ln>
        </p:spPr>
      </p:sp>
      <p:sp>
        <p:nvSpPr>
          <p:cNvPr id="32" name="Rectangle 31">
            <a:extLst>
              <a:ext uri="{FF2B5EF4-FFF2-40B4-BE49-F238E27FC236}">
                <a16:creationId xmlns:a16="http://schemas.microsoft.com/office/drawing/2014/main" id="{AB6EDDC4-A8B9-4181-8BEA-D1D906E469DE}"/>
              </a:ext>
            </a:extLst>
          </p:cNvPr>
          <p:cNvSpPr>
            <a:spLocks noGrp="1"/>
          </p:cNvSpPr>
          <p:nvPr/>
        </p:nvSpPr>
        <p:spPr>
          <a:xfrm>
            <a:off x="10458450" y="3000375"/>
            <a:ext cx="704850" cy="266700"/>
          </a:xfrm>
          <a:prstGeom prst="rect">
            <a:avLst/>
          </a:prstGeom>
          <a:noFill/>
          <a:ln w="0">
            <a:noFill/>
            <a:prstDash val="solid"/>
          </a:ln>
        </p:spPr>
        <p:txBody>
          <a:bodyPr anchor="ctr"/>
          <a:lstStyle/>
          <a:p>
            <a:pPr algn="ctr">
              <a:defRPr sz="1275" b="1">
                <a:solidFill>
                  <a:srgbClr val="008A82"/>
                </a:solidFill>
              </a:defRPr>
            </a:pPr>
            <a:r>
              <a:rPr sz="1275" b="1">
                <a:solidFill>
                  <a:srgbClr val="008A82"/>
                </a:solidFill>
              </a:rPr>
              <a:t>CBDC B</a:t>
            </a:r>
          </a:p>
        </p:txBody>
      </p:sp>
      <p:sp>
        <p:nvSpPr>
          <p:cNvPr id="33" name="Rectangle 32">
            <a:extLst>
              <a:ext uri="{FF2B5EF4-FFF2-40B4-BE49-F238E27FC236}">
                <a16:creationId xmlns:a16="http://schemas.microsoft.com/office/drawing/2014/main" id="{AAC6F6AC-9201-4583-B72E-EB10BE8D0CA1}"/>
              </a:ext>
            </a:extLst>
          </p:cNvPr>
          <p:cNvSpPr>
            <a:spLocks noGrp="1"/>
          </p:cNvSpPr>
          <p:nvPr/>
        </p:nvSpPr>
        <p:spPr>
          <a:xfrm>
            <a:off x="6534150" y="3600450"/>
            <a:ext cx="4724400" cy="190500"/>
          </a:xfrm>
          <a:prstGeom prst="rect">
            <a:avLst/>
          </a:prstGeom>
          <a:noFill/>
          <a:ln w="0">
            <a:noFill/>
            <a:prstDash val="solid"/>
          </a:ln>
        </p:spPr>
        <p:txBody>
          <a:bodyPr anchor="t"/>
          <a:lstStyle/>
          <a:p>
            <a:pPr algn="ctr">
              <a:defRPr sz="1200" b="1">
                <a:solidFill>
                  <a:srgbClr val="008A82"/>
                </a:solidFill>
              </a:defRPr>
            </a:pPr>
            <a:r>
              <a:rPr sz="1200" b="1">
                <a:solidFill>
                  <a:srgbClr val="008A82"/>
                </a:solidFill>
              </a:rPr>
              <a:t>24/7 · меньше посредников · платёж только одновременно с встречным платежом</a:t>
            </a:r>
          </a:p>
        </p:txBody>
      </p:sp>
      <p:sp>
        <p:nvSpPr>
          <p:cNvPr id="34" name="Rectangle 33">
            <a:extLst>
              <a:ext uri="{FF2B5EF4-FFF2-40B4-BE49-F238E27FC236}">
                <a16:creationId xmlns:a16="http://schemas.microsoft.com/office/drawing/2014/main" id="{8E0F074D-5FBC-4369-A932-07CCF0E9BC7A}"/>
              </a:ext>
            </a:extLst>
          </p:cNvPr>
          <p:cNvSpPr>
            <a:spLocks noGrp="1"/>
          </p:cNvSpPr>
          <p:nvPr/>
        </p:nvSpPr>
        <p:spPr>
          <a:xfrm>
            <a:off x="781050" y="4171950"/>
            <a:ext cx="4953000" cy="209550"/>
          </a:xfrm>
          <a:prstGeom prst="rect">
            <a:avLst/>
          </a:prstGeom>
          <a:noFill/>
          <a:ln w="0">
            <a:noFill/>
            <a:prstDash val="solid"/>
          </a:ln>
        </p:spPr>
        <p:txBody>
          <a:bodyPr anchor="t"/>
          <a:lstStyle/>
          <a:p>
            <a:pPr algn="l">
              <a:defRPr sz="975" b="1">
                <a:solidFill>
                  <a:srgbClr val="075BCB"/>
                </a:solidFill>
              </a:defRPr>
            </a:pPr>
            <a:r>
              <a:rPr sz="975" b="1">
                <a:solidFill>
                  <a:srgbClr val="075BCB"/>
                </a:solidFill>
              </a:rPr>
              <a:t>ВОЗМОЖНЫЙ ЭФФЕКТ</a:t>
            </a:r>
          </a:p>
        </p:txBody>
      </p:sp>
      <p:sp>
        <p:nvSpPr>
          <p:cNvPr id="35" name="Rounded Rectangle 34">
            <a:extLst>
              <a:ext uri="{FF2B5EF4-FFF2-40B4-BE49-F238E27FC236}">
                <a16:creationId xmlns:a16="http://schemas.microsoft.com/office/drawing/2014/main" id="{3D7AEE3C-2F59-48DD-A175-4DE7161C3049}"/>
              </a:ext>
            </a:extLst>
          </p:cNvPr>
          <p:cNvSpPr>
            <a:spLocks noGrp="1"/>
          </p:cNvSpPr>
          <p:nvPr/>
        </p:nvSpPr>
        <p:spPr>
          <a:xfrm>
            <a:off x="704850" y="4495800"/>
            <a:ext cx="1600200" cy="876300"/>
          </a:xfrm>
          <a:prstGeom prst="roundRect">
            <a:avLst>
              <a:gd name="adj" fmla="val 6522"/>
            </a:avLst>
          </a:prstGeom>
          <a:solidFill>
            <a:srgbClr val="FFFFFF"/>
          </a:solidFill>
          <a:ln w="9525">
            <a:solidFill>
              <a:srgbClr val="E2E8ED"/>
            </a:solidFill>
            <a:prstDash val="solid"/>
          </a:ln>
        </p:spPr>
      </p:sp>
      <p:sp>
        <p:nvSpPr>
          <p:cNvPr id="36" name="Rectangle 35">
            <a:extLst>
              <a:ext uri="{FF2B5EF4-FFF2-40B4-BE49-F238E27FC236}">
                <a16:creationId xmlns:a16="http://schemas.microsoft.com/office/drawing/2014/main" id="{4F49335C-22BF-42AF-989D-F38B3100EE04}"/>
              </a:ext>
            </a:extLst>
          </p:cNvPr>
          <p:cNvSpPr>
            <a:spLocks noGrp="1"/>
          </p:cNvSpPr>
          <p:nvPr/>
        </p:nvSpPr>
        <p:spPr>
          <a:xfrm>
            <a:off x="838200" y="4610100"/>
            <a:ext cx="1333500" cy="285750"/>
          </a:xfrm>
          <a:prstGeom prst="rect">
            <a:avLst/>
          </a:prstGeom>
          <a:noFill/>
          <a:ln w="0">
            <a:noFill/>
            <a:prstDash val="solid"/>
          </a:ln>
        </p:spPr>
        <p:txBody>
          <a:bodyPr anchor="t"/>
          <a:lstStyle/>
          <a:p>
            <a:pPr algn="ctr">
              <a:defRPr sz="1800" b="1">
                <a:solidFill>
                  <a:srgbClr val="075BCB"/>
                </a:solidFill>
              </a:defRPr>
            </a:pPr>
            <a:r>
              <a:rPr sz="1800" b="1">
                <a:solidFill>
                  <a:srgbClr val="075BCB"/>
                </a:solidFill>
              </a:rPr>
              <a:t>–</a:t>
            </a:r>
          </a:p>
        </p:txBody>
      </p:sp>
      <p:sp>
        <p:nvSpPr>
          <p:cNvPr id="37" name="Rectangle 36">
            <a:extLst>
              <a:ext uri="{FF2B5EF4-FFF2-40B4-BE49-F238E27FC236}">
                <a16:creationId xmlns:a16="http://schemas.microsoft.com/office/drawing/2014/main" id="{4C970436-4DFE-4E2C-BBA7-2C6A7A9E009D}"/>
              </a:ext>
            </a:extLst>
          </p:cNvPr>
          <p:cNvSpPr>
            <a:spLocks noGrp="1"/>
          </p:cNvSpPr>
          <p:nvPr/>
        </p:nvSpPr>
        <p:spPr>
          <a:xfrm>
            <a:off x="838200" y="4933950"/>
            <a:ext cx="1333500" cy="342900"/>
          </a:xfrm>
          <a:prstGeom prst="rect">
            <a:avLst/>
          </a:prstGeom>
          <a:noFill/>
          <a:ln w="0">
            <a:noFill/>
            <a:prstDash val="solid"/>
          </a:ln>
        </p:spPr>
        <p:txBody>
          <a:bodyPr anchor="ctr"/>
          <a:lstStyle/>
          <a:p>
            <a:pPr algn="ctr">
              <a:defRPr sz="1200" b="1">
                <a:solidFill>
                  <a:srgbClr val="263746"/>
                </a:solidFill>
              </a:defRPr>
            </a:pPr>
            <a:r>
              <a:rPr sz="1200" b="1">
                <a:solidFill>
                  <a:srgbClr val="263746"/>
                </a:solidFill>
              </a:rPr>
              <a:t>короче цепочка</a:t>
            </a:r>
          </a:p>
        </p:txBody>
      </p:sp>
      <p:sp>
        <p:nvSpPr>
          <p:cNvPr id="38" name="Rounded Rectangle 37">
            <a:extLst>
              <a:ext uri="{FF2B5EF4-FFF2-40B4-BE49-F238E27FC236}">
                <a16:creationId xmlns:a16="http://schemas.microsoft.com/office/drawing/2014/main" id="{826F4505-90CC-44E3-946C-CB8C1540E296}"/>
              </a:ext>
            </a:extLst>
          </p:cNvPr>
          <p:cNvSpPr>
            <a:spLocks noGrp="1"/>
          </p:cNvSpPr>
          <p:nvPr/>
        </p:nvSpPr>
        <p:spPr>
          <a:xfrm>
            <a:off x="2419350" y="4495800"/>
            <a:ext cx="1600200" cy="876300"/>
          </a:xfrm>
          <a:prstGeom prst="roundRect">
            <a:avLst>
              <a:gd name="adj" fmla="val 6522"/>
            </a:avLst>
          </a:prstGeom>
          <a:solidFill>
            <a:srgbClr val="FFFFFF"/>
          </a:solidFill>
          <a:ln w="9525">
            <a:solidFill>
              <a:srgbClr val="E2E8ED"/>
            </a:solidFill>
            <a:prstDash val="solid"/>
          </a:ln>
        </p:spPr>
      </p:sp>
      <p:sp>
        <p:nvSpPr>
          <p:cNvPr id="39" name="Rectangle 38">
            <a:extLst>
              <a:ext uri="{FF2B5EF4-FFF2-40B4-BE49-F238E27FC236}">
                <a16:creationId xmlns:a16="http://schemas.microsoft.com/office/drawing/2014/main" id="{3856E9E6-B0C9-434C-9547-96C951C6D2EE}"/>
              </a:ext>
            </a:extLst>
          </p:cNvPr>
          <p:cNvSpPr>
            <a:spLocks noGrp="1"/>
          </p:cNvSpPr>
          <p:nvPr/>
        </p:nvSpPr>
        <p:spPr>
          <a:xfrm>
            <a:off x="2552700" y="4610100"/>
            <a:ext cx="1333500" cy="285750"/>
          </a:xfrm>
          <a:prstGeom prst="rect">
            <a:avLst/>
          </a:prstGeom>
          <a:noFill/>
          <a:ln w="0">
            <a:noFill/>
            <a:prstDash val="solid"/>
          </a:ln>
        </p:spPr>
        <p:txBody>
          <a:bodyPr anchor="t"/>
          <a:lstStyle/>
          <a:p>
            <a:pPr algn="ctr">
              <a:defRPr sz="1800" b="1">
                <a:solidFill>
                  <a:srgbClr val="075BCB"/>
                </a:solidFill>
              </a:defRPr>
            </a:pPr>
            <a:r>
              <a:rPr sz="1800" b="1">
                <a:solidFill>
                  <a:srgbClr val="075BCB"/>
                </a:solidFill>
              </a:rPr>
              <a:t>↓</a:t>
            </a:r>
          </a:p>
        </p:txBody>
      </p:sp>
      <p:sp>
        <p:nvSpPr>
          <p:cNvPr id="40" name="Rectangle 39">
            <a:extLst>
              <a:ext uri="{FF2B5EF4-FFF2-40B4-BE49-F238E27FC236}">
                <a16:creationId xmlns:a16="http://schemas.microsoft.com/office/drawing/2014/main" id="{0C594C7F-D930-4925-83AB-0412BA78FB56}"/>
              </a:ext>
            </a:extLst>
          </p:cNvPr>
          <p:cNvSpPr>
            <a:spLocks noGrp="1"/>
          </p:cNvSpPr>
          <p:nvPr/>
        </p:nvSpPr>
        <p:spPr>
          <a:xfrm>
            <a:off x="2552700" y="4933950"/>
            <a:ext cx="1333500" cy="342900"/>
          </a:xfrm>
          <a:prstGeom prst="rect">
            <a:avLst/>
          </a:prstGeom>
          <a:noFill/>
          <a:ln w="0">
            <a:noFill/>
            <a:prstDash val="solid"/>
          </a:ln>
        </p:spPr>
        <p:txBody>
          <a:bodyPr anchor="ctr"/>
          <a:lstStyle/>
          <a:p>
            <a:pPr algn="ctr">
              <a:defRPr sz="1200" b="1">
                <a:solidFill>
                  <a:srgbClr val="263746"/>
                </a:solidFill>
              </a:defRPr>
            </a:pPr>
            <a:r>
              <a:rPr sz="1200" b="1">
                <a:solidFill>
                  <a:srgbClr val="263746"/>
                </a:solidFill>
              </a:rPr>
              <a:t>меньше средств заранее</a:t>
            </a:r>
          </a:p>
        </p:txBody>
      </p:sp>
      <p:sp>
        <p:nvSpPr>
          <p:cNvPr id="41" name="Rounded Rectangle 40">
            <a:extLst>
              <a:ext uri="{FF2B5EF4-FFF2-40B4-BE49-F238E27FC236}">
                <a16:creationId xmlns:a16="http://schemas.microsoft.com/office/drawing/2014/main" id="{21DA8D9D-1A01-48FE-9175-63253ED24C5F}"/>
              </a:ext>
            </a:extLst>
          </p:cNvPr>
          <p:cNvSpPr>
            <a:spLocks noGrp="1"/>
          </p:cNvSpPr>
          <p:nvPr/>
        </p:nvSpPr>
        <p:spPr>
          <a:xfrm>
            <a:off x="4133850" y="4495800"/>
            <a:ext cx="1600200" cy="876300"/>
          </a:xfrm>
          <a:prstGeom prst="roundRect">
            <a:avLst>
              <a:gd name="adj" fmla="val 6522"/>
            </a:avLst>
          </a:prstGeom>
          <a:solidFill>
            <a:srgbClr val="DDEBFA"/>
          </a:solidFill>
          <a:ln w="9525">
            <a:solidFill>
              <a:srgbClr val="075BCB"/>
            </a:solidFill>
            <a:prstDash val="solid"/>
          </a:ln>
        </p:spPr>
      </p:sp>
      <p:sp>
        <p:nvSpPr>
          <p:cNvPr id="42" name="Rectangle 41">
            <a:extLst>
              <a:ext uri="{FF2B5EF4-FFF2-40B4-BE49-F238E27FC236}">
                <a16:creationId xmlns:a16="http://schemas.microsoft.com/office/drawing/2014/main" id="{AA31EE96-30F0-4195-98E1-EEA04F65DAEC}"/>
              </a:ext>
            </a:extLst>
          </p:cNvPr>
          <p:cNvSpPr>
            <a:spLocks noGrp="1"/>
          </p:cNvSpPr>
          <p:nvPr/>
        </p:nvSpPr>
        <p:spPr>
          <a:xfrm>
            <a:off x="4267200" y="4610100"/>
            <a:ext cx="1333500" cy="285750"/>
          </a:xfrm>
          <a:prstGeom prst="rect">
            <a:avLst/>
          </a:prstGeom>
          <a:noFill/>
          <a:ln w="0">
            <a:noFill/>
            <a:prstDash val="solid"/>
          </a:ln>
        </p:spPr>
        <p:txBody>
          <a:bodyPr anchor="t"/>
          <a:lstStyle/>
          <a:p>
            <a:pPr algn="ctr">
              <a:defRPr sz="1800" b="1">
                <a:solidFill>
                  <a:srgbClr val="075BCB"/>
                </a:solidFill>
              </a:defRPr>
            </a:pPr>
            <a:r>
              <a:rPr sz="1800" b="1">
                <a:solidFill>
                  <a:srgbClr val="075BCB"/>
                </a:solidFill>
              </a:rPr>
              <a:t>PvP</a:t>
            </a:r>
          </a:p>
        </p:txBody>
      </p:sp>
      <p:sp>
        <p:nvSpPr>
          <p:cNvPr id="43" name="Rectangle 42">
            <a:extLst>
              <a:ext uri="{FF2B5EF4-FFF2-40B4-BE49-F238E27FC236}">
                <a16:creationId xmlns:a16="http://schemas.microsoft.com/office/drawing/2014/main" id="{B85814A4-650A-4C8B-B80C-08BEDB4D11D5}"/>
              </a:ext>
            </a:extLst>
          </p:cNvPr>
          <p:cNvSpPr>
            <a:spLocks noGrp="1"/>
          </p:cNvSpPr>
          <p:nvPr/>
        </p:nvSpPr>
        <p:spPr>
          <a:xfrm>
            <a:off x="4267200" y="4933950"/>
            <a:ext cx="1333500" cy="342900"/>
          </a:xfrm>
          <a:prstGeom prst="rect">
            <a:avLst/>
          </a:prstGeom>
          <a:noFill/>
          <a:ln w="0">
            <a:noFill/>
            <a:prstDash val="solid"/>
          </a:ln>
        </p:spPr>
        <p:txBody>
          <a:bodyPr anchor="ctr"/>
          <a:lstStyle/>
          <a:p>
            <a:pPr algn="ctr">
              <a:defRPr sz="1200" b="1">
                <a:solidFill>
                  <a:srgbClr val="263746"/>
                </a:solidFill>
              </a:defRPr>
            </a:pPr>
            <a:r>
              <a:rPr sz="1200" b="1">
                <a:solidFill>
                  <a:srgbClr val="263746"/>
                </a:solidFill>
              </a:rPr>
              <a:t>ниже риск поставки валюты</a:t>
            </a:r>
          </a:p>
        </p:txBody>
      </p:sp>
      <p:sp>
        <p:nvSpPr>
          <p:cNvPr id="44" name="Rectangle 43">
            <a:extLst>
              <a:ext uri="{FF2B5EF4-FFF2-40B4-BE49-F238E27FC236}">
                <a16:creationId xmlns:a16="http://schemas.microsoft.com/office/drawing/2014/main" id="{3A83E56B-726D-4ED4-BF69-1FAADCDABEF5}"/>
              </a:ext>
            </a:extLst>
          </p:cNvPr>
          <p:cNvSpPr>
            <a:spLocks noGrp="1"/>
          </p:cNvSpPr>
          <p:nvPr/>
        </p:nvSpPr>
        <p:spPr>
          <a:xfrm>
            <a:off x="6419850" y="4171950"/>
            <a:ext cx="4953000" cy="209550"/>
          </a:xfrm>
          <a:prstGeom prst="rect">
            <a:avLst/>
          </a:prstGeom>
          <a:noFill/>
          <a:ln w="0">
            <a:noFill/>
            <a:prstDash val="solid"/>
          </a:ln>
        </p:spPr>
        <p:txBody>
          <a:bodyPr anchor="t"/>
          <a:lstStyle/>
          <a:p>
            <a:pPr algn="l">
              <a:defRPr sz="975" b="1">
                <a:solidFill>
                  <a:srgbClr val="C64A52"/>
                </a:solidFill>
              </a:defRPr>
            </a:pPr>
            <a:r>
              <a:rPr sz="975" b="1">
                <a:solidFill>
                  <a:srgbClr val="C64A52"/>
                </a:solidFill>
              </a:rPr>
              <a:t>ЧТО ТЕХНОЛОГИЯ НЕ РЕШАЕТ САМА</a:t>
            </a:r>
          </a:p>
        </p:txBody>
      </p:sp>
      <p:sp>
        <p:nvSpPr>
          <p:cNvPr id="45" name="Rounded Rectangle 44">
            <a:extLst>
              <a:ext uri="{FF2B5EF4-FFF2-40B4-BE49-F238E27FC236}">
                <a16:creationId xmlns:a16="http://schemas.microsoft.com/office/drawing/2014/main" id="{F0E6FFB9-3897-4551-9E46-D7070436F6D4}"/>
              </a:ext>
            </a:extLst>
          </p:cNvPr>
          <p:cNvSpPr>
            <a:spLocks noGrp="1"/>
          </p:cNvSpPr>
          <p:nvPr/>
        </p:nvSpPr>
        <p:spPr>
          <a:xfrm>
            <a:off x="6343650" y="4495800"/>
            <a:ext cx="5105400" cy="876300"/>
          </a:xfrm>
          <a:prstGeom prst="roundRect">
            <a:avLst>
              <a:gd name="adj" fmla="val 6522"/>
            </a:avLst>
          </a:prstGeom>
          <a:solidFill>
            <a:srgbClr val="FBE4E6"/>
          </a:solidFill>
          <a:ln w="9525">
            <a:solidFill>
              <a:srgbClr val="FBE4E6"/>
            </a:solidFill>
            <a:prstDash val="solid"/>
          </a:ln>
        </p:spPr>
      </p:sp>
      <p:sp>
        <p:nvSpPr>
          <p:cNvPr id="46" name="Rectangle 45">
            <a:extLst>
              <a:ext uri="{FF2B5EF4-FFF2-40B4-BE49-F238E27FC236}">
                <a16:creationId xmlns:a16="http://schemas.microsoft.com/office/drawing/2014/main" id="{CA9AF411-6099-4F12-9609-3E0B5BEDC2BE}"/>
              </a:ext>
            </a:extLst>
          </p:cNvPr>
          <p:cNvSpPr>
            <a:spLocks noGrp="1"/>
          </p:cNvSpPr>
          <p:nvPr/>
        </p:nvSpPr>
        <p:spPr>
          <a:xfrm>
            <a:off x="6572250" y="4676775"/>
            <a:ext cx="4648200" cy="514350"/>
          </a:xfrm>
          <a:prstGeom prst="rect">
            <a:avLst/>
          </a:prstGeom>
          <a:noFill/>
          <a:ln w="0">
            <a:noFill/>
            <a:prstDash val="solid"/>
          </a:ln>
        </p:spPr>
        <p:txBody>
          <a:bodyPr anchor="ctr"/>
          <a:lstStyle/>
          <a:p>
            <a:pPr algn="ctr">
              <a:defRPr sz="1275" b="1">
                <a:solidFill>
                  <a:srgbClr val="C64A52"/>
                </a:solidFill>
              </a:defRPr>
            </a:pPr>
            <a:r>
              <a:rPr sz="1275" b="1">
                <a:solidFill>
                  <a:srgbClr val="C64A52"/>
                </a:solidFill>
              </a:rPr>
              <a:t>Валютная ликвидность и курс  ·  право и финальность расчёта</a:t>
            </a:r>
          </a:p>
          <a:p>
            <a:pPr algn="ctr">
              <a:defRPr sz="1275" b="1">
                <a:solidFill>
                  <a:srgbClr val="C64A52"/>
                </a:solidFill>
              </a:defRPr>
            </a:pPr>
            <a:r>
              <a:rPr sz="1275" b="1">
                <a:solidFill>
                  <a:srgbClr val="C64A52"/>
                </a:solidFill>
              </a:rPr>
              <a:t>AML/KYC и обмен данными  ·  санкции, доверие и доступ участников</a:t>
            </a:r>
          </a:p>
        </p:txBody>
      </p:sp>
      <p:sp>
        <p:nvSpPr>
          <p:cNvPr id="47" name="Rounded Rectangle 46">
            <a:extLst>
              <a:ext uri="{FF2B5EF4-FFF2-40B4-BE49-F238E27FC236}">
                <a16:creationId xmlns:a16="http://schemas.microsoft.com/office/drawing/2014/main" id="{397E99C3-219C-4C96-B615-BAAB71A55D76}"/>
              </a:ext>
            </a:extLst>
          </p:cNvPr>
          <p:cNvSpPr>
            <a:spLocks noGrp="1"/>
          </p:cNvSpPr>
          <p:nvPr/>
        </p:nvSpPr>
        <p:spPr>
          <a:xfrm>
            <a:off x="609600" y="5791200"/>
            <a:ext cx="10972800" cy="590550"/>
          </a:xfrm>
          <a:prstGeom prst="roundRect">
            <a:avLst>
              <a:gd name="adj" fmla="val 9677"/>
            </a:avLst>
          </a:prstGeom>
          <a:solidFill>
            <a:srgbClr val="EEF2F5"/>
          </a:solidFill>
          <a:ln w="9525">
            <a:solidFill>
              <a:srgbClr val="EEF2F5"/>
            </a:solidFill>
            <a:prstDash val="solid"/>
          </a:ln>
        </p:spPr>
      </p:sp>
      <p:sp>
        <p:nvSpPr>
          <p:cNvPr id="48" name="Rounded Rectangle 47">
            <a:extLst>
              <a:ext uri="{FF2B5EF4-FFF2-40B4-BE49-F238E27FC236}">
                <a16:creationId xmlns:a16="http://schemas.microsoft.com/office/drawing/2014/main" id="{5B162FA8-3C79-4CC4-AFC6-07E269876939}"/>
              </a:ext>
            </a:extLst>
          </p:cNvPr>
          <p:cNvSpPr>
            <a:spLocks noGrp="1"/>
          </p:cNvSpPr>
          <p:nvPr/>
        </p:nvSpPr>
        <p:spPr>
          <a:xfrm>
            <a:off x="609600" y="5791200"/>
            <a:ext cx="66675" cy="590550"/>
          </a:xfrm>
          <a:prstGeom prst="roundRect">
            <a:avLst>
              <a:gd name="adj" fmla="val 50000"/>
            </a:avLst>
          </a:prstGeom>
          <a:solidFill>
            <a:srgbClr val="071D33"/>
          </a:solidFill>
          <a:ln w="9525">
            <a:solidFill>
              <a:srgbClr val="071D33"/>
            </a:solidFill>
            <a:prstDash val="solid"/>
          </a:ln>
        </p:spPr>
      </p:sp>
      <p:sp>
        <p:nvSpPr>
          <p:cNvPr id="49" name="Rectangle 48">
            <a:extLst>
              <a:ext uri="{FF2B5EF4-FFF2-40B4-BE49-F238E27FC236}">
                <a16:creationId xmlns:a16="http://schemas.microsoft.com/office/drawing/2014/main" id="{E70ACFAA-A1FF-4CBF-8DFD-F4D30D16443C}"/>
              </a:ext>
            </a:extLst>
          </p:cNvPr>
          <p:cNvSpPr>
            <a:spLocks noGrp="1"/>
          </p:cNvSpPr>
          <p:nvPr/>
        </p:nvSpPr>
        <p:spPr>
          <a:xfrm>
            <a:off x="838200" y="5924550"/>
            <a:ext cx="10477500" cy="323850"/>
          </a:xfrm>
          <a:prstGeom prst="rect">
            <a:avLst/>
          </a:prstGeom>
          <a:noFill/>
          <a:ln w="0">
            <a:noFill/>
            <a:prstDash val="solid"/>
          </a:ln>
        </p:spPr>
        <p:txBody>
          <a:bodyPr anchor="ctr"/>
          <a:lstStyle/>
          <a:p>
            <a:pPr algn="l">
              <a:defRPr sz="1500" b="1">
                <a:solidFill>
                  <a:srgbClr val="071D33"/>
                </a:solidFill>
              </a:defRPr>
            </a:pPr>
            <a:r>
              <a:rPr sz="1500" b="1">
                <a:solidFill>
                  <a:srgbClr val="071D33"/>
                </a:solidFill>
              </a:rPr>
              <a:t>Для цифрового рубля трансграничный эффект возникнет только после соглашений и технической связки с валютами партнёров; внутренний запуск этого не даёт.</a:t>
            </a:r>
          </a:p>
        </p:txBody>
      </p:sp>
    </p:spTree>
    <p:extLst>
      <p:ext uri="{BB962C8B-B14F-4D97-AF65-F5344CB8AC3E}">
        <p14:creationId xmlns:p14="http://schemas.microsoft.com/office/powerpoint/2010/main" val="59287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cxnSp>
        <p:nvCxnSpPr>
          <p:cNvPr id="23" name="Straight Arrow Connector 22"/>
          <p:cNvCxnSpPr>
            <a:stCxn id="14" idx="3"/>
            <a:endCxn id="15" idx="1"/>
          </p:cNvCxnSpPr>
          <p:nvPr/>
        </p:nvCxnSpPr>
        <p:spPr>
          <a:xfrm>
            <a:off x="7524750" y="3514725"/>
            <a:ext cx="1352550" cy="0"/>
          </a:xfrm>
          <a:prstGeom prst="straightConnector1">
            <a:avLst/>
          </a:prstGeom>
          <a:ln w="19050">
            <a:solidFill>
              <a:srgbClr val="075BCB"/>
            </a:solidFill>
            <a:prstDash val="solid"/>
            <a:tailEnd type="triangle" w="sm" len="sm"/>
          </a:ln>
        </p:spPr>
      </p:cxnSp>
      <p:cxnSp>
        <p:nvCxnSpPr>
          <p:cNvPr id="24" name="Elbow Connector 23"/>
          <p:cNvCxnSpPr>
            <a:stCxn id="13" idx="3"/>
            <a:endCxn id="14" idx="1"/>
          </p:cNvCxnSpPr>
          <p:nvPr/>
        </p:nvCxnSpPr>
        <p:spPr>
          <a:xfrm flipV="1">
            <a:off x="3276600" y="3514725"/>
            <a:ext cx="1428750" cy="657225"/>
          </a:xfrm>
          <a:prstGeom prst="bentConnector3">
            <a:avLst>
              <a:gd name="adj1" fmla="val 50000"/>
            </a:avLst>
          </a:prstGeom>
          <a:ln w="19050">
            <a:solidFill>
              <a:srgbClr val="536777"/>
            </a:solidFill>
            <a:prstDash val="solid"/>
            <a:tailEnd type="triangle" w="sm" len="sm"/>
          </a:ln>
        </p:spPr>
      </p:cxnSp>
      <p:cxnSp>
        <p:nvCxnSpPr>
          <p:cNvPr id="25" name="Elbow Connector 24"/>
          <p:cNvCxnSpPr>
            <a:stCxn id="12" idx="3"/>
            <a:endCxn id="14" idx="1"/>
          </p:cNvCxnSpPr>
          <p:nvPr/>
        </p:nvCxnSpPr>
        <p:spPr>
          <a:xfrm>
            <a:off x="3276600" y="2667000"/>
            <a:ext cx="1428750" cy="847725"/>
          </a:xfrm>
          <a:prstGeom prst="bentConnector3">
            <a:avLst>
              <a:gd name="adj1" fmla="val 50000"/>
            </a:avLst>
          </a:prstGeom>
          <a:ln w="19050">
            <a:solidFill>
              <a:srgbClr val="536777"/>
            </a:solidFill>
            <a:prstDash val="solid"/>
            <a:tailEnd type="triangle" w="sm" len="sm"/>
          </a:ln>
        </p:spPr>
      </p:cxnSp>
      <p:sp>
        <p:nvSpPr>
          <p:cNvPr id="26" name="reference-left-rule">
            <a:extLst>
              <a:ext uri="{FF2B5EF4-FFF2-40B4-BE49-F238E27FC236}">
                <a16:creationId xmlns:a16="http://schemas.microsoft.com/office/drawing/2014/main" id="{AB1AE80B-A7EC-48B7-A1B6-E495C2B5AB0B}"/>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8031CC38-6C86-48D2-9A07-6808E6AF8809}"/>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09EA25E4-27DD-4C4D-B2F5-B114413CF231}"/>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defRPr sz="975" b="1">
                <a:solidFill>
                  <a:srgbClr val="075BCB"/>
                </a:solidFill>
                <a:latin typeface="Calibri"/>
                <a:ea typeface="Calibri"/>
                <a:cs typeface="Calibri"/>
              </a:defRPr>
            </a:pPr>
            <a:r>
              <a:rPr sz="975" b="1">
                <a:solidFill>
                  <a:srgbClr val="075BCB"/>
                </a:solidFill>
                <a:latin typeface="Calibri"/>
                <a:ea typeface="Calibri"/>
                <a:cs typeface="Calibri"/>
              </a:rPr>
              <a:t>ДОПОЛНЕНИЕ 1. КОШЕЛЁК И ДОСТУП</a:t>
            </a:r>
          </a:p>
        </p:txBody>
      </p:sp>
      <p:sp>
        <p:nvSpPr>
          <p:cNvPr id="4" name="title">
            <a:extLst>
              <a:ext uri="{FF2B5EF4-FFF2-40B4-BE49-F238E27FC236}">
                <a16:creationId xmlns:a16="http://schemas.microsoft.com/office/drawing/2014/main" id="{840C2913-6356-4972-9F5F-AE40A5BF4F38}"/>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defRPr sz="2325" b="1">
                <a:solidFill>
                  <a:srgbClr val="071D33"/>
                </a:solidFill>
                <a:latin typeface="Calibri"/>
                <a:ea typeface="Calibri"/>
                <a:cs typeface="Calibri"/>
              </a:defRPr>
            </a:pPr>
            <a:r>
              <a:rPr sz="2325" b="1">
                <a:solidFill>
                  <a:srgbClr val="071D33"/>
                </a:solidFill>
                <a:latin typeface="Calibri"/>
                <a:ea typeface="Calibri"/>
                <a:cs typeface="Calibri"/>
              </a:rPr>
              <a:t>Один счёт цифрового рубля доступен через разные банки</a:t>
            </a:r>
          </a:p>
        </p:txBody>
      </p:sp>
      <p:sp>
        <p:nvSpPr>
          <p:cNvPr id="5" name="page-number">
            <a:extLst>
              <a:ext uri="{FF2B5EF4-FFF2-40B4-BE49-F238E27FC236}">
                <a16:creationId xmlns:a16="http://schemas.microsoft.com/office/drawing/2014/main" id="{5C6FAA69-D070-4CCD-A6B0-2D65BB59504B}"/>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defRPr sz="975" b="1">
                <a:solidFill>
                  <a:srgbClr val="FFFFFF"/>
                </a:solidFill>
                <a:latin typeface="Calibri"/>
                <a:ea typeface="Calibri"/>
                <a:cs typeface="Calibri"/>
              </a:defRPr>
            </a:pPr>
            <a:r>
              <a:rPr sz="975" b="1">
                <a:solidFill>
                  <a:srgbClr val="FFFFFF"/>
                </a:solidFill>
                <a:latin typeface="Calibri"/>
                <a:ea typeface="Calibri"/>
                <a:cs typeface="Calibri"/>
              </a:rPr>
              <a:t>12</a:t>
            </a:r>
          </a:p>
        </p:txBody>
      </p:sp>
      <p:sp>
        <p:nvSpPr>
          <p:cNvPr id="6" name="heading-divider">
            <a:extLst>
              <a:ext uri="{FF2B5EF4-FFF2-40B4-BE49-F238E27FC236}">
                <a16:creationId xmlns:a16="http://schemas.microsoft.com/office/drawing/2014/main" id="{D826AAF0-1B3C-4EFC-8930-299A4B0E567F}"/>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B447DD9D-A09B-44CC-8015-DAE5064B1A81}"/>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A01D6879-2A35-40E2-93C4-EAD2CC5F8054}"/>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defRPr sz="1500" b="1">
                <a:solidFill>
                  <a:srgbClr val="071D33"/>
                </a:solidFill>
                <a:latin typeface="Calibri"/>
                <a:ea typeface="Calibri"/>
                <a:cs typeface="Calibri"/>
              </a:defRPr>
            </a:pPr>
            <a:r>
              <a:rPr sz="1500" b="1">
                <a:solidFill>
                  <a:srgbClr val="071D33"/>
                </a:solidFill>
                <a:latin typeface="Calibri"/>
                <a:ea typeface="Calibri"/>
                <a:cs typeface="Calibri"/>
              </a:rPr>
              <a:t>Банк предоставляет интерфейс. Банк России учитывает цифровые рубли и проводит операции.</a:t>
            </a:r>
          </a:p>
        </p:txBody>
      </p:sp>
      <p:sp>
        <p:nvSpPr>
          <p:cNvPr id="9" name="sources">
            <a:extLst>
              <a:ext uri="{FF2B5EF4-FFF2-40B4-BE49-F238E27FC236}">
                <a16:creationId xmlns:a16="http://schemas.microsoft.com/office/drawing/2014/main" id="{116C8F72-20E0-4E51-BB16-84F71CCB9101}"/>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lgn="l">
              <a:defRPr sz="900" b="0">
                <a:solidFill>
                  <a:srgbClr val="536777"/>
                </a:solidFill>
                <a:latin typeface="Calibri"/>
                <a:ea typeface="Calibri"/>
                <a:cs typeface="Calibri"/>
              </a:defRPr>
            </a:pPr>
            <a:r>
              <a:rPr sz="900" b="0">
                <a:solidFill>
                  <a:srgbClr val="536777"/>
                </a:solidFill>
                <a:latin typeface="Calibri"/>
                <a:ea typeface="Calibri"/>
                <a:cs typeface="Calibri"/>
                <a:hlinkClick r:id="rId3"/>
              </a:rPr>
              <a:t>CNews, обзор 2025 года</a:t>
            </a:r>
            <a:r>
              <a:rPr sz="900" b="0">
                <a:solidFill>
                  <a:srgbClr val="536777"/>
                </a:solidFill>
                <a:latin typeface="Calibri"/>
                <a:ea typeface="Calibri"/>
                <a:cs typeface="Calibri"/>
              </a:rPr>
              <a:t>   </a:t>
            </a:r>
            <a:r>
              <a:rPr sz="900" b="0">
                <a:solidFill>
                  <a:srgbClr val="536777"/>
                </a:solidFill>
                <a:latin typeface="Calibri"/>
                <a:ea typeface="Calibri"/>
                <a:cs typeface="Calibri"/>
                <a:hlinkClick r:id="rId4"/>
              </a:rPr>
              <a:t>Банк России, устройство кошелька</a:t>
            </a:r>
          </a:p>
        </p:txBody>
      </p:sp>
      <p:sp>
        <p:nvSpPr>
          <p:cNvPr id="10" name="central-bank-platform-boundary">
            <a:extLst>
              <a:ext uri="{FF2B5EF4-FFF2-40B4-BE49-F238E27FC236}">
                <a16:creationId xmlns:a16="http://schemas.microsoft.com/office/drawing/2014/main" id="{CA198AE3-AD83-4F6B-B4D8-597F33D496A5}"/>
              </a:ext>
            </a:extLst>
          </p:cNvPr>
          <p:cNvSpPr>
            <a:spLocks noGrp="1"/>
          </p:cNvSpPr>
          <p:nvPr/>
        </p:nvSpPr>
        <p:spPr>
          <a:xfrm>
            <a:off x="4343400" y="1981200"/>
            <a:ext cx="7239000" cy="2857500"/>
          </a:xfrm>
          <a:prstGeom prst="roundRect">
            <a:avLst>
              <a:gd name="adj" fmla="val 2333"/>
            </a:avLst>
          </a:prstGeom>
          <a:noFill/>
          <a:ln w="14288">
            <a:solidFill>
              <a:srgbClr val="E2E8ED"/>
            </a:solidFill>
          </a:ln>
        </p:spPr>
      </p:sp>
      <p:sp>
        <p:nvSpPr>
          <p:cNvPr id="11" name="platform-label">
            <a:extLst>
              <a:ext uri="{FF2B5EF4-FFF2-40B4-BE49-F238E27FC236}">
                <a16:creationId xmlns:a16="http://schemas.microsoft.com/office/drawing/2014/main" id="{9369825A-0B32-4D8E-A9EB-CC3DFB9D74B5}"/>
              </a:ext>
            </a:extLst>
          </p:cNvPr>
          <p:cNvSpPr>
            <a:spLocks noGrp="1"/>
          </p:cNvSpPr>
          <p:nvPr/>
        </p:nvSpPr>
        <p:spPr>
          <a:xfrm>
            <a:off x="4572000" y="2124075"/>
            <a:ext cx="6191250" cy="228600"/>
          </a:xfrm>
          <a:prstGeom prst="rect">
            <a:avLst/>
          </a:prstGeom>
          <a:noFill/>
          <a:ln w="0">
            <a:noFill/>
          </a:ln>
        </p:spPr>
        <p:txBody>
          <a:bodyPr wrap="square" lIns="0" tIns="0" rIns="0" bIns="0" anchor="t">
            <a:noAutofit/>
          </a:bodyPr>
          <a:lstStyle/>
          <a:p>
            <a:pPr algn="l">
              <a:defRPr sz="1125" b="1">
                <a:solidFill>
                  <a:srgbClr val="536777"/>
                </a:solidFill>
                <a:latin typeface="Calibri"/>
                <a:ea typeface="Calibri"/>
                <a:cs typeface="Calibri"/>
              </a:defRPr>
            </a:pPr>
            <a:r>
              <a:rPr sz="1125" b="1">
                <a:solidFill>
                  <a:srgbClr val="536777"/>
                </a:solidFill>
                <a:latin typeface="Calibri"/>
                <a:ea typeface="Calibri"/>
                <a:cs typeface="Calibri"/>
              </a:rPr>
              <a:t>ПЛАТФОРМА БАНКА РОССИИ</a:t>
            </a:r>
          </a:p>
        </p:txBody>
      </p:sp>
      <p:sp>
        <p:nvSpPr>
          <p:cNvPr id="12" name="bank-a-app">
            <a:extLst>
              <a:ext uri="{FF2B5EF4-FFF2-40B4-BE49-F238E27FC236}">
                <a16:creationId xmlns:a16="http://schemas.microsoft.com/office/drawing/2014/main" id="{BD45D642-A759-4BE6-A71F-560EAE10F374}"/>
              </a:ext>
            </a:extLst>
          </p:cNvPr>
          <p:cNvSpPr>
            <a:spLocks noGrp="1"/>
          </p:cNvSpPr>
          <p:nvPr/>
        </p:nvSpPr>
        <p:spPr>
          <a:xfrm>
            <a:off x="609600" y="2152650"/>
            <a:ext cx="2667000" cy="1028700"/>
          </a:xfrm>
          <a:prstGeom prst="roundRect">
            <a:avLst>
              <a:gd name="adj" fmla="val 6481"/>
            </a:avLst>
          </a:prstGeom>
          <a:solidFill>
            <a:srgbClr val="FFFFFF"/>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Банк А</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Приложение клиента</a:t>
            </a:r>
          </a:p>
        </p:txBody>
      </p:sp>
      <p:sp>
        <p:nvSpPr>
          <p:cNvPr id="13" name="bank-b-app">
            <a:extLst>
              <a:ext uri="{FF2B5EF4-FFF2-40B4-BE49-F238E27FC236}">
                <a16:creationId xmlns:a16="http://schemas.microsoft.com/office/drawing/2014/main" id="{694FECC7-ED5F-4EA1-9520-E72729580ADD}"/>
              </a:ext>
            </a:extLst>
          </p:cNvPr>
          <p:cNvSpPr>
            <a:spLocks noGrp="1"/>
          </p:cNvSpPr>
          <p:nvPr/>
        </p:nvSpPr>
        <p:spPr>
          <a:xfrm>
            <a:off x="609600" y="3657600"/>
            <a:ext cx="2667000" cy="1028700"/>
          </a:xfrm>
          <a:prstGeom prst="roundRect">
            <a:avLst>
              <a:gd name="adj" fmla="val 6481"/>
            </a:avLst>
          </a:prstGeom>
          <a:solidFill>
            <a:srgbClr val="FFFFFF"/>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Банк Б</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Приложение того же клиента</a:t>
            </a:r>
          </a:p>
        </p:txBody>
      </p:sp>
      <p:sp>
        <p:nvSpPr>
          <p:cNvPr id="14" name="one-cbdc-account">
            <a:extLst>
              <a:ext uri="{FF2B5EF4-FFF2-40B4-BE49-F238E27FC236}">
                <a16:creationId xmlns:a16="http://schemas.microsoft.com/office/drawing/2014/main" id="{C04E631C-CAD2-45DF-A01A-8F0EDC3E791E}"/>
              </a:ext>
            </a:extLst>
          </p:cNvPr>
          <p:cNvSpPr>
            <a:spLocks noGrp="1"/>
          </p:cNvSpPr>
          <p:nvPr/>
        </p:nvSpPr>
        <p:spPr>
          <a:xfrm>
            <a:off x="4705350" y="2847975"/>
            <a:ext cx="2819400" cy="1333500"/>
          </a:xfrm>
          <a:prstGeom prst="roundRect">
            <a:avLst>
              <a:gd name="adj" fmla="val 5000"/>
            </a:avLst>
          </a:prstGeom>
          <a:solidFill>
            <a:srgbClr val="DDF2EF"/>
          </a:solidFill>
          <a:ln w="12383">
            <a:solidFill>
              <a:srgbClr val="008A82"/>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Единый счёт клиента</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Остаток и история операций</a:t>
            </a:r>
          </a:p>
        </p:txBody>
      </p:sp>
      <p:sp>
        <p:nvSpPr>
          <p:cNvPr id="15" name="recipient-cbdc-account">
            <a:extLst>
              <a:ext uri="{FF2B5EF4-FFF2-40B4-BE49-F238E27FC236}">
                <a16:creationId xmlns:a16="http://schemas.microsoft.com/office/drawing/2014/main" id="{080670B6-12DA-4C4D-998A-1D54E8720520}"/>
              </a:ext>
            </a:extLst>
          </p:cNvPr>
          <p:cNvSpPr>
            <a:spLocks noGrp="1"/>
          </p:cNvSpPr>
          <p:nvPr/>
        </p:nvSpPr>
        <p:spPr>
          <a:xfrm>
            <a:off x="8877300" y="2847975"/>
            <a:ext cx="2381250" cy="1333500"/>
          </a:xfrm>
          <a:prstGeom prst="roundRect">
            <a:avLst>
              <a:gd name="adj" fmla="val 5000"/>
            </a:avLst>
          </a:prstGeom>
          <a:solidFill>
            <a:srgbClr val="DDEBFA"/>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Счёт получателя</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Цифровые рубли</a:t>
            </a:r>
          </a:p>
        </p:txBody>
      </p:sp>
      <p:sp>
        <p:nvSpPr>
          <p:cNvPr id="19" name="interface-label">
            <a:extLst>
              <a:ext uri="{FF2B5EF4-FFF2-40B4-BE49-F238E27FC236}">
                <a16:creationId xmlns:a16="http://schemas.microsoft.com/office/drawing/2014/main" id="{C46EE769-3D8D-4606-B683-F2D7869561FF}"/>
              </a:ext>
            </a:extLst>
          </p:cNvPr>
          <p:cNvSpPr>
            <a:spLocks noGrp="1"/>
          </p:cNvSpPr>
          <p:nvPr/>
        </p:nvSpPr>
        <p:spPr>
          <a:xfrm>
            <a:off x="3343275" y="3314700"/>
            <a:ext cx="571500" cy="209550"/>
          </a:xfrm>
          <a:prstGeom prst="rect">
            <a:avLst/>
          </a:prstGeom>
          <a:noFill/>
          <a:ln w="0">
            <a:noFill/>
          </a:ln>
        </p:spPr>
        <p:txBody>
          <a:bodyPr wrap="square" lIns="0" tIns="0" rIns="0" bIns="0" anchor="t">
            <a:noAutofit/>
          </a:bodyPr>
          <a:lstStyle/>
          <a:p>
            <a:pPr algn="ctr">
              <a:defRPr sz="1125" b="0">
                <a:solidFill>
                  <a:srgbClr val="536777"/>
                </a:solidFill>
                <a:latin typeface="Calibri"/>
                <a:ea typeface="Calibri"/>
                <a:cs typeface="Calibri"/>
              </a:defRPr>
            </a:pPr>
            <a:r>
              <a:rPr sz="1125" b="0">
                <a:solidFill>
                  <a:srgbClr val="536777"/>
                </a:solidFill>
                <a:latin typeface="Calibri"/>
                <a:ea typeface="Calibri"/>
                <a:cs typeface="Calibri"/>
              </a:rPr>
              <a:t>Доступ</a:t>
            </a:r>
          </a:p>
        </p:txBody>
      </p:sp>
      <p:sp>
        <p:nvSpPr>
          <p:cNvPr id="20" name="transfer-label">
            <a:extLst>
              <a:ext uri="{FF2B5EF4-FFF2-40B4-BE49-F238E27FC236}">
                <a16:creationId xmlns:a16="http://schemas.microsoft.com/office/drawing/2014/main" id="{70AA5752-4D3D-4304-85A3-360006768E1B}"/>
              </a:ext>
            </a:extLst>
          </p:cNvPr>
          <p:cNvSpPr>
            <a:spLocks noGrp="1"/>
          </p:cNvSpPr>
          <p:nvPr/>
        </p:nvSpPr>
        <p:spPr>
          <a:xfrm>
            <a:off x="7762875" y="3257550"/>
            <a:ext cx="904875" cy="228600"/>
          </a:xfrm>
          <a:prstGeom prst="rect">
            <a:avLst/>
          </a:prstGeom>
          <a:noFill/>
          <a:ln w="0">
            <a:noFill/>
          </a:ln>
        </p:spPr>
        <p:txBody>
          <a:bodyPr wrap="square" lIns="0" tIns="0" rIns="0" bIns="0" anchor="t">
            <a:noAutofit/>
          </a:bodyPr>
          <a:lstStyle/>
          <a:p>
            <a:pPr algn="ctr">
              <a:defRPr sz="1125" b="1">
                <a:solidFill>
                  <a:srgbClr val="075BCB"/>
                </a:solidFill>
                <a:latin typeface="Calibri"/>
                <a:ea typeface="Calibri"/>
                <a:cs typeface="Calibri"/>
              </a:defRPr>
            </a:pPr>
            <a:r>
              <a:rPr sz="1125" b="1">
                <a:solidFill>
                  <a:srgbClr val="075BCB"/>
                </a:solidFill>
                <a:latin typeface="Calibri"/>
                <a:ea typeface="Calibri"/>
                <a:cs typeface="Calibri"/>
              </a:rPr>
              <a:t>Перевод</a:t>
            </a:r>
          </a:p>
        </p:txBody>
      </p:sp>
      <p:sp>
        <p:nvSpPr>
          <p:cNvPr id="21" name="funding-limit">
            <a:extLst>
              <a:ext uri="{FF2B5EF4-FFF2-40B4-BE49-F238E27FC236}">
                <a16:creationId xmlns:a16="http://schemas.microsoft.com/office/drawing/2014/main" id="{39F9BEF2-AC58-4ECF-99E4-92DE763E85F3}"/>
              </a:ext>
            </a:extLst>
          </p:cNvPr>
          <p:cNvSpPr>
            <a:spLocks noGrp="1"/>
          </p:cNvSpPr>
          <p:nvPr/>
        </p:nvSpPr>
        <p:spPr>
          <a:xfrm>
            <a:off x="609600" y="5219700"/>
            <a:ext cx="3429000" cy="371475"/>
          </a:xfrm>
          <a:prstGeom prst="rect">
            <a:avLst/>
          </a:prstGeom>
          <a:noFill/>
          <a:ln w="0">
            <a:noFill/>
          </a:ln>
        </p:spPr>
        <p:txBody>
          <a:bodyPr wrap="square" lIns="0" tIns="0" rIns="0" bIns="0" anchor="t">
            <a:noAutofit/>
          </a:bodyPr>
          <a:lstStyle/>
          <a:p>
            <a:pPr algn="l">
              <a:defRPr sz="2250" b="1">
                <a:solidFill>
                  <a:srgbClr val="075BCB"/>
                </a:solidFill>
                <a:latin typeface="Calibri"/>
                <a:ea typeface="Calibri"/>
                <a:cs typeface="Calibri"/>
              </a:defRPr>
            </a:pPr>
            <a:r>
              <a:rPr sz="2250" b="1">
                <a:solidFill>
                  <a:srgbClr val="075BCB"/>
                </a:solidFill>
                <a:latin typeface="Calibri"/>
                <a:ea typeface="Calibri"/>
                <a:cs typeface="Calibri"/>
              </a:rPr>
              <a:t>300 000 ₽ в месяц</a:t>
            </a:r>
          </a:p>
        </p:txBody>
      </p:sp>
      <p:sp>
        <p:nvSpPr>
          <p:cNvPr id="22" name="funding-limit-explanation">
            <a:extLst>
              <a:ext uri="{FF2B5EF4-FFF2-40B4-BE49-F238E27FC236}">
                <a16:creationId xmlns:a16="http://schemas.microsoft.com/office/drawing/2014/main" id="{121970F6-782D-473E-986D-B98E694FE4D9}"/>
              </a:ext>
            </a:extLst>
          </p:cNvPr>
          <p:cNvSpPr>
            <a:spLocks noGrp="1"/>
          </p:cNvSpPr>
          <p:nvPr/>
        </p:nvSpPr>
        <p:spPr>
          <a:xfrm>
            <a:off x="4191000" y="5162550"/>
            <a:ext cx="7334250" cy="590550"/>
          </a:xfrm>
          <a:prstGeom prst="rect">
            <a:avLst/>
          </a:prstGeom>
          <a:noFill/>
          <a:ln w="0">
            <a:noFill/>
          </a:ln>
        </p:spPr>
        <p:txBody>
          <a:bodyPr wrap="square" lIns="0" tIns="0" rIns="0" bIns="0" anchor="t">
            <a:noAutofit/>
          </a:bodyPr>
          <a:lstStyle/>
          <a:p>
            <a:pPr algn="l">
              <a:defRPr sz="1500" b="0">
                <a:solidFill>
                  <a:srgbClr val="263746"/>
                </a:solidFill>
                <a:latin typeface="Calibri"/>
                <a:ea typeface="Calibri"/>
                <a:cs typeface="Calibri"/>
              </a:defRPr>
            </a:pPr>
            <a:r>
              <a:rPr sz="1500" b="0">
                <a:solidFill>
                  <a:srgbClr val="263746"/>
                </a:solidFill>
                <a:latin typeface="Calibri"/>
                <a:ea typeface="Calibri"/>
                <a:cs typeface="Calibri"/>
              </a:rPr>
              <a:t>Лимит пополнения со своих банковских счетов.</a:t>
            </a:r>
          </a:p>
          <a:p>
            <a:pPr algn="l">
              <a:defRPr sz="1500" b="0">
                <a:solidFill>
                  <a:srgbClr val="263746"/>
                </a:solidFill>
                <a:latin typeface="Calibri"/>
                <a:ea typeface="Calibri"/>
                <a:cs typeface="Calibri"/>
              </a:defRPr>
            </a:pPr>
            <a:r>
              <a:rPr sz="1500" b="0">
                <a:solidFill>
                  <a:srgbClr val="263746"/>
                </a:solidFill>
                <a:latin typeface="Calibri"/>
                <a:ea typeface="Calibri"/>
                <a:cs typeface="Calibri"/>
              </a:rPr>
              <a:t>Смена приложения сохраняет тот же цифровой счёт.</a:t>
            </a:r>
          </a:p>
        </p:txBody>
      </p:sp>
    </p:spTree>
    <p:extLst>
      <p:ext uri="{BB962C8B-B14F-4D97-AF65-F5344CB8AC3E}">
        <p14:creationId xmlns:p14="http://schemas.microsoft.com/office/powerpoint/2010/main" val="584891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13" name="reference-left-rule">
            <a:extLst>
              <a:ext uri="{FF2B5EF4-FFF2-40B4-BE49-F238E27FC236}">
                <a16:creationId xmlns:a16="http://schemas.microsoft.com/office/drawing/2014/main" id="{5738C1B9-B331-4BA0-87E8-A9A8077B40FC}"/>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4CA8AA34-DA06-4CE4-84CC-4B9C6608B43C}"/>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786501F3-0808-47EF-B016-E501C346C87C}"/>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defRPr sz="975" b="1">
                <a:solidFill>
                  <a:srgbClr val="075BCB"/>
                </a:solidFill>
                <a:latin typeface="Calibri"/>
                <a:ea typeface="Calibri"/>
                <a:cs typeface="Calibri"/>
              </a:defRPr>
            </a:pPr>
            <a:r>
              <a:rPr sz="975" b="1">
                <a:solidFill>
                  <a:srgbClr val="075BCB"/>
                </a:solidFill>
                <a:latin typeface="Calibri"/>
                <a:ea typeface="Calibri"/>
                <a:cs typeface="Calibri"/>
              </a:rPr>
              <a:t>ДОПОЛНЕНИЕ 2. ДАННЫЕ И НАЛОГОВЫЙ КОНТРОЛЬ</a:t>
            </a:r>
          </a:p>
        </p:txBody>
      </p:sp>
      <p:sp>
        <p:nvSpPr>
          <p:cNvPr id="4" name="title">
            <a:extLst>
              <a:ext uri="{FF2B5EF4-FFF2-40B4-BE49-F238E27FC236}">
                <a16:creationId xmlns:a16="http://schemas.microsoft.com/office/drawing/2014/main" id="{2B645287-CBA9-4546-B4DB-28A013B6AF4E}"/>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defRPr sz="2325" b="1">
                <a:solidFill>
                  <a:srgbClr val="071D33"/>
                </a:solidFill>
                <a:latin typeface="Calibri"/>
                <a:ea typeface="Calibri"/>
                <a:cs typeface="Calibri"/>
              </a:defRPr>
            </a:pPr>
            <a:r>
              <a:rPr sz="2325" b="1">
                <a:solidFill>
                  <a:srgbClr val="071D33"/>
                </a:solidFill>
                <a:latin typeface="Calibri"/>
                <a:ea typeface="Calibri"/>
                <a:cs typeface="Calibri"/>
              </a:rPr>
              <a:t>Доступ ФНС к данным об операциях</a:t>
            </a:r>
          </a:p>
        </p:txBody>
      </p:sp>
      <p:sp>
        <p:nvSpPr>
          <p:cNvPr id="5" name="page-number">
            <a:extLst>
              <a:ext uri="{FF2B5EF4-FFF2-40B4-BE49-F238E27FC236}">
                <a16:creationId xmlns:a16="http://schemas.microsoft.com/office/drawing/2014/main" id="{0CC7670D-07D8-4B4C-A829-885A6C05445A}"/>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defRPr sz="975" b="1">
                <a:solidFill>
                  <a:srgbClr val="FFFFFF"/>
                </a:solidFill>
                <a:latin typeface="Calibri"/>
                <a:ea typeface="Calibri"/>
                <a:cs typeface="Calibri"/>
              </a:defRPr>
            </a:pPr>
            <a:r>
              <a:rPr sz="975" b="1">
                <a:solidFill>
                  <a:srgbClr val="FFFFFF"/>
                </a:solidFill>
                <a:latin typeface="Calibri"/>
                <a:ea typeface="Calibri"/>
                <a:cs typeface="Calibri"/>
              </a:rPr>
              <a:t>13</a:t>
            </a:r>
          </a:p>
        </p:txBody>
      </p:sp>
      <p:sp>
        <p:nvSpPr>
          <p:cNvPr id="6" name="heading-divider">
            <a:extLst>
              <a:ext uri="{FF2B5EF4-FFF2-40B4-BE49-F238E27FC236}">
                <a16:creationId xmlns:a16="http://schemas.microsoft.com/office/drawing/2014/main" id="{92DFDB7C-5810-46D5-876A-546A06E0238A}"/>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1AD39A0B-D46D-4DFF-A347-752006808618}"/>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865EE0F1-03AE-428B-BC14-EA362410EEE1}"/>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defRPr sz="1500" b="1">
                <a:solidFill>
                  <a:srgbClr val="071D33"/>
                </a:solidFill>
                <a:latin typeface="Calibri"/>
                <a:ea typeface="Calibri"/>
                <a:cs typeface="Calibri"/>
              </a:defRPr>
            </a:pPr>
            <a:r>
              <a:rPr sz="1500" b="1">
                <a:solidFill>
                  <a:srgbClr val="071D33"/>
                </a:solidFill>
                <a:latin typeface="Calibri"/>
                <a:ea typeface="Calibri"/>
                <a:cs typeface="Calibri"/>
              </a:rPr>
              <a:t>Технические идентификаторы предусмотрены и в формах по обычным банковским счетам.</a:t>
            </a:r>
          </a:p>
        </p:txBody>
      </p:sp>
      <p:sp>
        <p:nvSpPr>
          <p:cNvPr id="9" name="sources">
            <a:extLst>
              <a:ext uri="{FF2B5EF4-FFF2-40B4-BE49-F238E27FC236}">
                <a16:creationId xmlns:a16="http://schemas.microsoft.com/office/drawing/2014/main" id="{A025AD6C-5A24-4FB7-BCFF-B355C2F2D4C6}"/>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lgn="l">
              <a:defRPr sz="900" b="0">
                <a:solidFill>
                  <a:srgbClr val="536777"/>
                </a:solidFill>
                <a:latin typeface="Calibri"/>
                <a:ea typeface="Calibri"/>
                <a:cs typeface="Calibri"/>
              </a:defRPr>
            </a:pPr>
            <a:r>
              <a:rPr sz="900" b="0">
                <a:solidFill>
                  <a:srgbClr val="536777"/>
                </a:solidFill>
                <a:latin typeface="Calibri"/>
                <a:ea typeface="Calibri"/>
                <a:cs typeface="Calibri"/>
                <a:hlinkClick r:id="rId3"/>
              </a:rPr>
              <a:t>CNews, 09.09.2026</a:t>
            </a:r>
            <a:r>
              <a:rPr sz="900" b="0">
                <a:solidFill>
                  <a:srgbClr val="536777"/>
                </a:solidFill>
                <a:latin typeface="Calibri"/>
                <a:ea typeface="Calibri"/>
                <a:cs typeface="Calibri"/>
              </a:rPr>
              <a:t>   </a:t>
            </a:r>
            <a:r>
              <a:rPr sz="900" b="0">
                <a:solidFill>
                  <a:srgbClr val="536777"/>
                </a:solidFill>
                <a:latin typeface="Calibri"/>
                <a:ea typeface="Calibri"/>
                <a:cs typeface="Calibri"/>
                <a:hlinkClick r:id="rId4"/>
              </a:rPr>
              <a:t>ФНС, приказ № ЕД-1-2/591@</a:t>
            </a:r>
            <a:r>
              <a:rPr sz="900" b="0">
                <a:solidFill>
                  <a:srgbClr val="536777"/>
                </a:solidFill>
                <a:latin typeface="Calibri"/>
                <a:ea typeface="Calibri"/>
                <a:cs typeface="Calibri"/>
              </a:rPr>
              <a:t>   </a:t>
            </a:r>
            <a:r>
              <a:rPr sz="900" b="0">
                <a:solidFill>
                  <a:srgbClr val="536777"/>
                </a:solidFill>
                <a:latin typeface="Calibri"/>
                <a:ea typeface="Calibri"/>
                <a:cs typeface="Calibri"/>
                <a:hlinkClick r:id="rId5"/>
              </a:rPr>
              <a:t>Предыдущая форма банковской выписки</a:t>
            </a:r>
          </a:p>
        </p:txBody>
      </p:sp>
      <p:sp>
        <p:nvSpPr>
          <p:cNvPr id="10" name="tax-context">
            <a:extLst>
              <a:ext uri="{FF2B5EF4-FFF2-40B4-BE49-F238E27FC236}">
                <a16:creationId xmlns:a16="http://schemas.microsoft.com/office/drawing/2014/main" id="{FE5C43AF-41C3-4802-B9DB-35A5724C66C6}"/>
              </a:ext>
            </a:extLst>
          </p:cNvPr>
          <p:cNvSpPr>
            <a:spLocks noGrp="1"/>
          </p:cNvSpPr>
          <p:nvPr/>
        </p:nvSpPr>
        <p:spPr>
          <a:xfrm>
            <a:off x="609600" y="1724025"/>
            <a:ext cx="10477500" cy="285750"/>
          </a:xfrm>
          <a:prstGeom prst="rect">
            <a:avLst/>
          </a:prstGeom>
          <a:noFill/>
          <a:ln w="0">
            <a:noFill/>
          </a:ln>
        </p:spPr>
        <p:txBody>
          <a:bodyPr wrap="square" lIns="0" tIns="0" rIns="0" bIns="0" anchor="t">
            <a:noAutofit/>
          </a:bodyPr>
          <a:lstStyle/>
          <a:p>
            <a:pPr algn="l">
              <a:defRPr sz="1650" b="1">
                <a:solidFill>
                  <a:srgbClr val="075BCB"/>
                </a:solidFill>
                <a:latin typeface="Calibri"/>
                <a:ea typeface="Calibri"/>
                <a:cs typeface="Calibri"/>
              </a:defRPr>
            </a:pPr>
            <a:r>
              <a:rPr sz="1650" b="1">
                <a:solidFill>
                  <a:srgbClr val="075BCB"/>
                </a:solidFill>
                <a:latin typeface="Calibri"/>
                <a:ea typeface="Calibri"/>
                <a:cs typeface="Calibri"/>
              </a:rPr>
              <a:t>Новые формы: не ранее 1 июля 2027 года</a:t>
            </a:r>
          </a:p>
        </p:txBody>
      </p:sp>
      <p:graphicFrame>
        <p:nvGraphicFramePr>
          <p:cNvPr id="23" name="Table 22"/>
          <p:cNvGraphicFramePr/>
          <p:nvPr/>
        </p:nvGraphicFramePr>
        <p:xfrm>
          <a:off x="609600" y="2228850"/>
          <a:ext cx="10972800" cy="3086100"/>
        </p:xfrm>
        <a:graphic>
          <a:graphicData uri="http://schemas.openxmlformats.org/drawingml/2006/table">
            <a:tbl>
              <a:tblPr firstRow="1"/>
              <a:tblGrid>
                <a:gridCol w="21336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457200">
                <a:tc>
                  <a:txBody>
                    <a:bodyPr/>
                    <a:lstStyle/>
                    <a:p>
                      <a:pPr algn="l"/>
                      <a:r>
                        <a:rPr sz="1350" b="1">
                          <a:solidFill>
                            <a:srgbClr val="FFFFFF"/>
                          </a:solidFill>
                          <a:latin typeface="Calibri"/>
                          <a:ea typeface="Calibri"/>
                          <a:cs typeface="Calibri"/>
                        </a:rPr>
                        <a:t>Аспект</a:t>
                      </a:r>
                    </a:p>
                  </a:txBody>
                  <a:tcPr marL="133350" marR="133350" marT="95250" marB="95250" anchor="ctr">
                    <a:solidFill>
                      <a:srgbClr val="071D33"/>
                    </a:solidFill>
                  </a:tcPr>
                </a:tc>
                <a:tc>
                  <a:txBody>
                    <a:bodyPr/>
                    <a:lstStyle/>
                    <a:p>
                      <a:pPr algn="l"/>
                      <a:r>
                        <a:rPr sz="1350" b="1">
                          <a:solidFill>
                            <a:srgbClr val="FFFFFF"/>
                          </a:solidFill>
                          <a:latin typeface="Calibri"/>
                          <a:ea typeface="Calibri"/>
                          <a:cs typeface="Calibri"/>
                        </a:rPr>
                        <a:t>Что предусматривает форма</a:t>
                      </a:r>
                    </a:p>
                  </a:txBody>
                  <a:tcPr marL="133350" marR="133350" marT="95250" marB="95250" anchor="ctr">
                    <a:solidFill>
                      <a:srgbClr val="071D33"/>
                    </a:solidFill>
                  </a:tcPr>
                </a:tc>
                <a:tc>
                  <a:txBody>
                    <a:bodyPr/>
                    <a:lstStyle/>
                    <a:p>
                      <a:pPr algn="l"/>
                      <a:r>
                        <a:rPr sz="1350" b="1">
                          <a:solidFill>
                            <a:srgbClr val="FFFFFF"/>
                          </a:solidFill>
                          <a:latin typeface="Calibri"/>
                          <a:ea typeface="Calibri"/>
                          <a:cs typeface="Calibri"/>
                        </a:rPr>
                        <a:t>Как интерпретировать</a:t>
                      </a:r>
                    </a:p>
                  </a:txBody>
                  <a:tcPr marL="133350" marR="133350" marT="95250" marB="95250" anchor="ctr">
                    <a:solidFill>
                      <a:srgbClr val="071D33"/>
                    </a:solidFill>
                  </a:tcPr>
                </a:tc>
                <a:extLst>
                  <a:ext uri="{0D108BD9-81ED-4DB2-BD59-A6C34878D82A}">
                    <a16:rowId xmlns:a16="http://schemas.microsoft.com/office/drawing/2014/main" val="10000"/>
                  </a:ext>
                </a:extLst>
              </a:tr>
              <a:tr h="838200">
                <a:tc>
                  <a:txBody>
                    <a:bodyPr/>
                    <a:lstStyle/>
                    <a:p>
                      <a:pPr algn="l"/>
                      <a:r>
                        <a:rPr sz="1500" b="1">
                          <a:solidFill>
                            <a:srgbClr val="075BCB"/>
                          </a:solidFill>
                          <a:latin typeface="Calibri"/>
                          <a:ea typeface="Calibri"/>
                          <a:cs typeface="Calibri"/>
                        </a:rPr>
                        <a:t>Операция</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Дата и время, сумма, назначение,</a:t>
                      </a:r>
                    </a:p>
                    <a:p>
                      <a:pPr algn="l"/>
                      <a:r>
                        <a:rPr sz="1500" b="0">
                          <a:solidFill>
                            <a:srgbClr val="263746"/>
                          </a:solidFill>
                          <a:latin typeface="Calibri"/>
                          <a:ea typeface="Calibri"/>
                          <a:cs typeface="Calibri"/>
                        </a:rPr>
                        <a:t>сведения о плательщике и получателе</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История движения средств</a:t>
                      </a:r>
                    </a:p>
                  </a:txBody>
                  <a:tcPr marL="133350" marR="133350" marT="95250" marB="95250" anchor="ctr">
                    <a:solidFill>
                      <a:srgbClr val="FFFFFF"/>
                    </a:solidFill>
                  </a:tcPr>
                </a:tc>
                <a:extLst>
                  <a:ext uri="{0D108BD9-81ED-4DB2-BD59-A6C34878D82A}">
                    <a16:rowId xmlns:a16="http://schemas.microsoft.com/office/drawing/2014/main" val="10001"/>
                  </a:ext>
                </a:extLst>
              </a:tr>
              <a:tr h="895350">
                <a:tc>
                  <a:txBody>
                    <a:bodyPr/>
                    <a:lstStyle/>
                    <a:p>
                      <a:pPr algn="l"/>
                      <a:r>
                        <a:rPr sz="1500" b="1">
                          <a:solidFill>
                            <a:srgbClr val="075BCB"/>
                          </a:solidFill>
                          <a:latin typeface="Calibri"/>
                          <a:ea typeface="Calibri"/>
                          <a:cs typeface="Calibri"/>
                        </a:rPr>
                        <a:t>Устройство</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IP, MAC, телефон, SIM-карта</a:t>
                      </a:r>
                    </a:p>
                    <a:p>
                      <a:pPr algn="l"/>
                      <a:r>
                        <a:rPr sz="1500" b="0">
                          <a:solidFill>
                            <a:srgbClr val="263746"/>
                          </a:solidFill>
                          <a:latin typeface="Calibri"/>
                          <a:ea typeface="Calibri"/>
                          <a:cs typeface="Calibri"/>
                        </a:rPr>
                        <a:t>или иной идентификатор устройства</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Поля формы выписки.</a:t>
                      </a:r>
                    </a:p>
                    <a:p>
                      <a:pPr algn="l"/>
                      <a:r>
                        <a:rPr sz="1500" b="0">
                          <a:solidFill>
                            <a:srgbClr val="263746"/>
                          </a:solidFill>
                          <a:latin typeface="Calibri"/>
                          <a:ea typeface="Calibri"/>
                          <a:cs typeface="Calibri"/>
                        </a:rPr>
                        <a:t>Состав доступных данных зависит от операции</a:t>
                      </a:r>
                    </a:p>
                  </a:txBody>
                  <a:tcPr marL="133350" marR="133350" marT="95250" marB="95250" anchor="ctr">
                    <a:solidFill>
                      <a:srgbClr val="FFFFFF"/>
                    </a:solidFill>
                  </a:tcPr>
                </a:tc>
                <a:extLst>
                  <a:ext uri="{0D108BD9-81ED-4DB2-BD59-A6C34878D82A}">
                    <a16:rowId xmlns:a16="http://schemas.microsoft.com/office/drawing/2014/main" val="10002"/>
                  </a:ext>
                </a:extLst>
              </a:tr>
              <a:tr h="895350">
                <a:tc>
                  <a:txBody>
                    <a:bodyPr/>
                    <a:lstStyle/>
                    <a:p>
                      <a:pPr algn="l"/>
                      <a:r>
                        <a:rPr sz="1500" b="1">
                          <a:solidFill>
                            <a:srgbClr val="075BCB"/>
                          </a:solidFill>
                          <a:latin typeface="Calibri"/>
                          <a:ea typeface="Calibri"/>
                          <a:cs typeface="Calibri"/>
                        </a:rPr>
                        <a:t>Доступ</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Банк и оператор платформы предоставляют</a:t>
                      </a:r>
                    </a:p>
                    <a:p>
                      <a:pPr algn="l"/>
                      <a:r>
                        <a:rPr sz="1500" b="0">
                          <a:solidFill>
                            <a:srgbClr val="263746"/>
                          </a:solidFill>
                          <a:latin typeface="Calibri"/>
                          <a:ea typeface="Calibri"/>
                          <a:cs typeface="Calibri"/>
                        </a:rPr>
                        <a:t>информацию по запросу ФНС</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Процедура налогового контроля.</a:t>
                      </a:r>
                    </a:p>
                    <a:p>
                      <a:pPr algn="l"/>
                      <a:r>
                        <a:rPr sz="1500" b="0">
                          <a:solidFill>
                            <a:srgbClr val="263746"/>
                          </a:solidFill>
                          <a:latin typeface="Calibri"/>
                          <a:ea typeface="Calibri"/>
                          <a:cs typeface="Calibri"/>
                        </a:rPr>
                        <a:t>Общий IP или устройство требуют проверки</a:t>
                      </a:r>
                    </a:p>
                  </a:txBody>
                  <a:tcPr marL="133350" marR="13335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12" name="tax-interpretation">
            <a:extLst>
              <a:ext uri="{FF2B5EF4-FFF2-40B4-BE49-F238E27FC236}">
                <a16:creationId xmlns:a16="http://schemas.microsoft.com/office/drawing/2014/main" id="{ADAA337F-54F3-4867-8330-7A0B178755BC}"/>
              </a:ext>
            </a:extLst>
          </p:cNvPr>
          <p:cNvSpPr>
            <a:spLocks noGrp="1"/>
          </p:cNvSpPr>
          <p:nvPr/>
        </p:nvSpPr>
        <p:spPr>
          <a:xfrm>
            <a:off x="609600" y="5476875"/>
            <a:ext cx="10972800" cy="457200"/>
          </a:xfrm>
          <a:prstGeom prst="rect">
            <a:avLst/>
          </a:prstGeom>
          <a:noFill/>
          <a:ln w="0">
            <a:noFill/>
          </a:ln>
        </p:spPr>
        <p:txBody>
          <a:bodyPr wrap="square" lIns="0" tIns="0" rIns="0" bIns="0" anchor="t">
            <a:noAutofit/>
          </a:bodyPr>
          <a:lstStyle/>
          <a:p>
            <a:pPr algn="l">
              <a:defRPr sz="1350" b="0">
                <a:solidFill>
                  <a:srgbClr val="536777"/>
                </a:solidFill>
                <a:latin typeface="Calibri"/>
                <a:ea typeface="Calibri"/>
                <a:cs typeface="Calibri"/>
              </a:defRPr>
            </a:pPr>
            <a:r>
              <a:rPr sz="1350" b="0">
                <a:solidFill>
                  <a:srgbClr val="536777"/>
                </a:solidFill>
                <a:latin typeface="Calibri"/>
                <a:ea typeface="Calibri"/>
                <a:cs typeface="Calibri"/>
              </a:rPr>
              <a:t>Сопоставление устройств помогает искать связи между операциями.</a:t>
            </a:r>
          </a:p>
          <a:p>
            <a:pPr algn="l">
              <a:defRPr sz="1350" b="0">
                <a:solidFill>
                  <a:srgbClr val="536777"/>
                </a:solidFill>
                <a:latin typeface="Calibri"/>
                <a:ea typeface="Calibri"/>
                <a:cs typeface="Calibri"/>
              </a:defRPr>
            </a:pPr>
            <a:r>
              <a:rPr sz="1350" b="0">
                <a:solidFill>
                  <a:srgbClr val="536777"/>
                </a:solidFill>
                <a:latin typeface="Calibri"/>
                <a:ea typeface="Calibri"/>
                <a:cs typeface="Calibri"/>
              </a:rPr>
              <a:t>Вывод о нарушении требует других фактов и документов.</a:t>
            </a:r>
          </a:p>
        </p:txBody>
      </p:sp>
    </p:spTree>
    <p:extLst>
      <p:ext uri="{BB962C8B-B14F-4D97-AF65-F5344CB8AC3E}">
        <p14:creationId xmlns:p14="http://schemas.microsoft.com/office/powerpoint/2010/main" val="1631109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cxnSp>
        <p:nvCxnSpPr>
          <p:cNvPr id="22" name="Straight Arrow Connector 21"/>
          <p:cNvCxnSpPr>
            <a:stCxn id="13" idx="2"/>
            <a:endCxn id="18" idx="0"/>
          </p:cNvCxnSpPr>
          <p:nvPr/>
        </p:nvCxnSpPr>
        <p:spPr>
          <a:xfrm>
            <a:off x="7486650" y="3848100"/>
            <a:ext cx="0" cy="619125"/>
          </a:xfrm>
          <a:prstGeom prst="straightConnector1">
            <a:avLst/>
          </a:prstGeom>
          <a:ln w="19050">
            <a:solidFill>
              <a:srgbClr val="536777"/>
            </a:solidFill>
            <a:prstDash val="solid"/>
            <a:tailEnd type="triangle" w="sm" len="sm"/>
          </a:ln>
        </p:spPr>
      </p:cxnSp>
      <p:cxnSp>
        <p:nvCxnSpPr>
          <p:cNvPr id="23" name="Straight Arrow Connector 22"/>
          <p:cNvCxnSpPr>
            <a:stCxn id="13" idx="3"/>
            <a:endCxn id="14" idx="1"/>
          </p:cNvCxnSpPr>
          <p:nvPr/>
        </p:nvCxnSpPr>
        <p:spPr>
          <a:xfrm>
            <a:off x="8686800" y="3105150"/>
            <a:ext cx="457200" cy="0"/>
          </a:xfrm>
          <a:prstGeom prst="straightConnector1">
            <a:avLst/>
          </a:prstGeom>
          <a:ln w="19050">
            <a:solidFill>
              <a:srgbClr val="008A82"/>
            </a:solidFill>
            <a:prstDash val="solid"/>
            <a:tailEnd type="triangle" w="sm" len="sm"/>
          </a:ln>
        </p:spPr>
      </p:cxnSp>
      <p:cxnSp>
        <p:nvCxnSpPr>
          <p:cNvPr id="24" name="Straight Arrow Connector 23"/>
          <p:cNvCxnSpPr>
            <a:stCxn id="12" idx="3"/>
            <a:endCxn id="13" idx="1"/>
          </p:cNvCxnSpPr>
          <p:nvPr/>
        </p:nvCxnSpPr>
        <p:spPr>
          <a:xfrm>
            <a:off x="5848350" y="3105150"/>
            <a:ext cx="438150" cy="0"/>
          </a:xfrm>
          <a:prstGeom prst="straightConnector1">
            <a:avLst/>
          </a:prstGeom>
          <a:ln w="19050">
            <a:solidFill>
              <a:srgbClr val="536777"/>
            </a:solidFill>
            <a:prstDash val="solid"/>
            <a:tailEnd type="triangle" w="sm" len="sm"/>
          </a:ln>
        </p:spPr>
      </p:cxnSp>
      <p:cxnSp>
        <p:nvCxnSpPr>
          <p:cNvPr id="25" name="Straight Arrow Connector 24"/>
          <p:cNvCxnSpPr>
            <a:stCxn id="11" idx="3"/>
            <a:endCxn id="12" idx="1"/>
          </p:cNvCxnSpPr>
          <p:nvPr/>
        </p:nvCxnSpPr>
        <p:spPr>
          <a:xfrm>
            <a:off x="3009900" y="3105150"/>
            <a:ext cx="438150" cy="0"/>
          </a:xfrm>
          <a:prstGeom prst="straightConnector1">
            <a:avLst/>
          </a:prstGeom>
          <a:ln w="19050">
            <a:solidFill>
              <a:srgbClr val="536777"/>
            </a:solidFill>
            <a:prstDash val="solid"/>
            <a:tailEnd type="triangle" w="sm" len="sm"/>
          </a:ln>
        </p:spPr>
      </p:cxnSp>
      <p:sp>
        <p:nvSpPr>
          <p:cNvPr id="26" name="reference-left-rule">
            <a:extLst>
              <a:ext uri="{FF2B5EF4-FFF2-40B4-BE49-F238E27FC236}">
                <a16:creationId xmlns:a16="http://schemas.microsoft.com/office/drawing/2014/main" id="{CBF829AF-DC9C-4985-BED4-D7BF6784E0CD}"/>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63369E72-82DB-4794-943B-9B9B63440FEA}"/>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B4E650DD-CA96-4B1A-9077-0FD7067F37B2}"/>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defRPr sz="975" b="1">
                <a:solidFill>
                  <a:srgbClr val="075BCB"/>
                </a:solidFill>
                <a:latin typeface="Calibri"/>
                <a:ea typeface="Calibri"/>
                <a:cs typeface="Calibri"/>
              </a:defRPr>
            </a:pPr>
            <a:r>
              <a:rPr sz="975" b="1">
                <a:solidFill>
                  <a:srgbClr val="075BCB"/>
                </a:solidFill>
                <a:latin typeface="Calibri"/>
                <a:ea typeface="Calibri"/>
                <a:cs typeface="Calibri"/>
              </a:rPr>
              <a:t>ДОПОЛНЕНИЕ 3. МЕХАНИКА СМАРТ-КОНТРАКТА</a:t>
            </a:r>
          </a:p>
        </p:txBody>
      </p:sp>
      <p:sp>
        <p:nvSpPr>
          <p:cNvPr id="4" name="title">
            <a:extLst>
              <a:ext uri="{FF2B5EF4-FFF2-40B4-BE49-F238E27FC236}">
                <a16:creationId xmlns:a16="http://schemas.microsoft.com/office/drawing/2014/main" id="{2E0CC62B-C2D1-43AA-80A3-4940C19AC0A8}"/>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defRPr sz="2325" b="1">
                <a:solidFill>
                  <a:srgbClr val="071D33"/>
                </a:solidFill>
                <a:latin typeface="Calibri"/>
                <a:ea typeface="Calibri"/>
                <a:cs typeface="Calibri"/>
              </a:defRPr>
            </a:pPr>
            <a:r>
              <a:rPr sz="2325" b="1">
                <a:solidFill>
                  <a:srgbClr val="071D33"/>
                </a:solidFill>
                <a:latin typeface="Calibri"/>
                <a:ea typeface="Calibri"/>
                <a:cs typeface="Calibri"/>
              </a:rPr>
              <a:t>Смарт-контракт проверяет условие и запускает платёж</a:t>
            </a:r>
          </a:p>
        </p:txBody>
      </p:sp>
      <p:sp>
        <p:nvSpPr>
          <p:cNvPr id="5" name="page-number">
            <a:extLst>
              <a:ext uri="{FF2B5EF4-FFF2-40B4-BE49-F238E27FC236}">
                <a16:creationId xmlns:a16="http://schemas.microsoft.com/office/drawing/2014/main" id="{2354154C-8B1C-4ED8-81AC-78776E7B30EE}"/>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defRPr sz="975" b="1">
                <a:solidFill>
                  <a:srgbClr val="FFFFFF"/>
                </a:solidFill>
                <a:latin typeface="Calibri"/>
                <a:ea typeface="Calibri"/>
                <a:cs typeface="Calibri"/>
              </a:defRPr>
            </a:pPr>
            <a:r>
              <a:rPr sz="975" b="1">
                <a:solidFill>
                  <a:srgbClr val="FFFFFF"/>
                </a:solidFill>
                <a:latin typeface="Calibri"/>
                <a:ea typeface="Calibri"/>
                <a:cs typeface="Calibri"/>
              </a:rPr>
              <a:t>14</a:t>
            </a:r>
          </a:p>
        </p:txBody>
      </p:sp>
      <p:sp>
        <p:nvSpPr>
          <p:cNvPr id="6" name="heading-divider">
            <a:extLst>
              <a:ext uri="{FF2B5EF4-FFF2-40B4-BE49-F238E27FC236}">
                <a16:creationId xmlns:a16="http://schemas.microsoft.com/office/drawing/2014/main" id="{F0ECAF9F-6185-46DF-966B-4430917D7BE6}"/>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5E6010E5-A8B1-4AC4-BD1C-286275332B8F}"/>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6EC0133B-5ED2-407A-ACBF-7DB5CEEA83C2}"/>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defRPr sz="1500" b="1">
                <a:solidFill>
                  <a:srgbClr val="071D33"/>
                </a:solidFill>
                <a:latin typeface="Calibri"/>
                <a:ea typeface="Calibri"/>
                <a:cs typeface="Calibri"/>
              </a:defRPr>
            </a:pPr>
            <a:r>
              <a:rPr sz="1500" b="1">
                <a:solidFill>
                  <a:srgbClr val="071D33"/>
                </a:solidFill>
                <a:latin typeface="Calibri"/>
                <a:ea typeface="Calibri"/>
                <a:cs typeface="Calibri"/>
              </a:rPr>
              <a:t>В этой схеме условие определяет момент перевода. Дальнейшее целевое использование требует отдельных правил.</a:t>
            </a:r>
          </a:p>
        </p:txBody>
      </p:sp>
      <p:sp>
        <p:nvSpPr>
          <p:cNvPr id="9" name="sources">
            <a:extLst>
              <a:ext uri="{FF2B5EF4-FFF2-40B4-BE49-F238E27FC236}">
                <a16:creationId xmlns:a16="http://schemas.microsoft.com/office/drawing/2014/main" id="{1C6DDDD8-9D3A-42D6-B28F-8863FF55531C}"/>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lgn="l">
              <a:defRPr sz="900" b="0">
                <a:solidFill>
                  <a:srgbClr val="536777"/>
                </a:solidFill>
                <a:latin typeface="Calibri"/>
                <a:ea typeface="Calibri"/>
                <a:cs typeface="Calibri"/>
              </a:defRPr>
            </a:pPr>
            <a:r>
              <a:rPr sz="900" b="0">
                <a:solidFill>
                  <a:srgbClr val="536777"/>
                </a:solidFill>
                <a:latin typeface="Calibri"/>
                <a:ea typeface="Calibri"/>
                <a:cs typeface="Calibri"/>
                <a:hlinkClick r:id="rId3"/>
              </a:rPr>
              <a:t>CNews, смарт-контракты</a:t>
            </a:r>
            <a:r>
              <a:rPr sz="900" b="0">
                <a:solidFill>
                  <a:srgbClr val="536777"/>
                </a:solidFill>
                <a:latin typeface="Calibri"/>
                <a:ea typeface="Calibri"/>
                <a:cs typeface="Calibri"/>
              </a:rPr>
              <a:t>   </a:t>
            </a:r>
            <a:r>
              <a:rPr sz="900" b="0">
                <a:solidFill>
                  <a:srgbClr val="536777"/>
                </a:solidFill>
                <a:latin typeface="Calibri"/>
                <a:ea typeface="Calibri"/>
                <a:cs typeface="Calibri"/>
                <a:hlinkClick r:id="rId4"/>
              </a:rPr>
              <a:t>CNews, обзор цифрового рубля</a:t>
            </a:r>
          </a:p>
        </p:txBody>
      </p:sp>
      <p:sp>
        <p:nvSpPr>
          <p:cNvPr id="10" name="illustrative-case">
            <a:extLst>
              <a:ext uri="{FF2B5EF4-FFF2-40B4-BE49-F238E27FC236}">
                <a16:creationId xmlns:a16="http://schemas.microsoft.com/office/drawing/2014/main" id="{9AFA6A16-AFFB-4028-B6B6-4804D645D6EA}"/>
              </a:ext>
            </a:extLst>
          </p:cNvPr>
          <p:cNvSpPr>
            <a:spLocks noGrp="1"/>
          </p:cNvSpPr>
          <p:nvPr/>
        </p:nvSpPr>
        <p:spPr>
          <a:xfrm>
            <a:off x="609600" y="1752600"/>
            <a:ext cx="10972800" cy="285750"/>
          </a:xfrm>
          <a:prstGeom prst="rect">
            <a:avLst/>
          </a:prstGeom>
          <a:noFill/>
          <a:ln w="0">
            <a:noFill/>
          </a:ln>
        </p:spPr>
        <p:txBody>
          <a:bodyPr wrap="square" lIns="0" tIns="0" rIns="0" bIns="0" anchor="t">
            <a:noAutofit/>
          </a:bodyPr>
          <a:lstStyle/>
          <a:p>
            <a:pPr algn="l">
              <a:defRPr sz="1575" b="1">
                <a:solidFill>
                  <a:srgbClr val="075BCB"/>
                </a:solidFill>
                <a:latin typeface="Calibri"/>
                <a:ea typeface="Calibri"/>
                <a:cs typeface="Calibri"/>
              </a:defRPr>
            </a:pPr>
            <a:r>
              <a:rPr sz="1575" b="1">
                <a:solidFill>
                  <a:srgbClr val="075BCB"/>
                </a:solidFill>
                <a:latin typeface="Calibri"/>
                <a:ea typeface="Calibri"/>
                <a:cs typeface="Calibri"/>
              </a:rPr>
              <a:t>Учебный пример: оплата оборудования после подписания акта</a:t>
            </a:r>
          </a:p>
        </p:txBody>
      </p:sp>
      <p:sp>
        <p:nvSpPr>
          <p:cNvPr id="11" name="agreement-terms">
            <a:extLst>
              <a:ext uri="{FF2B5EF4-FFF2-40B4-BE49-F238E27FC236}">
                <a16:creationId xmlns:a16="http://schemas.microsoft.com/office/drawing/2014/main" id="{1C25580B-7190-4DA0-A44A-FEB59E510E0E}"/>
              </a:ext>
            </a:extLst>
          </p:cNvPr>
          <p:cNvSpPr>
            <a:spLocks noGrp="1"/>
          </p:cNvSpPr>
          <p:nvPr/>
        </p:nvSpPr>
        <p:spPr>
          <a:xfrm>
            <a:off x="609600" y="2362200"/>
            <a:ext cx="2400300" cy="1485900"/>
          </a:xfrm>
          <a:prstGeom prst="roundRect">
            <a:avLst>
              <a:gd name="adj" fmla="val 4487"/>
            </a:avLst>
          </a:prstGeom>
          <a:solidFill>
            <a:srgbClr val="FFFFFF"/>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Условия договора</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Стороны задают событие</a:t>
            </a:r>
            <a:br>
              <a:rPr sz="1650">
                <a:solidFill>
                  <a:srgbClr val="263746"/>
                </a:solidFill>
                <a:latin typeface="Calibri"/>
                <a:ea typeface="Calibri"/>
                <a:cs typeface="Calibri"/>
              </a:rPr>
            </a:br>
            <a:r>
              <a:rPr sz="1650">
                <a:solidFill>
                  <a:srgbClr val="263746"/>
                </a:solidFill>
                <a:latin typeface="Calibri"/>
                <a:ea typeface="Calibri"/>
                <a:cs typeface="Calibri"/>
              </a:rPr>
              <a:t>и сумму платежа</a:t>
            </a:r>
          </a:p>
        </p:txBody>
      </p:sp>
      <p:sp>
        <p:nvSpPr>
          <p:cNvPr id="12" name="trusted-event">
            <a:extLst>
              <a:ext uri="{FF2B5EF4-FFF2-40B4-BE49-F238E27FC236}">
                <a16:creationId xmlns:a16="http://schemas.microsoft.com/office/drawing/2014/main" id="{585C931B-5B99-4E16-BD5B-93FE98D37BEA}"/>
              </a:ext>
            </a:extLst>
          </p:cNvPr>
          <p:cNvSpPr>
            <a:spLocks noGrp="1"/>
          </p:cNvSpPr>
          <p:nvPr/>
        </p:nvSpPr>
        <p:spPr>
          <a:xfrm>
            <a:off x="3448050" y="2362200"/>
            <a:ext cx="2400300" cy="1485900"/>
          </a:xfrm>
          <a:prstGeom prst="roundRect">
            <a:avLst>
              <a:gd name="adj" fmla="val 4487"/>
            </a:avLst>
          </a:prstGeom>
          <a:solidFill>
            <a:srgbClr val="FFFFFF"/>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Подтверждение</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Источник данных сообщает:</a:t>
            </a:r>
            <a:br>
              <a:rPr sz="1650">
                <a:solidFill>
                  <a:srgbClr val="263746"/>
                </a:solidFill>
                <a:latin typeface="Calibri"/>
                <a:ea typeface="Calibri"/>
                <a:cs typeface="Calibri"/>
              </a:rPr>
            </a:br>
            <a:r>
              <a:rPr sz="1650">
                <a:solidFill>
                  <a:srgbClr val="263746"/>
                </a:solidFill>
                <a:latin typeface="Calibri"/>
                <a:ea typeface="Calibri"/>
                <a:cs typeface="Calibri"/>
              </a:rPr>
              <a:t>акт подписан</a:t>
            </a:r>
          </a:p>
        </p:txBody>
      </p:sp>
      <p:sp>
        <p:nvSpPr>
          <p:cNvPr id="13" name="condition-evaluation">
            <a:extLst>
              <a:ext uri="{FF2B5EF4-FFF2-40B4-BE49-F238E27FC236}">
                <a16:creationId xmlns:a16="http://schemas.microsoft.com/office/drawing/2014/main" id="{1F1BFDE1-CB16-4A0B-9E70-6C06B555D168}"/>
              </a:ext>
            </a:extLst>
          </p:cNvPr>
          <p:cNvSpPr>
            <a:spLocks noGrp="1"/>
          </p:cNvSpPr>
          <p:nvPr/>
        </p:nvSpPr>
        <p:spPr>
          <a:xfrm>
            <a:off x="6286500" y="2362200"/>
            <a:ext cx="2400300" cy="1485900"/>
          </a:xfrm>
          <a:prstGeom prst="roundRect">
            <a:avLst>
              <a:gd name="adj" fmla="val 4487"/>
            </a:avLst>
          </a:prstGeom>
          <a:solidFill>
            <a:srgbClr val="DDF2EF"/>
          </a:solidFill>
          <a:ln w="12383">
            <a:solidFill>
              <a:srgbClr val="008A82"/>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Проверка условия</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Код сопоставляет событие</a:t>
            </a:r>
            <a:br>
              <a:rPr sz="1650">
                <a:solidFill>
                  <a:srgbClr val="263746"/>
                </a:solidFill>
                <a:latin typeface="Calibri"/>
                <a:ea typeface="Calibri"/>
                <a:cs typeface="Calibri"/>
              </a:rPr>
            </a:br>
            <a:r>
              <a:rPr sz="1650">
                <a:solidFill>
                  <a:srgbClr val="263746"/>
                </a:solidFill>
                <a:latin typeface="Calibri"/>
                <a:ea typeface="Calibri"/>
                <a:cs typeface="Calibri"/>
              </a:rPr>
              <a:t>с условиями сделки</a:t>
            </a:r>
          </a:p>
        </p:txBody>
      </p:sp>
      <p:sp>
        <p:nvSpPr>
          <p:cNvPr id="14" name="condition-met-payment">
            <a:extLst>
              <a:ext uri="{FF2B5EF4-FFF2-40B4-BE49-F238E27FC236}">
                <a16:creationId xmlns:a16="http://schemas.microsoft.com/office/drawing/2014/main" id="{C0CC4D77-D0C0-4971-8413-D7C547A47D6F}"/>
              </a:ext>
            </a:extLst>
          </p:cNvPr>
          <p:cNvSpPr>
            <a:spLocks noGrp="1"/>
          </p:cNvSpPr>
          <p:nvPr/>
        </p:nvSpPr>
        <p:spPr>
          <a:xfrm>
            <a:off x="9144000" y="2362200"/>
            <a:ext cx="2438400" cy="1485900"/>
          </a:xfrm>
          <a:prstGeom prst="roundRect">
            <a:avLst>
              <a:gd name="adj" fmla="val 4487"/>
            </a:avLst>
          </a:prstGeom>
          <a:solidFill>
            <a:srgbClr val="DDEBFA"/>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Условие выполнено</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Перевод</a:t>
            </a:r>
            <a:br>
              <a:rPr sz="1650">
                <a:solidFill>
                  <a:srgbClr val="263746"/>
                </a:solidFill>
                <a:latin typeface="Calibri"/>
                <a:ea typeface="Calibri"/>
                <a:cs typeface="Calibri"/>
              </a:rPr>
            </a:br>
            <a:r>
              <a:rPr sz="1650">
                <a:solidFill>
                  <a:srgbClr val="263746"/>
                </a:solidFill>
                <a:latin typeface="Calibri"/>
                <a:ea typeface="Calibri"/>
                <a:cs typeface="Calibri"/>
              </a:rPr>
              <a:t>цифровых рублей</a:t>
            </a:r>
          </a:p>
        </p:txBody>
      </p:sp>
      <p:sp>
        <p:nvSpPr>
          <p:cNvPr id="18" name="await-condition">
            <a:extLst>
              <a:ext uri="{FF2B5EF4-FFF2-40B4-BE49-F238E27FC236}">
                <a16:creationId xmlns:a16="http://schemas.microsoft.com/office/drawing/2014/main" id="{ECF1E6EA-F8FC-4539-9227-A36CB1AB79A8}"/>
              </a:ext>
            </a:extLst>
          </p:cNvPr>
          <p:cNvSpPr>
            <a:spLocks noGrp="1"/>
          </p:cNvSpPr>
          <p:nvPr/>
        </p:nvSpPr>
        <p:spPr>
          <a:xfrm>
            <a:off x="6286500" y="4467225"/>
            <a:ext cx="2400300" cy="1028700"/>
          </a:xfrm>
          <a:prstGeom prst="roundRect">
            <a:avLst>
              <a:gd name="adj" fmla="val 6481"/>
            </a:avLst>
          </a:prstGeom>
          <a:solidFill>
            <a:srgbClr val="FFFFFF"/>
          </a:solidFill>
          <a:ln w="12383">
            <a:solidFill>
              <a:srgbClr val="536777"/>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Ожидание или спор</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Условие пока не выполнено</a:t>
            </a:r>
          </a:p>
        </p:txBody>
      </p:sp>
      <p:sp>
        <p:nvSpPr>
          <p:cNvPr id="20" name="no-label">
            <a:extLst>
              <a:ext uri="{FF2B5EF4-FFF2-40B4-BE49-F238E27FC236}">
                <a16:creationId xmlns:a16="http://schemas.microsoft.com/office/drawing/2014/main" id="{F83A19B8-5B8F-4995-9EAF-B3C828638C95}"/>
              </a:ext>
            </a:extLst>
          </p:cNvPr>
          <p:cNvSpPr>
            <a:spLocks noGrp="1"/>
          </p:cNvSpPr>
          <p:nvPr/>
        </p:nvSpPr>
        <p:spPr>
          <a:xfrm>
            <a:off x="7658100" y="4048125"/>
            <a:ext cx="1657350" cy="247650"/>
          </a:xfrm>
          <a:prstGeom prst="rect">
            <a:avLst/>
          </a:prstGeom>
          <a:noFill/>
          <a:ln w="0">
            <a:noFill/>
          </a:ln>
        </p:spPr>
        <p:txBody>
          <a:bodyPr wrap="square" lIns="0" tIns="0" rIns="0" bIns="0" anchor="t">
            <a:noAutofit/>
          </a:bodyPr>
          <a:lstStyle/>
          <a:p>
            <a:pPr algn="l">
              <a:defRPr sz="1275" b="0">
                <a:solidFill>
                  <a:srgbClr val="536777"/>
                </a:solidFill>
                <a:latin typeface="Calibri"/>
                <a:ea typeface="Calibri"/>
                <a:cs typeface="Calibri"/>
              </a:defRPr>
            </a:pPr>
            <a:r>
              <a:rPr sz="1275" b="0">
                <a:solidFill>
                  <a:srgbClr val="536777"/>
                </a:solidFill>
                <a:latin typeface="Calibri"/>
                <a:ea typeface="Calibri"/>
                <a:cs typeface="Calibri"/>
              </a:rPr>
              <a:t>Нет подтверждения</a:t>
            </a:r>
          </a:p>
        </p:txBody>
      </p:sp>
      <p:sp>
        <p:nvSpPr>
          <p:cNvPr id="21" name="event-quality">
            <a:extLst>
              <a:ext uri="{FF2B5EF4-FFF2-40B4-BE49-F238E27FC236}">
                <a16:creationId xmlns:a16="http://schemas.microsoft.com/office/drawing/2014/main" id="{32F9FCB1-75EA-44A2-A619-CB462E25904C}"/>
              </a:ext>
            </a:extLst>
          </p:cNvPr>
          <p:cNvSpPr>
            <a:spLocks noGrp="1"/>
          </p:cNvSpPr>
          <p:nvPr/>
        </p:nvSpPr>
        <p:spPr>
          <a:xfrm>
            <a:off x="609600" y="4514850"/>
            <a:ext cx="4857750" cy="666750"/>
          </a:xfrm>
          <a:prstGeom prst="rect">
            <a:avLst/>
          </a:prstGeom>
          <a:noFill/>
          <a:ln w="0">
            <a:noFill/>
          </a:ln>
        </p:spPr>
        <p:txBody>
          <a:bodyPr wrap="square" lIns="0" tIns="0" rIns="0" bIns="0" anchor="t">
            <a:noAutofit/>
          </a:bodyPr>
          <a:lstStyle/>
          <a:p>
            <a:pPr algn="l">
              <a:defRPr sz="1725" b="1">
                <a:solidFill>
                  <a:srgbClr val="071D33"/>
                </a:solidFill>
                <a:latin typeface="Calibri"/>
                <a:ea typeface="Calibri"/>
                <a:cs typeface="Calibri"/>
              </a:defRPr>
            </a:pPr>
            <a:r>
              <a:rPr sz="1725" b="1">
                <a:solidFill>
                  <a:srgbClr val="071D33"/>
                </a:solidFill>
                <a:latin typeface="Calibri"/>
                <a:ea typeface="Calibri"/>
                <a:cs typeface="Calibri"/>
              </a:rPr>
              <a:t>Качество внешних данных</a:t>
            </a:r>
          </a:p>
          <a:p>
            <a:pPr algn="l">
              <a:defRPr sz="1725" b="1">
                <a:solidFill>
                  <a:srgbClr val="071D33"/>
                </a:solidFill>
                <a:latin typeface="Calibri"/>
                <a:ea typeface="Calibri"/>
                <a:cs typeface="Calibri"/>
              </a:defRPr>
            </a:pPr>
            <a:r>
              <a:rPr sz="1725" b="1">
                <a:solidFill>
                  <a:srgbClr val="071D33"/>
                </a:solidFill>
                <a:latin typeface="Calibri"/>
                <a:ea typeface="Calibri"/>
                <a:cs typeface="Calibri"/>
              </a:rPr>
              <a:t>влияет на результат исполнения</a:t>
            </a:r>
          </a:p>
        </p:txBody>
      </p:sp>
    </p:spTree>
    <p:extLst>
      <p:ext uri="{BB962C8B-B14F-4D97-AF65-F5344CB8AC3E}">
        <p14:creationId xmlns:p14="http://schemas.microsoft.com/office/powerpoint/2010/main" val="635528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cxnSp>
        <p:nvCxnSpPr>
          <p:cNvPr id="24" name="Elbow Connector 23"/>
          <p:cNvCxnSpPr>
            <a:stCxn id="13" idx="2"/>
            <a:endCxn id="17" idx="0"/>
          </p:cNvCxnSpPr>
          <p:nvPr/>
        </p:nvCxnSpPr>
        <p:spPr>
          <a:xfrm flipH="1">
            <a:off x="5591175" y="3409950"/>
            <a:ext cx="4638675" cy="895350"/>
          </a:xfrm>
          <a:prstGeom prst="bentConnector4">
            <a:avLst>
              <a:gd name="adj1" fmla="val 0"/>
              <a:gd name="adj2" fmla="val 74468"/>
            </a:avLst>
          </a:prstGeom>
          <a:ln w="19050">
            <a:solidFill>
              <a:srgbClr val="008A82"/>
            </a:solidFill>
            <a:prstDash val="solid"/>
            <a:tailEnd type="triangle" w="sm" len="sm"/>
          </a:ln>
        </p:spPr>
      </p:cxnSp>
      <p:cxnSp>
        <p:nvCxnSpPr>
          <p:cNvPr id="25" name="Straight Arrow Connector 24"/>
          <p:cNvCxnSpPr>
            <a:stCxn id="17" idx="3"/>
            <a:endCxn id="18" idx="1"/>
          </p:cNvCxnSpPr>
          <p:nvPr/>
        </p:nvCxnSpPr>
        <p:spPr>
          <a:xfrm>
            <a:off x="7048500" y="4829175"/>
            <a:ext cx="1828800" cy="0"/>
          </a:xfrm>
          <a:prstGeom prst="straightConnector1">
            <a:avLst/>
          </a:prstGeom>
          <a:ln w="19050">
            <a:solidFill>
              <a:srgbClr val="075BCB"/>
            </a:solidFill>
            <a:prstDash val="solid"/>
            <a:tailEnd type="triangle" w="sm" len="sm"/>
          </a:ln>
        </p:spPr>
      </p:cxnSp>
      <p:cxnSp>
        <p:nvCxnSpPr>
          <p:cNvPr id="26" name="Straight Arrow Connector 25"/>
          <p:cNvCxnSpPr>
            <a:stCxn id="16" idx="3"/>
            <a:endCxn id="17" idx="1"/>
          </p:cNvCxnSpPr>
          <p:nvPr/>
        </p:nvCxnSpPr>
        <p:spPr>
          <a:xfrm>
            <a:off x="3276600" y="4829175"/>
            <a:ext cx="857250" cy="0"/>
          </a:xfrm>
          <a:prstGeom prst="straightConnector1">
            <a:avLst/>
          </a:prstGeom>
          <a:ln w="19050">
            <a:solidFill>
              <a:srgbClr val="536777"/>
            </a:solidFill>
            <a:prstDash val="solid"/>
            <a:tailEnd type="triangle" w="sm" len="sm"/>
          </a:ln>
        </p:spPr>
      </p:cxnSp>
      <p:cxnSp>
        <p:nvCxnSpPr>
          <p:cNvPr id="27" name="Straight Arrow Connector 26"/>
          <p:cNvCxnSpPr>
            <a:stCxn id="12" idx="3"/>
            <a:endCxn id="13" idx="1"/>
          </p:cNvCxnSpPr>
          <p:nvPr/>
        </p:nvCxnSpPr>
        <p:spPr>
          <a:xfrm>
            <a:off x="7048500" y="2914650"/>
            <a:ext cx="1828800" cy="0"/>
          </a:xfrm>
          <a:prstGeom prst="straightConnector1">
            <a:avLst/>
          </a:prstGeom>
          <a:ln w="19050">
            <a:solidFill>
              <a:srgbClr val="536777"/>
            </a:solidFill>
            <a:prstDash val="solid"/>
            <a:tailEnd type="triangle" w="sm" len="sm"/>
          </a:ln>
        </p:spPr>
      </p:cxnSp>
      <p:cxnSp>
        <p:nvCxnSpPr>
          <p:cNvPr id="28" name="Straight Arrow Connector 27"/>
          <p:cNvCxnSpPr>
            <a:stCxn id="11" idx="3"/>
            <a:endCxn id="12" idx="1"/>
          </p:cNvCxnSpPr>
          <p:nvPr/>
        </p:nvCxnSpPr>
        <p:spPr>
          <a:xfrm>
            <a:off x="3276600" y="2914650"/>
            <a:ext cx="857250" cy="0"/>
          </a:xfrm>
          <a:prstGeom prst="straightConnector1">
            <a:avLst/>
          </a:prstGeom>
          <a:ln w="19050">
            <a:solidFill>
              <a:srgbClr val="536777"/>
            </a:solidFill>
            <a:prstDash val="solid"/>
            <a:tailEnd type="triangle" w="sm" len="sm"/>
          </a:ln>
        </p:spPr>
      </p:cxnSp>
      <p:sp>
        <p:nvSpPr>
          <p:cNvPr id="29" name="reference-left-rule">
            <a:extLst>
              <a:ext uri="{FF2B5EF4-FFF2-40B4-BE49-F238E27FC236}">
                <a16:creationId xmlns:a16="http://schemas.microsoft.com/office/drawing/2014/main" id="{003302E4-656D-446D-8B79-0F810E8E516D}"/>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2A982F48-4A42-4B6F-A7E0-5130620EA73B}"/>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D39D5F3F-56C8-44A2-86EA-3F1B84C3899C}"/>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defRPr sz="975" b="1">
                <a:solidFill>
                  <a:srgbClr val="075BCB"/>
                </a:solidFill>
                <a:latin typeface="Calibri"/>
                <a:ea typeface="Calibri"/>
                <a:cs typeface="Calibri"/>
              </a:defRPr>
            </a:pPr>
            <a:r>
              <a:rPr sz="975" b="1">
                <a:solidFill>
                  <a:srgbClr val="075BCB"/>
                </a:solidFill>
                <a:latin typeface="Calibri"/>
                <a:ea typeface="Calibri"/>
                <a:cs typeface="Calibri"/>
              </a:rPr>
              <a:t>ДОПОЛНЕНИЕ 4. КОНЦЕПЦИЯ БАНКА РОССИИ</a:t>
            </a:r>
          </a:p>
        </p:txBody>
      </p:sp>
      <p:sp>
        <p:nvSpPr>
          <p:cNvPr id="4" name="title">
            <a:extLst>
              <a:ext uri="{FF2B5EF4-FFF2-40B4-BE49-F238E27FC236}">
                <a16:creationId xmlns:a16="http://schemas.microsoft.com/office/drawing/2014/main" id="{8A41B568-D02F-48BE-8F0C-90E640842F4F}"/>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defRPr sz="2325" b="1">
                <a:solidFill>
                  <a:srgbClr val="071D33"/>
                </a:solidFill>
                <a:latin typeface="Calibri"/>
                <a:ea typeface="Calibri"/>
                <a:cs typeface="Calibri"/>
              </a:defRPr>
            </a:pPr>
            <a:r>
              <a:rPr sz="2325" b="1">
                <a:solidFill>
                  <a:srgbClr val="071D33"/>
                </a:solidFill>
                <a:latin typeface="Calibri"/>
                <a:ea typeface="Calibri"/>
                <a:cs typeface="Calibri"/>
              </a:rPr>
              <a:t>Платформа коммерческих смарт-контрактов</a:t>
            </a:r>
          </a:p>
        </p:txBody>
      </p:sp>
      <p:sp>
        <p:nvSpPr>
          <p:cNvPr id="5" name="page-number">
            <a:extLst>
              <a:ext uri="{FF2B5EF4-FFF2-40B4-BE49-F238E27FC236}">
                <a16:creationId xmlns:a16="http://schemas.microsoft.com/office/drawing/2014/main" id="{E4E1B818-9B4F-4228-921F-D036D966D8D4}"/>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defRPr sz="975" b="1">
                <a:solidFill>
                  <a:srgbClr val="FFFFFF"/>
                </a:solidFill>
                <a:latin typeface="Calibri"/>
                <a:ea typeface="Calibri"/>
                <a:cs typeface="Calibri"/>
              </a:defRPr>
            </a:pPr>
            <a:r>
              <a:rPr sz="975" b="1">
                <a:solidFill>
                  <a:srgbClr val="FFFFFF"/>
                </a:solidFill>
                <a:latin typeface="Calibri"/>
                <a:ea typeface="Calibri"/>
                <a:cs typeface="Calibri"/>
              </a:rPr>
              <a:t>15</a:t>
            </a:r>
          </a:p>
        </p:txBody>
      </p:sp>
      <p:sp>
        <p:nvSpPr>
          <p:cNvPr id="6" name="heading-divider">
            <a:extLst>
              <a:ext uri="{FF2B5EF4-FFF2-40B4-BE49-F238E27FC236}">
                <a16:creationId xmlns:a16="http://schemas.microsoft.com/office/drawing/2014/main" id="{F2D9FF27-4471-4FF5-87D5-68D7ED39FA35}"/>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EAD3ACEF-B87B-4BAF-86DA-DF140EE86DCA}"/>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CCA26E0A-A7B7-499B-827F-6D9BE61F0BD2}"/>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defRPr sz="1500" b="1">
                <a:solidFill>
                  <a:srgbClr val="071D33"/>
                </a:solidFill>
                <a:latin typeface="Calibri"/>
                <a:ea typeface="Calibri"/>
                <a:cs typeface="Calibri"/>
              </a:defRPr>
            </a:pPr>
            <a:r>
              <a:rPr sz="1500" b="1">
                <a:solidFill>
                  <a:srgbClr val="071D33"/>
                </a:solidFill>
                <a:latin typeface="Calibri"/>
                <a:ea typeface="Calibri"/>
                <a:cs typeface="Calibri"/>
              </a:rPr>
              <a:t>Среда исполнения формирует распоряжение. Платформа цифрового рубля проводит перевод.</a:t>
            </a:r>
          </a:p>
        </p:txBody>
      </p:sp>
      <p:sp>
        <p:nvSpPr>
          <p:cNvPr id="9" name="sources">
            <a:extLst>
              <a:ext uri="{FF2B5EF4-FFF2-40B4-BE49-F238E27FC236}">
                <a16:creationId xmlns:a16="http://schemas.microsoft.com/office/drawing/2014/main" id="{98E6E1AC-5A1E-4E9C-8ABB-D628F081915D}"/>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lgn="l">
              <a:defRPr sz="900" b="0">
                <a:solidFill>
                  <a:srgbClr val="536777"/>
                </a:solidFill>
                <a:latin typeface="Calibri"/>
                <a:ea typeface="Calibri"/>
                <a:cs typeface="Calibri"/>
              </a:defRPr>
            </a:pPr>
            <a:r>
              <a:rPr sz="900" b="0">
                <a:solidFill>
                  <a:srgbClr val="536777"/>
                </a:solidFill>
                <a:latin typeface="Calibri"/>
                <a:ea typeface="Calibri"/>
                <a:cs typeface="Calibri"/>
                <a:hlinkClick r:id="rId3"/>
              </a:rPr>
              <a:t>Банк России, концепция ПКСК, 18.06.2026</a:t>
            </a:r>
            <a:r>
              <a:rPr sz="900" b="0">
                <a:solidFill>
                  <a:srgbClr val="536777"/>
                </a:solidFill>
                <a:latin typeface="Calibri"/>
                <a:ea typeface="Calibri"/>
                <a:cs typeface="Calibri"/>
              </a:rPr>
              <a:t>   </a:t>
            </a:r>
            <a:r>
              <a:rPr sz="900" b="0">
                <a:solidFill>
                  <a:srgbClr val="536777"/>
                </a:solidFill>
                <a:latin typeface="Calibri"/>
                <a:ea typeface="Calibri"/>
                <a:cs typeface="Calibri"/>
                <a:hlinkClick r:id="rId4"/>
              </a:rPr>
              <a:t>CNews, смарт-контракты</a:t>
            </a:r>
          </a:p>
        </p:txBody>
      </p:sp>
      <p:sp>
        <p:nvSpPr>
          <p:cNvPr id="10" name="concept-status">
            <a:extLst>
              <a:ext uri="{FF2B5EF4-FFF2-40B4-BE49-F238E27FC236}">
                <a16:creationId xmlns:a16="http://schemas.microsoft.com/office/drawing/2014/main" id="{4BFB81FD-3E76-459E-89A4-21387CCEC49D}"/>
              </a:ext>
            </a:extLst>
          </p:cNvPr>
          <p:cNvSpPr>
            <a:spLocks noGrp="1"/>
          </p:cNvSpPr>
          <p:nvPr/>
        </p:nvSpPr>
        <p:spPr>
          <a:xfrm>
            <a:off x="609600" y="1743075"/>
            <a:ext cx="10972800" cy="285750"/>
          </a:xfrm>
          <a:prstGeom prst="rect">
            <a:avLst/>
          </a:prstGeom>
          <a:noFill/>
          <a:ln w="0">
            <a:noFill/>
          </a:ln>
        </p:spPr>
        <p:txBody>
          <a:bodyPr wrap="square" lIns="0" tIns="0" rIns="0" bIns="0" anchor="t">
            <a:noAutofit/>
          </a:bodyPr>
          <a:lstStyle/>
          <a:p>
            <a:pPr algn="l">
              <a:defRPr sz="1575" b="1">
                <a:solidFill>
                  <a:srgbClr val="075BCB"/>
                </a:solidFill>
                <a:latin typeface="Calibri"/>
                <a:ea typeface="Calibri"/>
                <a:cs typeface="Calibri"/>
              </a:defRPr>
            </a:pPr>
            <a:r>
              <a:rPr sz="1575" b="1">
                <a:solidFill>
                  <a:srgbClr val="075BCB"/>
                </a:solidFill>
                <a:latin typeface="Calibri"/>
                <a:ea typeface="Calibri"/>
                <a:cs typeface="Calibri"/>
              </a:rPr>
              <a:t>Предлагаемая модель. Концепция для обсуждения</a:t>
            </a:r>
          </a:p>
        </p:txBody>
      </p:sp>
      <p:sp>
        <p:nvSpPr>
          <p:cNvPr id="11" name="developer">
            <a:extLst>
              <a:ext uri="{FF2B5EF4-FFF2-40B4-BE49-F238E27FC236}">
                <a16:creationId xmlns:a16="http://schemas.microsoft.com/office/drawing/2014/main" id="{2BA496FF-6C34-4091-BC7F-B65D806E2D22}"/>
              </a:ext>
            </a:extLst>
          </p:cNvPr>
          <p:cNvSpPr>
            <a:spLocks noGrp="1"/>
          </p:cNvSpPr>
          <p:nvPr/>
        </p:nvSpPr>
        <p:spPr>
          <a:xfrm>
            <a:off x="609600" y="2419350"/>
            <a:ext cx="2667000" cy="990600"/>
          </a:xfrm>
          <a:prstGeom prst="roundRect">
            <a:avLst>
              <a:gd name="adj" fmla="val 6731"/>
            </a:avLst>
          </a:prstGeom>
          <a:solidFill>
            <a:srgbClr val="FFFFFF"/>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Разработчик</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Логика и код</a:t>
            </a:r>
          </a:p>
        </p:txBody>
      </p:sp>
      <p:sp>
        <p:nvSpPr>
          <p:cNvPr id="12" name="prepublication-check">
            <a:extLst>
              <a:ext uri="{FF2B5EF4-FFF2-40B4-BE49-F238E27FC236}">
                <a16:creationId xmlns:a16="http://schemas.microsoft.com/office/drawing/2014/main" id="{0ECF59A7-D324-46E7-A451-3820696AE0ED}"/>
              </a:ext>
            </a:extLst>
          </p:cNvPr>
          <p:cNvSpPr>
            <a:spLocks noGrp="1"/>
          </p:cNvSpPr>
          <p:nvPr/>
        </p:nvSpPr>
        <p:spPr>
          <a:xfrm>
            <a:off x="4133850" y="2419350"/>
            <a:ext cx="2914650" cy="990600"/>
          </a:xfrm>
          <a:prstGeom prst="roundRect">
            <a:avLst>
              <a:gd name="adj" fmla="val 6731"/>
            </a:avLst>
          </a:prstGeom>
          <a:solidFill>
            <a:srgbClr val="FFFFFF"/>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Проверка</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Логика, законность</a:t>
            </a:r>
            <a:br>
              <a:rPr sz="1650">
                <a:solidFill>
                  <a:srgbClr val="263746"/>
                </a:solidFill>
                <a:latin typeface="Calibri"/>
                <a:ea typeface="Calibri"/>
                <a:cs typeface="Calibri"/>
              </a:rPr>
            </a:br>
            <a:r>
              <a:rPr sz="1650">
                <a:solidFill>
                  <a:srgbClr val="263746"/>
                </a:solidFill>
                <a:latin typeface="Calibri"/>
                <a:ea typeface="Calibri"/>
                <a:cs typeface="Calibri"/>
              </a:rPr>
              <a:t>и безопасность</a:t>
            </a:r>
          </a:p>
        </p:txBody>
      </p:sp>
      <p:sp>
        <p:nvSpPr>
          <p:cNvPr id="13" name="contract-catalog">
            <a:extLst>
              <a:ext uri="{FF2B5EF4-FFF2-40B4-BE49-F238E27FC236}">
                <a16:creationId xmlns:a16="http://schemas.microsoft.com/office/drawing/2014/main" id="{017AD04B-974A-4D7D-9158-3F1EB0943182}"/>
              </a:ext>
            </a:extLst>
          </p:cNvPr>
          <p:cNvSpPr>
            <a:spLocks noGrp="1"/>
          </p:cNvSpPr>
          <p:nvPr/>
        </p:nvSpPr>
        <p:spPr>
          <a:xfrm>
            <a:off x="8877300" y="2419350"/>
            <a:ext cx="2705100" cy="990600"/>
          </a:xfrm>
          <a:prstGeom prst="roundRect">
            <a:avLst>
              <a:gd name="adj" fmla="val 6731"/>
            </a:avLst>
          </a:prstGeom>
          <a:solidFill>
            <a:srgbClr val="DDF2EF"/>
          </a:solidFill>
          <a:ln w="12383">
            <a:solidFill>
              <a:srgbClr val="008A82"/>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Витрина контрактов</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Описание, условия и</a:t>
            </a:r>
            <a:br>
              <a:rPr sz="1650">
                <a:solidFill>
                  <a:srgbClr val="263746"/>
                </a:solidFill>
                <a:latin typeface="Calibri"/>
                <a:ea typeface="Calibri"/>
                <a:cs typeface="Calibri"/>
              </a:rPr>
            </a:br>
            <a:r>
              <a:rPr sz="1650">
                <a:solidFill>
                  <a:srgbClr val="263746"/>
                </a:solidFill>
                <a:latin typeface="Calibri"/>
                <a:ea typeface="Calibri"/>
                <a:cs typeface="Calibri"/>
              </a:rPr>
              <a:t>источники данных</a:t>
            </a:r>
          </a:p>
        </p:txBody>
      </p:sp>
      <p:sp>
        <p:nvSpPr>
          <p:cNvPr id="16" name="trusted-data-providers">
            <a:extLst>
              <a:ext uri="{FF2B5EF4-FFF2-40B4-BE49-F238E27FC236}">
                <a16:creationId xmlns:a16="http://schemas.microsoft.com/office/drawing/2014/main" id="{6B89DBEB-DC62-4AEF-8D31-BE167B735196}"/>
              </a:ext>
            </a:extLst>
          </p:cNvPr>
          <p:cNvSpPr>
            <a:spLocks noGrp="1"/>
          </p:cNvSpPr>
          <p:nvPr/>
        </p:nvSpPr>
        <p:spPr>
          <a:xfrm>
            <a:off x="609600" y="4305300"/>
            <a:ext cx="2667000" cy="1047750"/>
          </a:xfrm>
          <a:prstGeom prst="roundRect">
            <a:avLst>
              <a:gd name="adj" fmla="val 6364"/>
            </a:avLst>
          </a:prstGeom>
          <a:solidFill>
            <a:srgbClr val="FFFFFF"/>
          </a:solidFill>
          <a:ln w="12383">
            <a:solidFill>
              <a:srgbClr val="536777"/>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Доверенные данные</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Государственные и</a:t>
            </a:r>
            <a:br>
              <a:rPr sz="1650">
                <a:solidFill>
                  <a:srgbClr val="263746"/>
                </a:solidFill>
                <a:latin typeface="Calibri"/>
                <a:ea typeface="Calibri"/>
                <a:cs typeface="Calibri"/>
              </a:rPr>
            </a:br>
            <a:r>
              <a:rPr sz="1650">
                <a:solidFill>
                  <a:srgbClr val="263746"/>
                </a:solidFill>
                <a:latin typeface="Calibri"/>
                <a:ea typeface="Calibri"/>
                <a:cs typeface="Calibri"/>
              </a:rPr>
              <a:t>коммерческие системы</a:t>
            </a:r>
          </a:p>
        </p:txBody>
      </p:sp>
      <p:sp>
        <p:nvSpPr>
          <p:cNvPr id="17" name="commercial-execution">
            <a:extLst>
              <a:ext uri="{FF2B5EF4-FFF2-40B4-BE49-F238E27FC236}">
                <a16:creationId xmlns:a16="http://schemas.microsoft.com/office/drawing/2014/main" id="{F88562B9-0557-42BD-8EBF-576DAA5AFA59}"/>
              </a:ext>
            </a:extLst>
          </p:cNvPr>
          <p:cNvSpPr>
            <a:spLocks noGrp="1"/>
          </p:cNvSpPr>
          <p:nvPr/>
        </p:nvSpPr>
        <p:spPr>
          <a:xfrm>
            <a:off x="4133850" y="4305300"/>
            <a:ext cx="2914650" cy="1047750"/>
          </a:xfrm>
          <a:prstGeom prst="roundRect">
            <a:avLst>
              <a:gd name="adj" fmla="val 6364"/>
            </a:avLst>
          </a:prstGeom>
          <a:solidFill>
            <a:srgbClr val="DDF2EF"/>
          </a:solidFill>
          <a:ln w="12383">
            <a:solidFill>
              <a:srgbClr val="008A82"/>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Среда исполнения ПКСК</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Проверка условий</a:t>
            </a:r>
            <a:br>
              <a:rPr sz="1650">
                <a:solidFill>
                  <a:srgbClr val="263746"/>
                </a:solidFill>
                <a:latin typeface="Calibri"/>
                <a:ea typeface="Calibri"/>
                <a:cs typeface="Calibri"/>
              </a:rPr>
            </a:br>
            <a:r>
              <a:rPr sz="1650">
                <a:solidFill>
                  <a:srgbClr val="263746"/>
                </a:solidFill>
                <a:latin typeface="Calibri"/>
                <a:ea typeface="Calibri"/>
                <a:cs typeface="Calibri"/>
              </a:rPr>
              <a:t>выбранного контракта</a:t>
            </a:r>
          </a:p>
        </p:txBody>
      </p:sp>
      <p:sp>
        <p:nvSpPr>
          <p:cNvPr id="18" name="central-bank-ledger">
            <a:extLst>
              <a:ext uri="{FF2B5EF4-FFF2-40B4-BE49-F238E27FC236}">
                <a16:creationId xmlns:a16="http://schemas.microsoft.com/office/drawing/2014/main" id="{7DB988E1-36EC-442D-A430-259593A15DFE}"/>
              </a:ext>
            </a:extLst>
          </p:cNvPr>
          <p:cNvSpPr>
            <a:spLocks noGrp="1"/>
          </p:cNvSpPr>
          <p:nvPr/>
        </p:nvSpPr>
        <p:spPr>
          <a:xfrm>
            <a:off x="8877300" y="4305300"/>
            <a:ext cx="2705100" cy="1047750"/>
          </a:xfrm>
          <a:prstGeom prst="roundRect">
            <a:avLst>
              <a:gd name="adj" fmla="val 6364"/>
            </a:avLst>
          </a:prstGeom>
          <a:solidFill>
            <a:srgbClr val="DDEBFA"/>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Платформа цифрового рубля</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Учёт средств и перевод</a:t>
            </a:r>
          </a:p>
        </p:txBody>
      </p:sp>
      <p:sp>
        <p:nvSpPr>
          <p:cNvPr id="22" name="payment-order-label">
            <a:extLst>
              <a:ext uri="{FF2B5EF4-FFF2-40B4-BE49-F238E27FC236}">
                <a16:creationId xmlns:a16="http://schemas.microsoft.com/office/drawing/2014/main" id="{846B5378-AD5F-4D3B-80D8-B58C452F2ABE}"/>
              </a:ext>
            </a:extLst>
          </p:cNvPr>
          <p:cNvSpPr>
            <a:spLocks noGrp="1"/>
          </p:cNvSpPr>
          <p:nvPr/>
        </p:nvSpPr>
        <p:spPr>
          <a:xfrm>
            <a:off x="7277100" y="4410075"/>
            <a:ext cx="1362075" cy="476250"/>
          </a:xfrm>
          <a:prstGeom prst="rect">
            <a:avLst/>
          </a:prstGeom>
          <a:noFill/>
          <a:ln w="0">
            <a:noFill/>
          </a:ln>
        </p:spPr>
        <p:txBody>
          <a:bodyPr wrap="square" lIns="0" tIns="0" rIns="0" bIns="0" anchor="t">
            <a:noAutofit/>
          </a:bodyPr>
          <a:lstStyle/>
          <a:p>
            <a:pPr algn="ctr">
              <a:defRPr sz="1275" b="1">
                <a:solidFill>
                  <a:srgbClr val="075BCB"/>
                </a:solidFill>
                <a:latin typeface="Calibri"/>
                <a:ea typeface="Calibri"/>
                <a:cs typeface="Calibri"/>
              </a:defRPr>
            </a:pPr>
            <a:r>
              <a:rPr sz="1275" b="1">
                <a:solidFill>
                  <a:srgbClr val="075BCB"/>
                </a:solidFill>
                <a:latin typeface="Calibri"/>
                <a:ea typeface="Calibri"/>
                <a:cs typeface="Calibri"/>
              </a:rPr>
              <a:t>Распоряжение</a:t>
            </a:r>
          </a:p>
          <a:p>
            <a:pPr algn="ctr">
              <a:defRPr sz="1275" b="1">
                <a:solidFill>
                  <a:srgbClr val="075BCB"/>
                </a:solidFill>
                <a:latin typeface="Calibri"/>
                <a:ea typeface="Calibri"/>
                <a:cs typeface="Calibri"/>
              </a:defRPr>
            </a:pPr>
            <a:r>
              <a:rPr sz="1275" b="1">
                <a:solidFill>
                  <a:srgbClr val="075BCB"/>
                </a:solidFill>
                <a:latin typeface="Calibri"/>
                <a:ea typeface="Calibri"/>
                <a:cs typeface="Calibri"/>
              </a:rPr>
              <a:t>о переводе</a:t>
            </a:r>
          </a:p>
        </p:txBody>
      </p:sp>
      <p:sp>
        <p:nvSpPr>
          <p:cNvPr id="23" name="selection-label">
            <a:extLst>
              <a:ext uri="{FF2B5EF4-FFF2-40B4-BE49-F238E27FC236}">
                <a16:creationId xmlns:a16="http://schemas.microsoft.com/office/drawing/2014/main" id="{22790756-53A8-42CD-8EBB-9A74BEB5FC34}"/>
              </a:ext>
            </a:extLst>
          </p:cNvPr>
          <p:cNvSpPr>
            <a:spLocks noGrp="1"/>
          </p:cNvSpPr>
          <p:nvPr/>
        </p:nvSpPr>
        <p:spPr>
          <a:xfrm>
            <a:off x="7181850" y="3686175"/>
            <a:ext cx="1543050" cy="266700"/>
          </a:xfrm>
          <a:prstGeom prst="rect">
            <a:avLst/>
          </a:prstGeom>
          <a:noFill/>
          <a:ln w="0">
            <a:noFill/>
          </a:ln>
        </p:spPr>
        <p:txBody>
          <a:bodyPr wrap="square" lIns="0" tIns="0" rIns="0" bIns="0" anchor="t">
            <a:noAutofit/>
          </a:bodyPr>
          <a:lstStyle/>
          <a:p>
            <a:pPr algn="ctr">
              <a:defRPr sz="1275" b="1">
                <a:solidFill>
                  <a:srgbClr val="008A82"/>
                </a:solidFill>
                <a:latin typeface="Calibri"/>
                <a:ea typeface="Calibri"/>
                <a:cs typeface="Calibri"/>
              </a:defRPr>
            </a:pPr>
            <a:r>
              <a:rPr sz="1275" b="1">
                <a:solidFill>
                  <a:srgbClr val="008A82"/>
                </a:solidFill>
                <a:latin typeface="Calibri"/>
                <a:ea typeface="Calibri"/>
                <a:cs typeface="Calibri"/>
              </a:rPr>
              <a:t>Выбор и запуск</a:t>
            </a:r>
          </a:p>
        </p:txBody>
      </p:sp>
    </p:spTree>
    <p:extLst>
      <p:ext uri="{BB962C8B-B14F-4D97-AF65-F5344CB8AC3E}">
        <p14:creationId xmlns:p14="http://schemas.microsoft.com/office/powerpoint/2010/main" val="2084992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11" name="reference-left-rule">
            <a:extLst>
              <a:ext uri="{FF2B5EF4-FFF2-40B4-BE49-F238E27FC236}">
                <a16:creationId xmlns:a16="http://schemas.microsoft.com/office/drawing/2014/main" id="{342ABBD6-5BAD-44F3-8952-871F873DFE92}"/>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A2A75267-F610-4CF1-A5DA-4EDF24E191C1}"/>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AB32D88A-AA06-4CC3-BBEA-107ED9A5B971}"/>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defRPr sz="975" b="1">
                <a:solidFill>
                  <a:srgbClr val="075BCB"/>
                </a:solidFill>
                <a:latin typeface="Calibri"/>
                <a:ea typeface="Calibri"/>
                <a:cs typeface="Calibri"/>
              </a:defRPr>
            </a:pPr>
            <a:r>
              <a:rPr sz="975" b="1">
                <a:solidFill>
                  <a:srgbClr val="075BCB"/>
                </a:solidFill>
                <a:latin typeface="Calibri"/>
                <a:ea typeface="Calibri"/>
                <a:cs typeface="Calibri"/>
              </a:rPr>
              <a:t>ДОПОЛНЕНИЕ 5. ИСПОЛНЕНИЕ И ОТВЕТСТВЕННОСТЬ</a:t>
            </a:r>
          </a:p>
        </p:txBody>
      </p:sp>
      <p:sp>
        <p:nvSpPr>
          <p:cNvPr id="4" name="title">
            <a:extLst>
              <a:ext uri="{FF2B5EF4-FFF2-40B4-BE49-F238E27FC236}">
                <a16:creationId xmlns:a16="http://schemas.microsoft.com/office/drawing/2014/main" id="{AD6AFE8B-934A-4BB1-AFB8-9EE9C6E67FDF}"/>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defRPr sz="2325" b="1">
                <a:solidFill>
                  <a:srgbClr val="071D33"/>
                </a:solidFill>
                <a:latin typeface="Calibri"/>
                <a:ea typeface="Calibri"/>
                <a:cs typeface="Calibri"/>
              </a:defRPr>
            </a:pPr>
            <a:r>
              <a:rPr sz="2325" b="1">
                <a:solidFill>
                  <a:srgbClr val="071D33"/>
                </a:solidFill>
                <a:latin typeface="Calibri"/>
                <a:ea typeface="Calibri"/>
                <a:cs typeface="Calibri"/>
              </a:rPr>
              <a:t>Риски автоматического исполнения сделки</a:t>
            </a:r>
          </a:p>
        </p:txBody>
      </p:sp>
      <p:sp>
        <p:nvSpPr>
          <p:cNvPr id="5" name="page-number">
            <a:extLst>
              <a:ext uri="{FF2B5EF4-FFF2-40B4-BE49-F238E27FC236}">
                <a16:creationId xmlns:a16="http://schemas.microsoft.com/office/drawing/2014/main" id="{8DB9058C-8325-4F71-84F4-F1E3D4CD1CBB}"/>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defRPr sz="975" b="1">
                <a:solidFill>
                  <a:srgbClr val="FFFFFF"/>
                </a:solidFill>
                <a:latin typeface="Calibri"/>
                <a:ea typeface="Calibri"/>
                <a:cs typeface="Calibri"/>
              </a:defRPr>
            </a:pPr>
            <a:r>
              <a:rPr sz="975" b="1">
                <a:solidFill>
                  <a:srgbClr val="FFFFFF"/>
                </a:solidFill>
                <a:latin typeface="Calibri"/>
                <a:ea typeface="Calibri"/>
                <a:cs typeface="Calibri"/>
              </a:rPr>
              <a:t>16</a:t>
            </a:r>
          </a:p>
        </p:txBody>
      </p:sp>
      <p:sp>
        <p:nvSpPr>
          <p:cNvPr id="6" name="heading-divider">
            <a:extLst>
              <a:ext uri="{FF2B5EF4-FFF2-40B4-BE49-F238E27FC236}">
                <a16:creationId xmlns:a16="http://schemas.microsoft.com/office/drawing/2014/main" id="{32D0CD2E-192E-41FF-82D0-3FE119753291}"/>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ED828C09-105A-4E0A-9A31-B2149FC3DBBB}"/>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47D2002A-9311-4C32-ACBE-5B2CEFD7C0F5}"/>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defRPr sz="1500" b="1">
                <a:solidFill>
                  <a:srgbClr val="071D33"/>
                </a:solidFill>
                <a:latin typeface="Calibri"/>
                <a:ea typeface="Calibri"/>
                <a:cs typeface="Calibri"/>
              </a:defRPr>
            </a:pPr>
            <a:r>
              <a:rPr sz="1500" b="1">
                <a:solidFill>
                  <a:srgbClr val="071D33"/>
                </a:solidFill>
                <a:latin typeface="Calibri"/>
                <a:ea typeface="Calibri"/>
                <a:cs typeface="Calibri"/>
              </a:rPr>
              <a:t>Правила обработки исключений и ответственность сторон остаются частью договора.</a:t>
            </a:r>
          </a:p>
        </p:txBody>
      </p:sp>
      <p:sp>
        <p:nvSpPr>
          <p:cNvPr id="9" name="sources">
            <a:extLst>
              <a:ext uri="{FF2B5EF4-FFF2-40B4-BE49-F238E27FC236}">
                <a16:creationId xmlns:a16="http://schemas.microsoft.com/office/drawing/2014/main" id="{4AA3E6D0-3C0C-45EB-8123-3D4C8BF2E160}"/>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lgn="l">
              <a:defRPr sz="900" b="0">
                <a:solidFill>
                  <a:srgbClr val="536777"/>
                </a:solidFill>
                <a:latin typeface="Calibri"/>
                <a:ea typeface="Calibri"/>
                <a:cs typeface="Calibri"/>
              </a:defRPr>
            </a:pPr>
            <a:r>
              <a:rPr sz="900" b="0">
                <a:solidFill>
                  <a:srgbClr val="536777"/>
                </a:solidFill>
                <a:latin typeface="Calibri"/>
                <a:ea typeface="Calibri"/>
                <a:cs typeface="Calibri"/>
                <a:hlinkClick r:id="rId3"/>
              </a:rPr>
              <a:t>CNews, смарт-контракты</a:t>
            </a:r>
          </a:p>
        </p:txBody>
      </p:sp>
      <p:graphicFrame>
        <p:nvGraphicFramePr>
          <p:cNvPr id="20" name="Table 19"/>
          <p:cNvGraphicFramePr/>
          <p:nvPr/>
        </p:nvGraphicFramePr>
        <p:xfrm>
          <a:off x="609600" y="1981200"/>
          <a:ext cx="10972800" cy="3590925"/>
        </p:xfrm>
        <a:graphic>
          <a:graphicData uri="http://schemas.openxmlformats.org/drawingml/2006/table">
            <a:tbl>
              <a:tblPr firstRow="1"/>
              <a:tblGrid>
                <a:gridCol w="207645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447675">
                <a:tc>
                  <a:txBody>
                    <a:bodyPr/>
                    <a:lstStyle/>
                    <a:p>
                      <a:pPr algn="l"/>
                      <a:r>
                        <a:rPr sz="1350" b="1">
                          <a:solidFill>
                            <a:srgbClr val="FFFFFF"/>
                          </a:solidFill>
                          <a:latin typeface="Calibri"/>
                          <a:ea typeface="Calibri"/>
                          <a:cs typeface="Calibri"/>
                        </a:rPr>
                        <a:t>Источник риска</a:t>
                      </a:r>
                    </a:p>
                  </a:txBody>
                  <a:tcPr marL="133350" marR="133350" marT="95250" marB="95250" anchor="ctr">
                    <a:solidFill>
                      <a:srgbClr val="071D33"/>
                    </a:solidFill>
                  </a:tcPr>
                </a:tc>
                <a:tc>
                  <a:txBody>
                    <a:bodyPr/>
                    <a:lstStyle/>
                    <a:p>
                      <a:pPr algn="l"/>
                      <a:r>
                        <a:rPr sz="1350" b="1">
                          <a:solidFill>
                            <a:srgbClr val="FFFFFF"/>
                          </a:solidFill>
                          <a:latin typeface="Calibri"/>
                          <a:ea typeface="Calibri"/>
                          <a:cs typeface="Calibri"/>
                        </a:rPr>
                        <a:t>Что может пойти не так</a:t>
                      </a:r>
                    </a:p>
                  </a:txBody>
                  <a:tcPr marL="133350" marR="133350" marT="95250" marB="95250" anchor="ctr">
                    <a:solidFill>
                      <a:srgbClr val="071D33"/>
                    </a:solidFill>
                  </a:tcPr>
                </a:tc>
                <a:tc>
                  <a:txBody>
                    <a:bodyPr/>
                    <a:lstStyle/>
                    <a:p>
                      <a:pPr algn="l"/>
                      <a:r>
                        <a:rPr sz="1350" b="1">
                          <a:solidFill>
                            <a:srgbClr val="FFFFFF"/>
                          </a:solidFill>
                          <a:latin typeface="Calibri"/>
                          <a:ea typeface="Calibri"/>
                          <a:cs typeface="Calibri"/>
                        </a:rPr>
                        <a:t>Что определить заранее</a:t>
                      </a:r>
                    </a:p>
                  </a:txBody>
                  <a:tcPr marL="133350" marR="133350" marT="95250" marB="95250" anchor="ctr">
                    <a:solidFill>
                      <a:srgbClr val="071D33"/>
                    </a:solidFill>
                  </a:tcPr>
                </a:tc>
                <a:extLst>
                  <a:ext uri="{0D108BD9-81ED-4DB2-BD59-A6C34878D82A}">
                    <a16:rowId xmlns:a16="http://schemas.microsoft.com/office/drawing/2014/main" val="10000"/>
                  </a:ext>
                </a:extLst>
              </a:tr>
              <a:tr h="581025">
                <a:tc>
                  <a:txBody>
                    <a:bodyPr/>
                    <a:lstStyle/>
                    <a:p>
                      <a:pPr algn="l"/>
                      <a:r>
                        <a:rPr sz="1500" b="1">
                          <a:solidFill>
                            <a:srgbClr val="075BCB"/>
                          </a:solidFill>
                          <a:latin typeface="Calibri"/>
                          <a:ea typeface="Calibri"/>
                          <a:cs typeface="Calibri"/>
                        </a:rPr>
                        <a:t>Код</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Условие допускает ошибочный перевод</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Проверка логики и тестовые сценарии</a:t>
                      </a:r>
                    </a:p>
                  </a:txBody>
                  <a:tcPr marL="133350" marR="133350" marT="95250" marB="95250" anchor="ctr">
                    <a:solidFill>
                      <a:srgbClr val="FFFFFF"/>
                    </a:solidFill>
                  </a:tcPr>
                </a:tc>
                <a:extLst>
                  <a:ext uri="{0D108BD9-81ED-4DB2-BD59-A6C34878D82A}">
                    <a16:rowId xmlns:a16="http://schemas.microsoft.com/office/drawing/2014/main" val="10001"/>
                  </a:ext>
                </a:extLst>
              </a:tr>
              <a:tr h="685800">
                <a:tc>
                  <a:txBody>
                    <a:bodyPr/>
                    <a:lstStyle/>
                    <a:p>
                      <a:pPr algn="l"/>
                      <a:r>
                        <a:rPr sz="1500" b="1">
                          <a:solidFill>
                            <a:srgbClr val="075BCB"/>
                          </a:solidFill>
                          <a:latin typeface="Calibri"/>
                          <a:ea typeface="Calibri"/>
                          <a:cs typeface="Calibri"/>
                        </a:rPr>
                        <a:t>Внешние данные</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Система передаёт неверное событие</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Источник, подпись, время</a:t>
                      </a:r>
                    </a:p>
                    <a:p>
                      <a:pPr algn="l"/>
                      <a:r>
                        <a:rPr sz="1500" b="0">
                          <a:solidFill>
                            <a:srgbClr val="263746"/>
                          </a:solidFill>
                          <a:latin typeface="Calibri"/>
                          <a:ea typeface="Calibri"/>
                          <a:cs typeface="Calibri"/>
                        </a:rPr>
                        <a:t>и порядок перепроверки</a:t>
                      </a:r>
                    </a:p>
                  </a:txBody>
                  <a:tcPr marL="133350" marR="133350" marT="95250" marB="95250" anchor="ctr">
                    <a:solidFill>
                      <a:srgbClr val="FFFFFF"/>
                    </a:solidFill>
                  </a:tcPr>
                </a:tc>
                <a:extLst>
                  <a:ext uri="{0D108BD9-81ED-4DB2-BD59-A6C34878D82A}">
                    <a16:rowId xmlns:a16="http://schemas.microsoft.com/office/drawing/2014/main" val="10002"/>
                  </a:ext>
                </a:extLst>
              </a:tr>
              <a:tr h="581025">
                <a:tc>
                  <a:txBody>
                    <a:bodyPr/>
                    <a:lstStyle/>
                    <a:p>
                      <a:pPr algn="l"/>
                      <a:r>
                        <a:rPr sz="1500" b="1">
                          <a:solidFill>
                            <a:srgbClr val="075BCB"/>
                          </a:solidFill>
                          <a:latin typeface="Calibri"/>
                          <a:ea typeface="Calibri"/>
                          <a:cs typeface="Calibri"/>
                        </a:rPr>
                        <a:t>Сроки</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Подтверждение приходит поздно</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Срок ожидания и действие по тайм-ауту</a:t>
                      </a:r>
                    </a:p>
                  </a:txBody>
                  <a:tcPr marL="133350" marR="133350" marT="95250" marB="95250" anchor="ctr">
                    <a:solidFill>
                      <a:srgbClr val="FFFFFF"/>
                    </a:solidFill>
                  </a:tcPr>
                </a:tc>
                <a:extLst>
                  <a:ext uri="{0D108BD9-81ED-4DB2-BD59-A6C34878D82A}">
                    <a16:rowId xmlns:a16="http://schemas.microsoft.com/office/drawing/2014/main" val="10003"/>
                  </a:ext>
                </a:extLst>
              </a:tr>
              <a:tr h="647700">
                <a:tc>
                  <a:txBody>
                    <a:bodyPr/>
                    <a:lstStyle/>
                    <a:p>
                      <a:pPr algn="l"/>
                      <a:r>
                        <a:rPr sz="1500" b="1">
                          <a:solidFill>
                            <a:srgbClr val="075BCB"/>
                          </a:solidFill>
                          <a:latin typeface="Calibri"/>
                          <a:ea typeface="Calibri"/>
                          <a:cs typeface="Calibri"/>
                        </a:rPr>
                        <a:t>Исключения</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Частичная поставка или спор сторон</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Порядок согласования,</a:t>
                      </a:r>
                    </a:p>
                    <a:p>
                      <a:pPr algn="l"/>
                      <a:r>
                        <a:rPr sz="1500" b="0">
                          <a:solidFill>
                            <a:srgbClr val="263746"/>
                          </a:solidFill>
                          <a:latin typeface="Calibri"/>
                          <a:ea typeface="Calibri"/>
                          <a:cs typeface="Calibri"/>
                        </a:rPr>
                        <a:t>возврата и ручного разбора</a:t>
                      </a:r>
                    </a:p>
                  </a:txBody>
                  <a:tcPr marL="133350" marR="133350" marT="95250" marB="95250" anchor="ctr">
                    <a:solidFill>
                      <a:srgbClr val="FFFFFF"/>
                    </a:solidFill>
                  </a:tcPr>
                </a:tc>
                <a:extLst>
                  <a:ext uri="{0D108BD9-81ED-4DB2-BD59-A6C34878D82A}">
                    <a16:rowId xmlns:a16="http://schemas.microsoft.com/office/drawing/2014/main" val="10004"/>
                  </a:ext>
                </a:extLst>
              </a:tr>
              <a:tr h="628650">
                <a:tc>
                  <a:txBody>
                    <a:bodyPr/>
                    <a:lstStyle/>
                    <a:p>
                      <a:pPr algn="l"/>
                      <a:r>
                        <a:rPr sz="1500" b="1">
                          <a:solidFill>
                            <a:srgbClr val="075BCB"/>
                          </a:solidFill>
                          <a:latin typeface="Calibri"/>
                          <a:ea typeface="Calibri"/>
                          <a:cs typeface="Calibri"/>
                        </a:rPr>
                        <a:t>Ответственность</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Стороны по-разному трактуют результат</a:t>
                      </a:r>
                    </a:p>
                  </a:txBody>
                  <a:tcPr marL="133350" marR="133350" marT="95250" marB="95250" anchor="ctr">
                    <a:solidFill>
                      <a:srgbClr val="FFFFFF"/>
                    </a:solidFill>
                  </a:tcPr>
                </a:tc>
                <a:tc>
                  <a:txBody>
                    <a:bodyPr/>
                    <a:lstStyle/>
                    <a:p>
                      <a:pPr algn="l"/>
                      <a:r>
                        <a:rPr sz="1500" b="0">
                          <a:solidFill>
                            <a:srgbClr val="263746"/>
                          </a:solidFill>
                          <a:latin typeface="Calibri"/>
                          <a:ea typeface="Calibri"/>
                          <a:cs typeface="Calibri"/>
                        </a:rPr>
                        <a:t>Версия правил и ответственные</a:t>
                      </a:r>
                    </a:p>
                    <a:p>
                      <a:pPr algn="l"/>
                      <a:r>
                        <a:rPr sz="1500" b="0">
                          <a:solidFill>
                            <a:srgbClr val="263746"/>
                          </a:solidFill>
                          <a:latin typeface="Calibri"/>
                          <a:ea typeface="Calibri"/>
                          <a:cs typeface="Calibri"/>
                        </a:rPr>
                        <a:t>за код, данные и решение</a:t>
                      </a:r>
                    </a:p>
                  </a:txBody>
                  <a:tcPr marL="133350" marR="133350" marT="95250" marB="9525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7434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cxnSp>
        <p:nvCxnSpPr>
          <p:cNvPr id="19" name="Straight Arrow Connector 18"/>
          <p:cNvCxnSpPr>
            <a:stCxn id="12" idx="3"/>
            <a:endCxn id="13" idx="1"/>
          </p:cNvCxnSpPr>
          <p:nvPr/>
        </p:nvCxnSpPr>
        <p:spPr>
          <a:xfrm>
            <a:off x="7600950" y="2933700"/>
            <a:ext cx="971550" cy="0"/>
          </a:xfrm>
          <a:prstGeom prst="straightConnector1">
            <a:avLst/>
          </a:prstGeom>
          <a:ln w="19050">
            <a:solidFill>
              <a:srgbClr val="008A82"/>
            </a:solidFill>
            <a:prstDash val="solid"/>
            <a:tailEnd type="triangle" w="sm" len="sm"/>
          </a:ln>
        </p:spPr>
      </p:cxnSp>
      <p:cxnSp>
        <p:nvCxnSpPr>
          <p:cNvPr id="20" name="Straight Arrow Connector 19"/>
          <p:cNvCxnSpPr>
            <a:stCxn id="11" idx="3"/>
            <a:endCxn id="12" idx="1"/>
          </p:cNvCxnSpPr>
          <p:nvPr/>
        </p:nvCxnSpPr>
        <p:spPr>
          <a:xfrm>
            <a:off x="3619500" y="2933700"/>
            <a:ext cx="971550" cy="0"/>
          </a:xfrm>
          <a:prstGeom prst="straightConnector1">
            <a:avLst/>
          </a:prstGeom>
          <a:ln w="19050">
            <a:solidFill>
              <a:srgbClr val="536777"/>
            </a:solidFill>
            <a:prstDash val="solid"/>
            <a:tailEnd type="triangle" w="sm" len="sm"/>
          </a:ln>
        </p:spPr>
      </p:cxnSp>
      <p:sp>
        <p:nvSpPr>
          <p:cNvPr id="21" name="reference-left-rule">
            <a:extLst>
              <a:ext uri="{FF2B5EF4-FFF2-40B4-BE49-F238E27FC236}">
                <a16:creationId xmlns:a16="http://schemas.microsoft.com/office/drawing/2014/main" id="{4CCCBE3B-EB66-4B95-9C1C-B4B793D81E61}"/>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BA5A0F53-FC13-4822-B726-02A3F7EB9699}"/>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D9864F4D-674C-4E83-9CC7-B08C09E57780}"/>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defRPr sz="975" b="1">
                <a:solidFill>
                  <a:srgbClr val="075BCB"/>
                </a:solidFill>
                <a:latin typeface="Calibri"/>
                <a:ea typeface="Calibri"/>
                <a:cs typeface="Calibri"/>
              </a:defRPr>
            </a:pPr>
            <a:r>
              <a:rPr sz="975" b="1">
                <a:solidFill>
                  <a:srgbClr val="075BCB"/>
                </a:solidFill>
                <a:latin typeface="Calibri"/>
                <a:ea typeface="Calibri"/>
                <a:cs typeface="Calibri"/>
              </a:rPr>
              <a:t>ДОПОЛНЕНИЕ 6. ОПЛАТА И ВОЗВРАТЫ</a:t>
            </a:r>
          </a:p>
        </p:txBody>
      </p:sp>
      <p:sp>
        <p:nvSpPr>
          <p:cNvPr id="4" name="title">
            <a:extLst>
              <a:ext uri="{FF2B5EF4-FFF2-40B4-BE49-F238E27FC236}">
                <a16:creationId xmlns:a16="http://schemas.microsoft.com/office/drawing/2014/main" id="{3DD751CB-6EF1-4ECA-9D0A-BEF787AC1637}"/>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defRPr sz="2325" b="1">
                <a:solidFill>
                  <a:srgbClr val="071D33"/>
                </a:solidFill>
                <a:latin typeface="Calibri"/>
                <a:ea typeface="Calibri"/>
                <a:cs typeface="Calibri"/>
              </a:defRPr>
            </a:pPr>
            <a:r>
              <a:rPr sz="2325" b="1">
                <a:solidFill>
                  <a:srgbClr val="071D33"/>
                </a:solidFill>
                <a:latin typeface="Calibri"/>
                <a:ea typeface="Calibri"/>
                <a:cs typeface="Calibri"/>
              </a:rPr>
              <a:t>Полный цикл оплаты цифровыми рублями</a:t>
            </a:r>
          </a:p>
        </p:txBody>
      </p:sp>
      <p:sp>
        <p:nvSpPr>
          <p:cNvPr id="5" name="page-number">
            <a:extLst>
              <a:ext uri="{FF2B5EF4-FFF2-40B4-BE49-F238E27FC236}">
                <a16:creationId xmlns:a16="http://schemas.microsoft.com/office/drawing/2014/main" id="{4EE7D4D6-BB2D-4561-A56A-0922CB62D9B9}"/>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defRPr sz="975" b="1">
                <a:solidFill>
                  <a:srgbClr val="FFFFFF"/>
                </a:solidFill>
                <a:latin typeface="Calibri"/>
                <a:ea typeface="Calibri"/>
                <a:cs typeface="Calibri"/>
              </a:defRPr>
            </a:pPr>
            <a:r>
              <a:rPr sz="975" b="1">
                <a:solidFill>
                  <a:srgbClr val="FFFFFF"/>
                </a:solidFill>
                <a:latin typeface="Calibri"/>
                <a:ea typeface="Calibri"/>
                <a:cs typeface="Calibri"/>
              </a:rPr>
              <a:t>17</a:t>
            </a:r>
          </a:p>
        </p:txBody>
      </p:sp>
      <p:sp>
        <p:nvSpPr>
          <p:cNvPr id="6" name="heading-divider">
            <a:extLst>
              <a:ext uri="{FF2B5EF4-FFF2-40B4-BE49-F238E27FC236}">
                <a16:creationId xmlns:a16="http://schemas.microsoft.com/office/drawing/2014/main" id="{CA509B86-5DA9-4CA4-B1D5-9F726E08F045}"/>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810C96FB-43AF-4A04-B14E-A2B7F7535CCC}"/>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8754148C-080E-43A5-B4A3-86C2DFE8C7DB}"/>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defRPr sz="1500" b="1">
                <a:solidFill>
                  <a:srgbClr val="071D33"/>
                </a:solidFill>
                <a:latin typeface="Calibri"/>
                <a:ea typeface="Calibri"/>
                <a:cs typeface="Calibri"/>
              </a:defRPr>
            </a:pPr>
            <a:r>
              <a:rPr sz="1500" b="1">
                <a:solidFill>
                  <a:srgbClr val="071D33"/>
                </a:solidFill>
                <a:latin typeface="Calibri"/>
                <a:ea typeface="Calibri"/>
                <a:cs typeface="Calibri"/>
              </a:rPr>
              <a:t>Для продавца платёж связан с учётом заказа, фискализацией и возвратами.</a:t>
            </a:r>
          </a:p>
        </p:txBody>
      </p:sp>
      <p:sp>
        <p:nvSpPr>
          <p:cNvPr id="9" name="sources">
            <a:extLst>
              <a:ext uri="{FF2B5EF4-FFF2-40B4-BE49-F238E27FC236}">
                <a16:creationId xmlns:a16="http://schemas.microsoft.com/office/drawing/2014/main" id="{430B942D-80E4-4D4A-9C31-DAB42FEF6ABE}"/>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lgn="l">
              <a:defRPr sz="900" b="0">
                <a:solidFill>
                  <a:srgbClr val="536777"/>
                </a:solidFill>
                <a:latin typeface="Calibri"/>
                <a:ea typeface="Calibri"/>
                <a:cs typeface="Calibri"/>
              </a:defRPr>
            </a:pPr>
            <a:r>
              <a:rPr sz="900" b="0">
                <a:solidFill>
                  <a:srgbClr val="536777"/>
                </a:solidFill>
                <a:latin typeface="Calibri"/>
                <a:ea typeface="Calibri"/>
                <a:cs typeface="Calibri"/>
                <a:hlinkClick r:id="rId3"/>
              </a:rPr>
              <a:t>CNews, интервью РБС / БПЦ, 29.09.2026</a:t>
            </a:r>
          </a:p>
        </p:txBody>
      </p:sp>
      <p:sp>
        <p:nvSpPr>
          <p:cNvPr id="10" name="vendor-attribution">
            <a:extLst>
              <a:ext uri="{FF2B5EF4-FFF2-40B4-BE49-F238E27FC236}">
                <a16:creationId xmlns:a16="http://schemas.microsoft.com/office/drawing/2014/main" id="{A9B208B6-49CB-48FC-AD2F-529566BF3AB0}"/>
              </a:ext>
            </a:extLst>
          </p:cNvPr>
          <p:cNvSpPr>
            <a:spLocks noGrp="1"/>
          </p:cNvSpPr>
          <p:nvPr/>
        </p:nvSpPr>
        <p:spPr>
          <a:xfrm>
            <a:off x="609600" y="1752600"/>
            <a:ext cx="10972800" cy="285750"/>
          </a:xfrm>
          <a:prstGeom prst="rect">
            <a:avLst/>
          </a:prstGeom>
          <a:noFill/>
          <a:ln w="0">
            <a:noFill/>
          </a:ln>
        </p:spPr>
        <p:txBody>
          <a:bodyPr wrap="square" lIns="0" tIns="0" rIns="0" bIns="0" anchor="t">
            <a:noAutofit/>
          </a:bodyPr>
          <a:lstStyle/>
          <a:p>
            <a:pPr algn="l">
              <a:defRPr sz="1575" b="1">
                <a:solidFill>
                  <a:srgbClr val="075BCB"/>
                </a:solidFill>
                <a:latin typeface="Calibri"/>
                <a:ea typeface="Calibri"/>
                <a:cs typeface="Calibri"/>
              </a:defRPr>
            </a:pPr>
            <a:r>
              <a:rPr sz="1575" b="1">
                <a:solidFill>
                  <a:srgbClr val="075BCB"/>
                </a:solidFill>
                <a:latin typeface="Calibri"/>
                <a:ea typeface="Calibri"/>
                <a:cs typeface="Calibri"/>
              </a:rPr>
              <a:t>РБС / БПЦ сообщают о работе сценариев оплаты и частичных возвратов</a:t>
            </a:r>
          </a:p>
        </p:txBody>
      </p:sp>
      <p:sp>
        <p:nvSpPr>
          <p:cNvPr id="11" name="checkout-upk">
            <a:extLst>
              <a:ext uri="{FF2B5EF4-FFF2-40B4-BE49-F238E27FC236}">
                <a16:creationId xmlns:a16="http://schemas.microsoft.com/office/drawing/2014/main" id="{E298F26E-3C51-4D53-B377-3D3EF0EB1FCD}"/>
              </a:ext>
            </a:extLst>
          </p:cNvPr>
          <p:cNvSpPr>
            <a:spLocks noGrp="1"/>
          </p:cNvSpPr>
          <p:nvPr/>
        </p:nvSpPr>
        <p:spPr>
          <a:xfrm>
            <a:off x="609600" y="2400300"/>
            <a:ext cx="3009900" cy="1066800"/>
          </a:xfrm>
          <a:prstGeom prst="roundRect">
            <a:avLst>
              <a:gd name="adj" fmla="val 6250"/>
            </a:avLst>
          </a:prstGeom>
          <a:solidFill>
            <a:srgbClr val="FFFFFF"/>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Платёжная страница</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Выбор цифрового рубля</a:t>
            </a:r>
            <a:br>
              <a:rPr sz="1650">
                <a:solidFill>
                  <a:srgbClr val="263746"/>
                </a:solidFill>
                <a:latin typeface="Calibri"/>
                <a:ea typeface="Calibri"/>
                <a:cs typeface="Calibri"/>
              </a:rPr>
            </a:br>
            <a:r>
              <a:rPr sz="1650">
                <a:solidFill>
                  <a:srgbClr val="263746"/>
                </a:solidFill>
                <a:latin typeface="Calibri"/>
                <a:ea typeface="Calibri"/>
                <a:cs typeface="Calibri"/>
              </a:rPr>
              <a:t>через УПК / QR</a:t>
            </a:r>
          </a:p>
        </p:txBody>
      </p:sp>
      <p:sp>
        <p:nvSpPr>
          <p:cNvPr id="12" name="bank-approval">
            <a:extLst>
              <a:ext uri="{FF2B5EF4-FFF2-40B4-BE49-F238E27FC236}">
                <a16:creationId xmlns:a16="http://schemas.microsoft.com/office/drawing/2014/main" id="{52E4388A-0E54-47DE-AC7A-8421DA1A2B23}"/>
              </a:ext>
            </a:extLst>
          </p:cNvPr>
          <p:cNvSpPr>
            <a:spLocks noGrp="1"/>
          </p:cNvSpPr>
          <p:nvPr/>
        </p:nvSpPr>
        <p:spPr>
          <a:xfrm>
            <a:off x="4591050" y="2400300"/>
            <a:ext cx="3009900" cy="1066800"/>
          </a:xfrm>
          <a:prstGeom prst="roundRect">
            <a:avLst>
              <a:gd name="adj" fmla="val 6250"/>
            </a:avLst>
          </a:prstGeom>
          <a:solidFill>
            <a:srgbClr val="FFFFFF"/>
          </a:solidFill>
          <a:ln w="12383">
            <a:solidFill>
              <a:srgbClr val="075BCB"/>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Подтверждение в банке</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Клиент подтверждает оплату</a:t>
            </a:r>
          </a:p>
        </p:txBody>
      </p:sp>
      <p:sp>
        <p:nvSpPr>
          <p:cNvPr id="13" name="merchant-credit">
            <a:extLst>
              <a:ext uri="{FF2B5EF4-FFF2-40B4-BE49-F238E27FC236}">
                <a16:creationId xmlns:a16="http://schemas.microsoft.com/office/drawing/2014/main" id="{087D0F22-538F-4D9B-8919-8280512FDA9E}"/>
              </a:ext>
            </a:extLst>
          </p:cNvPr>
          <p:cNvSpPr>
            <a:spLocks noGrp="1"/>
          </p:cNvSpPr>
          <p:nvPr/>
        </p:nvSpPr>
        <p:spPr>
          <a:xfrm>
            <a:off x="8572500" y="2400300"/>
            <a:ext cx="3009900" cy="1066800"/>
          </a:xfrm>
          <a:prstGeom prst="roundRect">
            <a:avLst>
              <a:gd name="adj" fmla="val 6250"/>
            </a:avLst>
          </a:prstGeom>
          <a:solidFill>
            <a:srgbClr val="DDF2EF"/>
          </a:solidFill>
          <a:ln w="12383">
            <a:solidFill>
              <a:srgbClr val="008A82"/>
            </a:solidFill>
          </a:ln>
        </p:spPr>
        <p:txBody>
          <a:bodyPr wrap="square" lIns="142875" tIns="123825" rIns="142875" bIns="123825" anchor="ctr">
            <a:noAutofit/>
          </a:bodyPr>
          <a:lstStyle/>
          <a:p>
            <a:pPr algn="ctr">
              <a:defRPr sz="1650">
                <a:solidFill>
                  <a:srgbClr val="263746"/>
                </a:solidFill>
                <a:latin typeface="Calibri"/>
                <a:ea typeface="Calibri"/>
                <a:cs typeface="Calibri"/>
              </a:defRPr>
            </a:pPr>
            <a:r>
              <a:rPr sz="1650" b="1">
                <a:solidFill>
                  <a:srgbClr val="263746"/>
                </a:solidFill>
                <a:latin typeface="Calibri"/>
                <a:ea typeface="Calibri"/>
                <a:cs typeface="Calibri"/>
              </a:rPr>
              <a:t>Зачисление продавцу</a:t>
            </a:r>
          </a:p>
          <a:p>
            <a:pPr algn="ctr">
              <a:defRPr sz="1650">
                <a:solidFill>
                  <a:srgbClr val="263746"/>
                </a:solidFill>
                <a:latin typeface="Calibri"/>
                <a:ea typeface="Calibri"/>
                <a:cs typeface="Calibri"/>
              </a:defRPr>
            </a:pPr>
            <a:r>
              <a:rPr sz="1650">
                <a:solidFill>
                  <a:srgbClr val="263746"/>
                </a:solidFill>
                <a:latin typeface="Calibri"/>
                <a:ea typeface="Calibri"/>
                <a:cs typeface="Calibri"/>
              </a:rPr>
              <a:t>Платёж в цифровых рублях</a:t>
            </a:r>
          </a:p>
        </p:txBody>
      </p:sp>
      <p:sp>
        <p:nvSpPr>
          <p:cNvPr id="16" name="operational-followup">
            <a:extLst>
              <a:ext uri="{FF2B5EF4-FFF2-40B4-BE49-F238E27FC236}">
                <a16:creationId xmlns:a16="http://schemas.microsoft.com/office/drawing/2014/main" id="{7DF8FF1E-AB04-4872-BD66-0AD132C8AD5C}"/>
              </a:ext>
            </a:extLst>
          </p:cNvPr>
          <p:cNvSpPr>
            <a:spLocks noGrp="1"/>
          </p:cNvSpPr>
          <p:nvPr/>
        </p:nvSpPr>
        <p:spPr>
          <a:xfrm>
            <a:off x="609600" y="3686175"/>
            <a:ext cx="10972800" cy="304800"/>
          </a:xfrm>
          <a:prstGeom prst="rect">
            <a:avLst/>
          </a:prstGeom>
          <a:noFill/>
          <a:ln w="0">
            <a:noFill/>
          </a:ln>
        </p:spPr>
        <p:txBody>
          <a:bodyPr wrap="square" lIns="0" tIns="0" rIns="0" bIns="0" anchor="t">
            <a:noAutofit/>
          </a:bodyPr>
          <a:lstStyle/>
          <a:p>
            <a:pPr algn="l">
              <a:defRPr sz="1575" b="0">
                <a:solidFill>
                  <a:srgbClr val="263746"/>
                </a:solidFill>
                <a:latin typeface="Calibri"/>
                <a:ea typeface="Calibri"/>
                <a:cs typeface="Calibri"/>
              </a:defRPr>
            </a:pPr>
            <a:r>
              <a:rPr sz="1575" b="0">
                <a:solidFill>
                  <a:srgbClr val="263746"/>
                </a:solidFill>
                <a:latin typeface="Calibri"/>
                <a:ea typeface="Calibri"/>
                <a:cs typeface="Calibri"/>
              </a:rPr>
              <a:t>Далее: статус заказа, запись в учёте и фискальный чек</a:t>
            </a:r>
          </a:p>
        </p:txBody>
      </p:sp>
      <p:graphicFrame>
        <p:nvGraphicFramePr>
          <p:cNvPr id="35" name="Table 34"/>
          <p:cNvGraphicFramePr/>
          <p:nvPr/>
        </p:nvGraphicFramePr>
        <p:xfrm>
          <a:off x="609600" y="4238625"/>
          <a:ext cx="10972800" cy="1009650"/>
        </p:xfrm>
        <a:graphic>
          <a:graphicData uri="http://schemas.openxmlformats.org/drawingml/2006/table">
            <a:tbl>
              <a:tblPr firstRow="1"/>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19100">
                <a:tc>
                  <a:txBody>
                    <a:bodyPr/>
                    <a:lstStyle/>
                    <a:p>
                      <a:pPr algn="l"/>
                      <a:r>
                        <a:rPr sz="1350" b="1">
                          <a:solidFill>
                            <a:srgbClr val="FFFFFF"/>
                          </a:solidFill>
                          <a:latin typeface="Calibri"/>
                          <a:ea typeface="Calibri"/>
                          <a:cs typeface="Calibri"/>
                        </a:rPr>
                        <a:t>Учебный пример: заказ</a:t>
                      </a:r>
                    </a:p>
                  </a:txBody>
                  <a:tcPr marL="133350" marR="133350" marT="95250" marB="95250" anchor="ctr">
                    <a:solidFill>
                      <a:srgbClr val="071D33"/>
                    </a:solidFill>
                  </a:tcPr>
                </a:tc>
                <a:tc>
                  <a:txBody>
                    <a:bodyPr/>
                    <a:lstStyle/>
                    <a:p>
                      <a:pPr algn="l"/>
                      <a:r>
                        <a:rPr sz="1350" b="1">
                          <a:solidFill>
                            <a:srgbClr val="FFFFFF"/>
                          </a:solidFill>
                          <a:latin typeface="Calibri"/>
                          <a:ea typeface="Calibri"/>
                          <a:cs typeface="Calibri"/>
                        </a:rPr>
                        <a:t>Возврат одной позиции</a:t>
                      </a:r>
                    </a:p>
                  </a:txBody>
                  <a:tcPr marL="133350" marR="133350" marT="95250" marB="95250" anchor="ctr">
                    <a:solidFill>
                      <a:srgbClr val="071D33"/>
                    </a:solidFill>
                  </a:tcPr>
                </a:tc>
                <a:tc>
                  <a:txBody>
                    <a:bodyPr/>
                    <a:lstStyle/>
                    <a:p>
                      <a:pPr algn="l"/>
                      <a:r>
                        <a:rPr sz="1350" b="1">
                          <a:solidFill>
                            <a:srgbClr val="FFFFFF"/>
                          </a:solidFill>
                          <a:latin typeface="Calibri"/>
                          <a:ea typeface="Calibri"/>
                          <a:cs typeface="Calibri"/>
                        </a:rPr>
                        <a:t>Итоговая оплаченная сумма</a:t>
                      </a:r>
                    </a:p>
                  </a:txBody>
                  <a:tcPr marL="133350" marR="133350" marT="95250" marB="95250" anchor="ctr">
                    <a:solidFill>
                      <a:srgbClr val="071D33"/>
                    </a:solidFill>
                  </a:tcPr>
                </a:tc>
                <a:extLst>
                  <a:ext uri="{0D108BD9-81ED-4DB2-BD59-A6C34878D82A}">
                    <a16:rowId xmlns:a16="http://schemas.microsoft.com/office/drawing/2014/main" val="10000"/>
                  </a:ext>
                </a:extLst>
              </a:tr>
              <a:tr h="590550">
                <a:tc>
                  <a:txBody>
                    <a:bodyPr/>
                    <a:lstStyle/>
                    <a:p>
                      <a:pPr algn="l"/>
                      <a:r>
                        <a:rPr sz="1800" b="1">
                          <a:solidFill>
                            <a:srgbClr val="075BCB"/>
                          </a:solidFill>
                          <a:latin typeface="Calibri"/>
                          <a:ea typeface="Calibri"/>
                          <a:cs typeface="Calibri"/>
                        </a:rPr>
                        <a:t>6 000 ₽</a:t>
                      </a:r>
                    </a:p>
                  </a:txBody>
                  <a:tcPr marL="133350" marR="133350" marT="95250" marB="95250" anchor="ctr">
                    <a:solidFill>
                      <a:srgbClr val="FFFFFF"/>
                    </a:solidFill>
                  </a:tcPr>
                </a:tc>
                <a:tc>
                  <a:txBody>
                    <a:bodyPr/>
                    <a:lstStyle/>
                    <a:p>
                      <a:pPr algn="l"/>
                      <a:r>
                        <a:rPr sz="1800" b="0">
                          <a:solidFill>
                            <a:srgbClr val="263746"/>
                          </a:solidFill>
                          <a:latin typeface="Calibri"/>
                          <a:ea typeface="Calibri"/>
                          <a:cs typeface="Calibri"/>
                        </a:rPr>
                        <a:t>2 000 ₽</a:t>
                      </a:r>
                    </a:p>
                  </a:txBody>
                  <a:tcPr marL="133350" marR="133350" marT="95250" marB="95250" anchor="ctr">
                    <a:solidFill>
                      <a:srgbClr val="FFFFFF"/>
                    </a:solidFill>
                  </a:tcPr>
                </a:tc>
                <a:tc>
                  <a:txBody>
                    <a:bodyPr/>
                    <a:lstStyle/>
                    <a:p>
                      <a:pPr algn="l"/>
                      <a:r>
                        <a:rPr sz="1800" b="0">
                          <a:solidFill>
                            <a:srgbClr val="263746"/>
                          </a:solidFill>
                          <a:latin typeface="Calibri"/>
                          <a:ea typeface="Calibri"/>
                          <a:cs typeface="Calibri"/>
                        </a:rPr>
                        <a:t>4 000 ₽</a:t>
                      </a:r>
                    </a:p>
                  </a:txBody>
                  <a:tcPr marL="133350" marR="133350" marT="95250" marB="95250" anchor="ctr">
                    <a:solidFill>
                      <a:srgbClr val="FFFFFF"/>
                    </a:solidFill>
                  </a:tcPr>
                </a:tc>
                <a:extLst>
                  <a:ext uri="{0D108BD9-81ED-4DB2-BD59-A6C34878D82A}">
                    <a16:rowId xmlns:a16="http://schemas.microsoft.com/office/drawing/2014/main" val="10001"/>
                  </a:ext>
                </a:extLst>
              </a:tr>
            </a:tbl>
          </a:graphicData>
        </a:graphic>
      </p:graphicFrame>
      <p:sp>
        <p:nvSpPr>
          <p:cNvPr id="18" name="one-day-scope">
            <a:extLst>
              <a:ext uri="{FF2B5EF4-FFF2-40B4-BE49-F238E27FC236}">
                <a16:creationId xmlns:a16="http://schemas.microsoft.com/office/drawing/2014/main" id="{1DD99E5A-E02F-435C-BC0A-7B77E5AC4E8A}"/>
              </a:ext>
            </a:extLst>
          </p:cNvPr>
          <p:cNvSpPr>
            <a:spLocks noGrp="1"/>
          </p:cNvSpPr>
          <p:nvPr/>
        </p:nvSpPr>
        <p:spPr>
          <a:xfrm>
            <a:off x="609600" y="5400675"/>
            <a:ext cx="10972800" cy="419100"/>
          </a:xfrm>
          <a:prstGeom prst="rect">
            <a:avLst/>
          </a:prstGeom>
          <a:noFill/>
          <a:ln w="0">
            <a:noFill/>
          </a:ln>
        </p:spPr>
        <p:txBody>
          <a:bodyPr wrap="square" lIns="0" tIns="0" rIns="0" bIns="0" anchor="t">
            <a:noAutofit/>
          </a:bodyPr>
          <a:lstStyle/>
          <a:p>
            <a:pPr algn="l">
              <a:defRPr sz="1350" b="0">
                <a:solidFill>
                  <a:srgbClr val="536777"/>
                </a:solidFill>
                <a:latin typeface="Calibri"/>
                <a:ea typeface="Calibri"/>
                <a:cs typeface="Calibri"/>
              </a:defRPr>
            </a:pPr>
            <a:r>
              <a:rPr sz="1350" b="0">
                <a:solidFill>
                  <a:srgbClr val="536777"/>
                </a:solidFill>
                <a:latin typeface="Calibri"/>
                <a:ea typeface="Calibri"/>
                <a:cs typeface="Calibri"/>
              </a:rPr>
              <a:t>«Менее одного дня» относится к готовому подключению.</a:t>
            </a:r>
          </a:p>
          <a:p>
            <a:pPr algn="l">
              <a:defRPr sz="1350" b="0">
                <a:solidFill>
                  <a:srgbClr val="536777"/>
                </a:solidFill>
                <a:latin typeface="Calibri"/>
                <a:ea typeface="Calibri"/>
                <a:cs typeface="Calibri"/>
              </a:defRPr>
            </a:pPr>
            <a:r>
              <a:rPr sz="1350" b="0">
                <a:solidFill>
                  <a:srgbClr val="536777"/>
                </a:solidFill>
                <a:latin typeface="Calibri"/>
                <a:ea typeface="Calibri"/>
                <a:cs typeface="Calibri"/>
              </a:rPr>
              <a:t>Нужен открытый счёт и выполненные условия сервиса.</a:t>
            </a:r>
          </a:p>
        </p:txBody>
      </p:sp>
    </p:spTree>
    <p:extLst>
      <p:ext uri="{BB962C8B-B14F-4D97-AF65-F5344CB8AC3E}">
        <p14:creationId xmlns:p14="http://schemas.microsoft.com/office/powerpoint/2010/main" val="1745122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ference-left-rule">
            <a:extLst>
              <a:ext uri="{FF2B5EF4-FFF2-40B4-BE49-F238E27FC236}">
                <a16:creationId xmlns:a16="http://schemas.microsoft.com/office/drawing/2014/main" id="{342ABBD6-5BAD-44F3-8952-871F873DFE92}"/>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A2A75267-F610-4CF1-A5DA-4EDF24E191C1}"/>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AB32D88A-AA06-4CC3-BBEA-107ED9A5B971}"/>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buNone/>
              <a:defRPr sz="975" b="1">
                <a:solidFill>
                  <a:srgbClr val="075BCB"/>
                </a:solidFill>
                <a:latin typeface="Calibri"/>
                <a:ea typeface="Calibri"/>
                <a:cs typeface="Calibri"/>
              </a:defRPr>
            </a:pPr>
            <a:r>
              <a:rPr sz="975" b="1">
                <a:solidFill>
                  <a:srgbClr val="075BCB"/>
                </a:solidFill>
                <a:latin typeface="Calibri"/>
                <a:ea typeface="Calibri"/>
                <a:cs typeface="Calibri"/>
              </a:rPr>
              <a:t>ПРИЛОЖЕНИЕ 1. ЦИФРОВОЙ РУБЛЬ И ЦИФРОВЫЕ ПРАВА</a:t>
            </a:r>
          </a:p>
        </p:txBody>
      </p:sp>
      <p:sp>
        <p:nvSpPr>
          <p:cNvPr id="4" name="title">
            <a:extLst>
              <a:ext uri="{FF2B5EF4-FFF2-40B4-BE49-F238E27FC236}">
                <a16:creationId xmlns:a16="http://schemas.microsoft.com/office/drawing/2014/main" id="{AD6AFE8B-934A-4BB1-AFB8-9EE9C6E67FDF}"/>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buNone/>
              <a:defRPr sz="2325" b="1">
                <a:solidFill>
                  <a:srgbClr val="071D33"/>
                </a:solidFill>
                <a:latin typeface="Calibri"/>
                <a:ea typeface="Calibri"/>
                <a:cs typeface="Calibri"/>
              </a:defRPr>
            </a:pPr>
            <a:r>
              <a:rPr sz="2325" b="1">
                <a:solidFill>
                  <a:srgbClr val="071D33"/>
                </a:solidFill>
                <a:latin typeface="Calibri"/>
                <a:ea typeface="Calibri"/>
                <a:cs typeface="Calibri"/>
              </a:rPr>
              <a:t>Цифровой рубль и ЦФА</a:t>
            </a:r>
          </a:p>
        </p:txBody>
      </p:sp>
      <p:sp>
        <p:nvSpPr>
          <p:cNvPr id="5" name="page-number">
            <a:extLst>
              <a:ext uri="{FF2B5EF4-FFF2-40B4-BE49-F238E27FC236}">
                <a16:creationId xmlns:a16="http://schemas.microsoft.com/office/drawing/2014/main" id="{8DB9058C-8325-4F71-84F4-F1E3D4CD1CBB}"/>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buNone/>
              <a:defRPr sz="975" b="1">
                <a:solidFill>
                  <a:srgbClr val="FFFFFF"/>
                </a:solidFill>
                <a:latin typeface="Calibri"/>
                <a:ea typeface="Calibri"/>
                <a:cs typeface="Calibri"/>
              </a:defRPr>
            </a:pPr>
            <a:r>
              <a:rPr sz="975" b="1">
                <a:solidFill>
                  <a:srgbClr val="FFFFFF"/>
                </a:solidFill>
                <a:latin typeface="Calibri"/>
                <a:ea typeface="Calibri"/>
                <a:cs typeface="Calibri"/>
              </a:rPr>
              <a:t>П1</a:t>
            </a:r>
          </a:p>
        </p:txBody>
      </p:sp>
      <p:sp>
        <p:nvSpPr>
          <p:cNvPr id="6" name="heading-divider">
            <a:extLst>
              <a:ext uri="{FF2B5EF4-FFF2-40B4-BE49-F238E27FC236}">
                <a16:creationId xmlns:a16="http://schemas.microsoft.com/office/drawing/2014/main" id="{32D0CD2E-192E-41FF-82D0-3FE119753291}"/>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ED828C09-105A-4E0A-9A31-B2149FC3DBBB}"/>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47D2002A-9311-4C32-ACBE-5B2CEFD7C0F5}"/>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buNone/>
              <a:defRPr sz="1500" b="1">
                <a:solidFill>
                  <a:srgbClr val="071D33"/>
                </a:solidFill>
                <a:latin typeface="Calibri"/>
                <a:ea typeface="Calibri"/>
                <a:cs typeface="Calibri"/>
              </a:defRPr>
            </a:pPr>
            <a:r>
              <a:rPr sz="1500" b="1">
                <a:solidFill>
                  <a:srgbClr val="071D33"/>
                </a:solidFill>
                <a:latin typeface="Calibri"/>
                <a:ea typeface="Calibri"/>
                <a:cs typeface="Calibri"/>
              </a:rPr>
              <a:t>Цифровой рубль служит для расчётов. ЦФА закрепляет финансовое право, указанное в условиях выпуска.</a:t>
            </a:r>
          </a:p>
        </p:txBody>
      </p:sp>
      <p:sp>
        <p:nvSpPr>
          <p:cNvPr id="9" name="sources">
            <a:extLst>
              <a:ext uri="{FF2B5EF4-FFF2-40B4-BE49-F238E27FC236}">
                <a16:creationId xmlns:a16="http://schemas.microsoft.com/office/drawing/2014/main" id="{4AA3E6D0-3C0C-45EB-8123-3D4C8BF2E160}"/>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defRPr sz="900">
                <a:solidFill>
                  <a:srgbClr val="536777"/>
                </a:solidFill>
                <a:latin typeface="Calibri"/>
                <a:ea typeface="Calibri"/>
                <a:cs typeface="Calibri"/>
              </a:defRPr>
            </a:pPr>
            <a:r>
              <a:rPr sz="900" u="sng">
                <a:solidFill>
                  <a:srgbClr val="536777"/>
                </a:solidFill>
                <a:latin typeface="Calibri"/>
                <a:ea typeface="Calibri"/>
                <a:cs typeface="Calibri"/>
                <a:hlinkClick r:id="rId3"/>
              </a:rPr>
              <a:t>Банк России, цифровой рубль</a:t>
            </a:r>
            <a:r>
              <a:rPr sz="900">
                <a:solidFill>
                  <a:srgbClr val="536777"/>
                </a:solidFill>
                <a:latin typeface="Calibri"/>
                <a:ea typeface="Calibri"/>
                <a:cs typeface="Calibri"/>
              </a:rPr>
              <a:t>   </a:t>
            </a:r>
            <a:r>
              <a:rPr sz="900" u="sng">
                <a:solidFill>
                  <a:srgbClr val="536777"/>
                </a:solidFill>
                <a:latin typeface="Calibri"/>
                <a:ea typeface="Calibri"/>
                <a:cs typeface="Calibri"/>
                <a:hlinkClick r:id="rId4"/>
              </a:rPr>
              <a:t>Банк России, ЦФА</a:t>
            </a:r>
          </a:p>
        </p:txBody>
      </p:sp>
      <p:sp>
        <p:nvSpPr>
          <p:cNvPr id="12" name="scope">
            <a:extLst>
              <a:ext uri="{FF2B5EF4-FFF2-40B4-BE49-F238E27FC236}">
                <a16:creationId xmlns:a16="http://schemas.microsoft.com/office/drawing/2014/main" id="{FE9AC7F6-89FA-4BAB-BCD8-C2B910F92B59}"/>
              </a:ext>
            </a:extLst>
          </p:cNvPr>
          <p:cNvSpPr>
            <a:spLocks noGrp="1"/>
          </p:cNvSpPr>
          <p:nvPr/>
        </p:nvSpPr>
        <p:spPr>
          <a:xfrm>
            <a:off x="609600" y="1714500"/>
            <a:ext cx="10972800" cy="304800"/>
          </a:xfrm>
          <a:prstGeom prst="rect">
            <a:avLst/>
          </a:prstGeom>
          <a:noFill/>
          <a:ln w="0">
            <a:noFill/>
          </a:ln>
        </p:spPr>
        <p:txBody>
          <a:bodyPr wrap="square" lIns="0" tIns="0" rIns="0" bIns="0" anchor="t">
            <a:noAutofit/>
          </a:bodyPr>
          <a:lstStyle/>
          <a:p>
            <a:pPr algn="l">
              <a:defRPr sz="1575" b="1">
                <a:solidFill>
                  <a:srgbClr val="075BCB"/>
                </a:solidFill>
                <a:latin typeface="Calibri"/>
                <a:ea typeface="Calibri"/>
                <a:cs typeface="Calibri"/>
              </a:defRPr>
            </a:pPr>
            <a:r>
              <a:rPr sz="1575" b="1">
                <a:solidFill>
                  <a:srgbClr val="075BCB"/>
                </a:solidFill>
                <a:latin typeface="Calibri"/>
                <a:ea typeface="Calibri"/>
                <a:cs typeface="Calibri"/>
              </a:rPr>
              <a:t>ЦФА: цифровые финансовые активы. Права по каждому выпуску определяет его эмитент.</a:t>
            </a:r>
          </a:p>
        </p:txBody>
      </p:sp>
      <p:graphicFrame>
        <p:nvGraphicFramePr>
          <p:cNvPr id="24" name="Table 23"/>
          <p:cNvGraphicFramePr/>
          <p:nvPr/>
        </p:nvGraphicFramePr>
        <p:xfrm>
          <a:off x="609600" y="2133600"/>
          <a:ext cx="10972800" cy="3429000"/>
        </p:xfrm>
        <a:graphic>
          <a:graphicData uri="http://schemas.openxmlformats.org/drawingml/2006/table">
            <a:tbl>
              <a:tblPr/>
              <a:tblGrid>
                <a:gridCol w="207645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438150">
                <a:tc>
                  <a:txBody>
                    <a:bodyPr/>
                    <a:lstStyle/>
                    <a:p>
                      <a:pPr algn="l"/>
                      <a:r>
                        <a:rPr sz="1388" b="1">
                          <a:solidFill>
                            <a:srgbClr val="FFFFFF"/>
                          </a:solidFill>
                          <a:latin typeface="Calibri"/>
                          <a:ea typeface="Calibri"/>
                          <a:cs typeface="Calibri"/>
                        </a:rPr>
                        <a:t>Параметр</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Цифровой рубль</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ЦФА</a:t>
                      </a:r>
                    </a:p>
                  </a:txBody>
                  <a:tcPr marL="133350" marR="114300" marT="76200" marB="76200" anchor="ctr">
                    <a:solidFill>
                      <a:srgbClr val="071D33"/>
                    </a:solidFill>
                  </a:tcPr>
                </a:tc>
                <a:extLst>
                  <a:ext uri="{0D108BD9-81ED-4DB2-BD59-A6C34878D82A}">
                    <a16:rowId xmlns:a16="http://schemas.microsoft.com/office/drawing/2014/main" val="10000"/>
                  </a:ext>
                </a:extLst>
              </a:tr>
              <a:tr h="590550">
                <a:tc>
                  <a:txBody>
                    <a:bodyPr/>
                    <a:lstStyle/>
                    <a:p>
                      <a:pPr algn="l"/>
                      <a:r>
                        <a:rPr sz="1500" b="1">
                          <a:solidFill>
                            <a:srgbClr val="075BCB"/>
                          </a:solidFill>
                          <a:latin typeface="Calibri"/>
                          <a:ea typeface="Calibri"/>
                          <a:cs typeface="Calibri"/>
                        </a:rPr>
                        <a:t>Что получает владелец</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Деньги в цифровой форме</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Право, указанное в решении о выпуске</a:t>
                      </a:r>
                    </a:p>
                  </a:txBody>
                  <a:tcPr marL="133350" marR="114300" marT="76200" marB="76200" anchor="ctr">
                    <a:solidFill>
                      <a:srgbClr val="FFFFFF"/>
                    </a:solidFill>
                  </a:tcPr>
                </a:tc>
                <a:extLst>
                  <a:ext uri="{0D108BD9-81ED-4DB2-BD59-A6C34878D82A}">
                    <a16:rowId xmlns:a16="http://schemas.microsoft.com/office/drawing/2014/main" val="10001"/>
                  </a:ext>
                </a:extLst>
              </a:tr>
              <a:tr h="590550">
                <a:tc>
                  <a:txBody>
                    <a:bodyPr/>
                    <a:lstStyle/>
                    <a:p>
                      <a:pPr algn="l"/>
                      <a:r>
                        <a:rPr sz="1500" b="1">
                          <a:solidFill>
                            <a:srgbClr val="075BCB"/>
                          </a:solidFill>
                          <a:latin typeface="Calibri"/>
                          <a:ea typeface="Calibri"/>
                          <a:cs typeface="Calibri"/>
                        </a:rPr>
                        <a:t>Кто выпускает</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Банк России</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Конкретный эмитент, например компания</a:t>
                      </a:r>
                    </a:p>
                  </a:txBody>
                  <a:tcPr marL="133350" marR="114300" marT="76200" marB="76200" anchor="ctr">
                    <a:solidFill>
                      <a:srgbClr val="FFFFFF"/>
                    </a:solidFill>
                  </a:tcPr>
                </a:tc>
                <a:extLst>
                  <a:ext uri="{0D108BD9-81ED-4DB2-BD59-A6C34878D82A}">
                    <a16:rowId xmlns:a16="http://schemas.microsoft.com/office/drawing/2014/main" val="10002"/>
                  </a:ext>
                </a:extLst>
              </a:tr>
              <a:tr h="590550">
                <a:tc>
                  <a:txBody>
                    <a:bodyPr/>
                    <a:lstStyle/>
                    <a:p>
                      <a:pPr algn="l"/>
                      <a:r>
                        <a:rPr sz="1500" b="1">
                          <a:solidFill>
                            <a:srgbClr val="075BCB"/>
                          </a:solidFill>
                          <a:latin typeface="Calibri"/>
                          <a:ea typeface="Calibri"/>
                          <a:cs typeface="Calibri"/>
                        </a:rPr>
                        <a:t>Основное применение</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Оплата и переводы</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Финансирование и инвестиции</a:t>
                      </a:r>
                    </a:p>
                  </a:txBody>
                  <a:tcPr marL="133350" marR="114300" marT="76200" marB="76200" anchor="ctr">
                    <a:solidFill>
                      <a:srgbClr val="FFFFFF"/>
                    </a:solidFill>
                  </a:tcPr>
                </a:tc>
                <a:extLst>
                  <a:ext uri="{0D108BD9-81ED-4DB2-BD59-A6C34878D82A}">
                    <a16:rowId xmlns:a16="http://schemas.microsoft.com/office/drawing/2014/main" val="10003"/>
                  </a:ext>
                </a:extLst>
              </a:tr>
              <a:tr h="590550">
                <a:tc>
                  <a:txBody>
                    <a:bodyPr/>
                    <a:lstStyle/>
                    <a:p>
                      <a:pPr algn="l"/>
                      <a:r>
                        <a:rPr sz="1500" b="1">
                          <a:solidFill>
                            <a:srgbClr val="075BCB"/>
                          </a:solidFill>
                          <a:latin typeface="Calibri"/>
                          <a:ea typeface="Calibri"/>
                          <a:cs typeface="Calibri"/>
                        </a:rPr>
                        <a:t>Стоимость</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1 цифровой рубль = 1 рубль</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Условия выпуска и цена сделки</a:t>
                      </a:r>
                    </a:p>
                  </a:txBody>
                  <a:tcPr marL="133350" marR="114300" marT="76200" marB="76200" anchor="ctr">
                    <a:solidFill>
                      <a:srgbClr val="FFFFFF"/>
                    </a:solidFill>
                  </a:tcPr>
                </a:tc>
                <a:extLst>
                  <a:ext uri="{0D108BD9-81ED-4DB2-BD59-A6C34878D82A}">
                    <a16:rowId xmlns:a16="http://schemas.microsoft.com/office/drawing/2014/main" val="10004"/>
                  </a:ext>
                </a:extLst>
              </a:tr>
              <a:tr h="590550">
                <a:tc>
                  <a:txBody>
                    <a:bodyPr/>
                    <a:lstStyle/>
                    <a:p>
                      <a:pPr algn="l"/>
                      <a:r>
                        <a:rPr sz="1500" b="1">
                          <a:solidFill>
                            <a:srgbClr val="075BCB"/>
                          </a:solidFill>
                          <a:latin typeface="Calibri"/>
                          <a:ea typeface="Calibri"/>
                          <a:cs typeface="Calibri"/>
                        </a:rPr>
                        <a:t>Доход</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Проценты на остаток отсутствуют</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Выплата или доход по условиям выпуска</a:t>
                      </a:r>
                    </a:p>
                  </a:txBody>
                  <a:tcPr marL="133350" marR="114300" marT="76200" marB="7620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10034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ference-left-rule">
            <a:extLst>
              <a:ext uri="{FF2B5EF4-FFF2-40B4-BE49-F238E27FC236}">
                <a16:creationId xmlns:a16="http://schemas.microsoft.com/office/drawing/2014/main" id="{342ABBD6-5BAD-44F3-8952-871F873DFE92}"/>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A2A75267-F610-4CF1-A5DA-4EDF24E191C1}"/>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AB32D88A-AA06-4CC3-BBEA-107ED9A5B971}"/>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buNone/>
              <a:defRPr sz="975" b="1">
                <a:solidFill>
                  <a:srgbClr val="075BCB"/>
                </a:solidFill>
                <a:latin typeface="Calibri"/>
                <a:ea typeface="Calibri"/>
                <a:cs typeface="Calibri"/>
              </a:defRPr>
            </a:pPr>
            <a:r>
              <a:rPr sz="975" b="1">
                <a:solidFill>
                  <a:srgbClr val="075BCB"/>
                </a:solidFill>
                <a:latin typeface="Calibri"/>
                <a:ea typeface="Calibri"/>
                <a:cs typeface="Calibri"/>
              </a:rPr>
              <a:t>ПРИЛОЖЕНИЕ 2. ЦИФРОВОЙ РУБЛЬ И ЦИФРОВЫЕ ПРАВА</a:t>
            </a:r>
          </a:p>
        </p:txBody>
      </p:sp>
      <p:sp>
        <p:nvSpPr>
          <p:cNvPr id="4" name="title">
            <a:extLst>
              <a:ext uri="{FF2B5EF4-FFF2-40B4-BE49-F238E27FC236}">
                <a16:creationId xmlns:a16="http://schemas.microsoft.com/office/drawing/2014/main" id="{AD6AFE8B-934A-4BB1-AFB8-9EE9C6E67FDF}"/>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buNone/>
              <a:defRPr sz="2325" b="1">
                <a:solidFill>
                  <a:srgbClr val="071D33"/>
                </a:solidFill>
                <a:latin typeface="Calibri"/>
                <a:ea typeface="Calibri"/>
                <a:cs typeface="Calibri"/>
              </a:defRPr>
            </a:pPr>
            <a:r>
              <a:rPr sz="2325" b="1">
                <a:solidFill>
                  <a:srgbClr val="071D33"/>
                </a:solidFill>
                <a:latin typeface="Calibri"/>
                <a:ea typeface="Calibri"/>
                <a:cs typeface="Calibri"/>
              </a:rPr>
              <a:t>Какие права можно токенизировать</a:t>
            </a:r>
          </a:p>
        </p:txBody>
      </p:sp>
      <p:sp>
        <p:nvSpPr>
          <p:cNvPr id="5" name="page-number">
            <a:extLst>
              <a:ext uri="{FF2B5EF4-FFF2-40B4-BE49-F238E27FC236}">
                <a16:creationId xmlns:a16="http://schemas.microsoft.com/office/drawing/2014/main" id="{8DB9058C-8325-4F71-84F4-F1E3D4CD1CBB}"/>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buNone/>
              <a:defRPr sz="975" b="1">
                <a:solidFill>
                  <a:srgbClr val="FFFFFF"/>
                </a:solidFill>
                <a:latin typeface="Calibri"/>
                <a:ea typeface="Calibri"/>
                <a:cs typeface="Calibri"/>
              </a:defRPr>
            </a:pPr>
            <a:r>
              <a:rPr sz="975" b="1">
                <a:solidFill>
                  <a:srgbClr val="FFFFFF"/>
                </a:solidFill>
                <a:latin typeface="Calibri"/>
                <a:ea typeface="Calibri"/>
                <a:cs typeface="Calibri"/>
              </a:rPr>
              <a:t>П2</a:t>
            </a:r>
          </a:p>
        </p:txBody>
      </p:sp>
      <p:sp>
        <p:nvSpPr>
          <p:cNvPr id="6" name="heading-divider">
            <a:extLst>
              <a:ext uri="{FF2B5EF4-FFF2-40B4-BE49-F238E27FC236}">
                <a16:creationId xmlns:a16="http://schemas.microsoft.com/office/drawing/2014/main" id="{32D0CD2E-192E-41FF-82D0-3FE119753291}"/>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ED828C09-105A-4E0A-9A31-B2149FC3DBBB}"/>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47D2002A-9311-4C32-ACBE-5B2CEFD7C0F5}"/>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buNone/>
              <a:defRPr sz="1500" b="1">
                <a:solidFill>
                  <a:srgbClr val="071D33"/>
                </a:solidFill>
                <a:latin typeface="Calibri"/>
                <a:ea typeface="Calibri"/>
                <a:cs typeface="Calibri"/>
              </a:defRPr>
            </a:pPr>
            <a:r>
              <a:rPr sz="1500" b="1">
                <a:solidFill>
                  <a:srgbClr val="071D33"/>
                </a:solidFill>
                <a:latin typeface="Calibri"/>
                <a:ea typeface="Calibri"/>
                <a:cs typeface="Calibri"/>
              </a:rPr>
              <a:t>Токенизация закрепляет конкретное право. Его содержание определяют документы выпуска и сделки.</a:t>
            </a:r>
          </a:p>
        </p:txBody>
      </p:sp>
      <p:sp>
        <p:nvSpPr>
          <p:cNvPr id="9" name="sources">
            <a:extLst>
              <a:ext uri="{FF2B5EF4-FFF2-40B4-BE49-F238E27FC236}">
                <a16:creationId xmlns:a16="http://schemas.microsoft.com/office/drawing/2014/main" id="{4AA3E6D0-3C0C-45EB-8123-3D4C8BF2E160}"/>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defRPr sz="900">
                <a:solidFill>
                  <a:srgbClr val="536777"/>
                </a:solidFill>
                <a:latin typeface="Calibri"/>
                <a:ea typeface="Calibri"/>
                <a:cs typeface="Calibri"/>
              </a:defRPr>
            </a:pPr>
            <a:r>
              <a:rPr sz="900" u="sng">
                <a:solidFill>
                  <a:srgbClr val="536777"/>
                </a:solidFill>
                <a:latin typeface="Calibri"/>
                <a:ea typeface="Calibri"/>
                <a:cs typeface="Calibri"/>
                <a:hlinkClick r:id="rId3"/>
              </a:rPr>
              <a:t>Банк России, токенизация активов</a:t>
            </a:r>
            <a:r>
              <a:rPr sz="900">
                <a:solidFill>
                  <a:srgbClr val="536777"/>
                </a:solidFill>
                <a:latin typeface="Calibri"/>
                <a:ea typeface="Calibri"/>
                <a:cs typeface="Calibri"/>
              </a:rPr>
              <a:t>   </a:t>
            </a:r>
            <a:r>
              <a:rPr sz="900" u="sng">
                <a:solidFill>
                  <a:srgbClr val="536777"/>
                </a:solidFill>
                <a:latin typeface="Calibri"/>
                <a:ea typeface="Calibri"/>
                <a:cs typeface="Calibri"/>
                <a:hlinkClick r:id="rId4"/>
              </a:rPr>
              <a:t>Банк России, ЦФА и гибридные права</a:t>
            </a:r>
          </a:p>
        </p:txBody>
      </p:sp>
      <p:sp>
        <p:nvSpPr>
          <p:cNvPr id="12" name="scope">
            <a:extLst>
              <a:ext uri="{FF2B5EF4-FFF2-40B4-BE49-F238E27FC236}">
                <a16:creationId xmlns:a16="http://schemas.microsoft.com/office/drawing/2014/main" id="{BD0847C5-67CF-4BF9-8BA3-B90294D7AFA2}"/>
              </a:ext>
            </a:extLst>
          </p:cNvPr>
          <p:cNvSpPr>
            <a:spLocks noGrp="1"/>
          </p:cNvSpPr>
          <p:nvPr/>
        </p:nvSpPr>
        <p:spPr>
          <a:xfrm>
            <a:off x="609600" y="1714500"/>
            <a:ext cx="10972800" cy="304800"/>
          </a:xfrm>
          <a:prstGeom prst="rect">
            <a:avLst/>
          </a:prstGeom>
          <a:noFill/>
          <a:ln w="0">
            <a:noFill/>
          </a:ln>
        </p:spPr>
        <p:txBody>
          <a:bodyPr wrap="square" lIns="0" tIns="0" rIns="0" bIns="0" anchor="t">
            <a:noAutofit/>
          </a:bodyPr>
          <a:lstStyle/>
          <a:p>
            <a:pPr algn="l">
              <a:defRPr sz="1575" b="1">
                <a:solidFill>
                  <a:srgbClr val="075BCB"/>
                </a:solidFill>
                <a:latin typeface="Calibri"/>
                <a:ea typeface="Calibri"/>
                <a:cs typeface="Calibri"/>
              </a:defRPr>
            </a:pPr>
            <a:r>
              <a:rPr sz="1575" b="1">
                <a:solidFill>
                  <a:srgbClr val="075BCB"/>
                </a:solidFill>
                <a:latin typeface="Calibri"/>
                <a:ea typeface="Calibri"/>
                <a:cs typeface="Calibri"/>
              </a:rPr>
              <a:t>В российской практике используют несколько конструкций цифровых прав.</a:t>
            </a:r>
          </a:p>
        </p:txBody>
      </p:sp>
      <p:graphicFrame>
        <p:nvGraphicFramePr>
          <p:cNvPr id="24" name="Table 23"/>
          <p:cNvGraphicFramePr/>
          <p:nvPr/>
        </p:nvGraphicFramePr>
        <p:xfrm>
          <a:off x="609600" y="2190750"/>
          <a:ext cx="10972800" cy="3352800"/>
        </p:xfrm>
        <a:graphic>
          <a:graphicData uri="http://schemas.openxmlformats.org/drawingml/2006/table">
            <a:tbl>
              <a:tblPr/>
              <a:tblGrid>
                <a:gridCol w="24765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400550">
                  <a:extLst>
                    <a:ext uri="{9D8B030D-6E8A-4147-A177-3AD203B41FA5}">
                      <a16:colId xmlns:a16="http://schemas.microsoft.com/office/drawing/2014/main" val="20002"/>
                    </a:ext>
                  </a:extLst>
                </a:gridCol>
              </a:tblGrid>
              <a:tr h="457200">
                <a:tc>
                  <a:txBody>
                    <a:bodyPr/>
                    <a:lstStyle/>
                    <a:p>
                      <a:pPr algn="l"/>
                      <a:r>
                        <a:rPr sz="1388" b="1">
                          <a:solidFill>
                            <a:srgbClr val="FFFFFF"/>
                          </a:solidFill>
                          <a:latin typeface="Calibri"/>
                          <a:ea typeface="Calibri"/>
                          <a:cs typeface="Calibri"/>
                        </a:rPr>
                        <a:t>Форма цифрового права</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Примеры содержания</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Что получает обладатель</a:t>
                      </a:r>
                    </a:p>
                  </a:txBody>
                  <a:tcPr marL="133350" marR="114300" marT="76200" marB="76200" anchor="ctr">
                    <a:solidFill>
                      <a:srgbClr val="071D33"/>
                    </a:solidFill>
                  </a:tcPr>
                </a:tc>
                <a:extLst>
                  <a:ext uri="{0D108BD9-81ED-4DB2-BD59-A6C34878D82A}">
                    <a16:rowId xmlns:a16="http://schemas.microsoft.com/office/drawing/2014/main" val="10000"/>
                  </a:ext>
                </a:extLst>
              </a:tr>
              <a:tr h="1028700">
                <a:tc>
                  <a:txBody>
                    <a:bodyPr/>
                    <a:lstStyle/>
                    <a:p>
                      <a:pPr algn="l"/>
                      <a:r>
                        <a:rPr sz="1500" b="1">
                          <a:solidFill>
                            <a:srgbClr val="075BCB"/>
                          </a:solidFill>
                          <a:latin typeface="Calibri"/>
                          <a:ea typeface="Calibri"/>
                          <a:cs typeface="Calibri"/>
                        </a:rPr>
                        <a:t>ЦФА</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Денежное требование.</a:t>
                      </a:r>
                    </a:p>
                    <a:p>
                      <a:pPr algn="l"/>
                      <a:r>
                        <a:rPr sz="1500" b="0">
                          <a:solidFill>
                            <a:srgbClr val="071D33"/>
                          </a:solidFill>
                          <a:latin typeface="Calibri"/>
                          <a:ea typeface="Calibri"/>
                          <a:cs typeface="Calibri"/>
                        </a:rPr>
                        <a:t>Права по ценным бумагам.</a:t>
                      </a:r>
                    </a:p>
                    <a:p>
                      <a:pPr algn="l"/>
                      <a:r>
                        <a:rPr sz="1500" b="0">
                          <a:solidFill>
                            <a:srgbClr val="071D33"/>
                          </a:solidFill>
                          <a:latin typeface="Calibri"/>
                          <a:ea typeface="Calibri"/>
                          <a:cs typeface="Calibri"/>
                        </a:rPr>
                        <a:t>Участие в непубличном АО</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Предусмотренную выплату</a:t>
                      </a:r>
                    </a:p>
                    <a:p>
                      <a:pPr algn="l"/>
                      <a:r>
                        <a:rPr sz="1500" b="0">
                          <a:solidFill>
                            <a:srgbClr val="071D33"/>
                          </a:solidFill>
                          <a:latin typeface="Calibri"/>
                          <a:ea typeface="Calibri"/>
                          <a:cs typeface="Calibri"/>
                        </a:rPr>
                        <a:t>или соответствующее финансовое право</a:t>
                      </a:r>
                    </a:p>
                  </a:txBody>
                  <a:tcPr marL="133350" marR="114300" marT="76200" marB="76200" anchor="ctr">
                    <a:solidFill>
                      <a:srgbClr val="FFFFFF"/>
                    </a:solidFill>
                  </a:tcPr>
                </a:tc>
                <a:extLst>
                  <a:ext uri="{0D108BD9-81ED-4DB2-BD59-A6C34878D82A}">
                    <a16:rowId xmlns:a16="http://schemas.microsoft.com/office/drawing/2014/main" val="10001"/>
                  </a:ext>
                </a:extLst>
              </a:tr>
              <a:tr h="895350">
                <a:tc>
                  <a:txBody>
                    <a:bodyPr/>
                    <a:lstStyle/>
                    <a:p>
                      <a:pPr algn="l"/>
                      <a:r>
                        <a:rPr sz="1500" b="1">
                          <a:solidFill>
                            <a:srgbClr val="075BCB"/>
                          </a:solidFill>
                          <a:latin typeface="Calibri"/>
                          <a:ea typeface="Calibri"/>
                          <a:cs typeface="Calibri"/>
                        </a:rPr>
                        <a:t>Утилитарные</a:t>
                      </a:r>
                    </a:p>
                    <a:p>
                      <a:pPr algn="l"/>
                      <a:r>
                        <a:rPr sz="1500" b="1">
                          <a:solidFill>
                            <a:srgbClr val="075BCB"/>
                          </a:solidFill>
                          <a:latin typeface="Calibri"/>
                          <a:ea typeface="Calibri"/>
                          <a:cs typeface="Calibri"/>
                        </a:rPr>
                        <a:t>цифровые права</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Например, требование</a:t>
                      </a:r>
                    </a:p>
                    <a:p>
                      <a:pPr algn="l"/>
                      <a:r>
                        <a:rPr sz="1500" b="0">
                          <a:solidFill>
                            <a:srgbClr val="071D33"/>
                          </a:solidFill>
                          <a:latin typeface="Calibri"/>
                          <a:ea typeface="Calibri"/>
                          <a:cs typeface="Calibri"/>
                        </a:rPr>
                        <a:t>передать вещь или оказать услугу</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Право потребовать товар</a:t>
                      </a:r>
                    </a:p>
                    <a:p>
                      <a:pPr algn="l"/>
                      <a:r>
                        <a:rPr sz="1500" b="0">
                          <a:solidFill>
                            <a:srgbClr val="071D33"/>
                          </a:solidFill>
                          <a:latin typeface="Calibri"/>
                          <a:ea typeface="Calibri"/>
                          <a:cs typeface="Calibri"/>
                        </a:rPr>
                        <a:t>или услугу у обязанного лица</a:t>
                      </a:r>
                    </a:p>
                  </a:txBody>
                  <a:tcPr marL="133350" marR="114300" marT="76200" marB="76200" anchor="ctr">
                    <a:solidFill>
                      <a:srgbClr val="FFFFFF"/>
                    </a:solidFill>
                  </a:tcPr>
                </a:tc>
                <a:extLst>
                  <a:ext uri="{0D108BD9-81ED-4DB2-BD59-A6C34878D82A}">
                    <a16:rowId xmlns:a16="http://schemas.microsoft.com/office/drawing/2014/main" val="10002"/>
                  </a:ext>
                </a:extLst>
              </a:tr>
              <a:tr h="971550">
                <a:tc>
                  <a:txBody>
                    <a:bodyPr/>
                    <a:lstStyle/>
                    <a:p>
                      <a:pPr algn="l"/>
                      <a:r>
                        <a:rPr sz="1500" b="1">
                          <a:solidFill>
                            <a:srgbClr val="075BCB"/>
                          </a:solidFill>
                          <a:latin typeface="Calibri"/>
                          <a:ea typeface="Calibri"/>
                          <a:cs typeface="Calibri"/>
                        </a:rPr>
                        <a:t>Гибридные</a:t>
                      </a:r>
                    </a:p>
                    <a:p>
                      <a:pPr algn="l"/>
                      <a:r>
                        <a:rPr sz="1500" b="1">
                          <a:solidFill>
                            <a:srgbClr val="075BCB"/>
                          </a:solidFill>
                          <a:latin typeface="Calibri"/>
                          <a:ea typeface="Calibri"/>
                          <a:cs typeface="Calibri"/>
                        </a:rPr>
                        <a:t>цифровые права</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Сочетание финансового</a:t>
                      </a:r>
                    </a:p>
                    <a:p>
                      <a:pPr algn="l"/>
                      <a:r>
                        <a:rPr sz="1500" b="0">
                          <a:solidFill>
                            <a:srgbClr val="071D33"/>
                          </a:solidFill>
                          <a:latin typeface="Calibri"/>
                          <a:ea typeface="Calibri"/>
                          <a:cs typeface="Calibri"/>
                        </a:rPr>
                        <a:t>и другого цифрового права</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Например, право на денежную выплату</a:t>
                      </a:r>
                    </a:p>
                    <a:p>
                      <a:pPr algn="l"/>
                      <a:r>
                        <a:rPr sz="1500" b="0">
                          <a:solidFill>
                            <a:srgbClr val="071D33"/>
                          </a:solidFill>
                          <a:latin typeface="Calibri"/>
                          <a:ea typeface="Calibri"/>
                          <a:cs typeface="Calibri"/>
                        </a:rPr>
                        <a:t>и получение товара по условиям выпуска</a:t>
                      </a:r>
                    </a:p>
                  </a:txBody>
                  <a:tcPr marL="133350" marR="114300" marT="76200" marB="76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76767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ference-left-rule">
            <a:extLst>
              <a:ext uri="{FF2B5EF4-FFF2-40B4-BE49-F238E27FC236}">
                <a16:creationId xmlns:a16="http://schemas.microsoft.com/office/drawing/2014/main" id="{342ABBD6-5BAD-44F3-8952-871F873DFE92}"/>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A2A75267-F610-4CF1-A5DA-4EDF24E191C1}"/>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AB32D88A-AA06-4CC3-BBEA-107ED9A5B971}"/>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buNone/>
              <a:defRPr sz="975" b="1">
                <a:solidFill>
                  <a:srgbClr val="075BCB"/>
                </a:solidFill>
                <a:latin typeface="Calibri"/>
                <a:ea typeface="Calibri"/>
                <a:cs typeface="Calibri"/>
              </a:defRPr>
            </a:pPr>
            <a:r>
              <a:rPr sz="975" b="1">
                <a:solidFill>
                  <a:srgbClr val="075BCB"/>
                </a:solidFill>
                <a:latin typeface="Calibri"/>
                <a:ea typeface="Calibri"/>
                <a:cs typeface="Calibri"/>
              </a:rPr>
              <a:t>ПРИЛОЖЕНИЕ 3. ЦИФРОВОЙ РУБЛЬ И ЦИФРОВЫЕ ПРАВА</a:t>
            </a:r>
          </a:p>
        </p:txBody>
      </p:sp>
      <p:sp>
        <p:nvSpPr>
          <p:cNvPr id="4" name="title">
            <a:extLst>
              <a:ext uri="{FF2B5EF4-FFF2-40B4-BE49-F238E27FC236}">
                <a16:creationId xmlns:a16="http://schemas.microsoft.com/office/drawing/2014/main" id="{AD6AFE8B-934A-4BB1-AFB8-9EE9C6E67FDF}"/>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buNone/>
              <a:defRPr sz="2325" b="1">
                <a:solidFill>
                  <a:srgbClr val="071D33"/>
                </a:solidFill>
                <a:latin typeface="Calibri"/>
                <a:ea typeface="Calibri"/>
                <a:cs typeface="Calibri"/>
              </a:defRPr>
            </a:pPr>
            <a:r>
              <a:rPr sz="2325" b="1">
                <a:solidFill>
                  <a:srgbClr val="071D33"/>
                </a:solidFill>
                <a:latin typeface="Calibri"/>
                <a:ea typeface="Calibri"/>
                <a:cs typeface="Calibri"/>
              </a:rPr>
              <a:t>100 000 ₽: деньги и требование к эмитенту</a:t>
            </a:r>
          </a:p>
        </p:txBody>
      </p:sp>
      <p:sp>
        <p:nvSpPr>
          <p:cNvPr id="5" name="page-number">
            <a:extLst>
              <a:ext uri="{FF2B5EF4-FFF2-40B4-BE49-F238E27FC236}">
                <a16:creationId xmlns:a16="http://schemas.microsoft.com/office/drawing/2014/main" id="{8DB9058C-8325-4F71-84F4-F1E3D4CD1CBB}"/>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buNone/>
              <a:defRPr sz="975" b="1">
                <a:solidFill>
                  <a:srgbClr val="FFFFFF"/>
                </a:solidFill>
                <a:latin typeface="Calibri"/>
                <a:ea typeface="Calibri"/>
                <a:cs typeface="Calibri"/>
              </a:defRPr>
            </a:pPr>
            <a:r>
              <a:rPr sz="975" b="1">
                <a:solidFill>
                  <a:srgbClr val="FFFFFF"/>
                </a:solidFill>
                <a:latin typeface="Calibri"/>
                <a:ea typeface="Calibri"/>
                <a:cs typeface="Calibri"/>
              </a:rPr>
              <a:t>П3</a:t>
            </a:r>
          </a:p>
        </p:txBody>
      </p:sp>
      <p:sp>
        <p:nvSpPr>
          <p:cNvPr id="6" name="heading-divider">
            <a:extLst>
              <a:ext uri="{FF2B5EF4-FFF2-40B4-BE49-F238E27FC236}">
                <a16:creationId xmlns:a16="http://schemas.microsoft.com/office/drawing/2014/main" id="{32D0CD2E-192E-41FF-82D0-3FE119753291}"/>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ED828C09-105A-4E0A-9A31-B2149FC3DBBB}"/>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47D2002A-9311-4C32-ACBE-5B2CEFD7C0F5}"/>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buNone/>
              <a:defRPr sz="1500" b="1">
                <a:solidFill>
                  <a:srgbClr val="071D33"/>
                </a:solidFill>
                <a:latin typeface="Calibri"/>
                <a:ea typeface="Calibri"/>
                <a:cs typeface="Calibri"/>
              </a:defRPr>
            </a:pPr>
            <a:r>
              <a:rPr sz="1500" b="1">
                <a:solidFill>
                  <a:srgbClr val="071D33"/>
                </a:solidFill>
                <a:latin typeface="Calibri"/>
                <a:ea typeface="Calibri"/>
                <a:cs typeface="Calibri"/>
              </a:rPr>
              <a:t>Исполнение обязательства по ЦФА зависит от эмитента. Запись в реестре фиксирует право владельца.</a:t>
            </a:r>
          </a:p>
        </p:txBody>
      </p:sp>
      <p:sp>
        <p:nvSpPr>
          <p:cNvPr id="9" name="sources">
            <a:extLst>
              <a:ext uri="{FF2B5EF4-FFF2-40B4-BE49-F238E27FC236}">
                <a16:creationId xmlns:a16="http://schemas.microsoft.com/office/drawing/2014/main" id="{4AA3E6D0-3C0C-45EB-8123-3D4C8BF2E160}"/>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defRPr sz="900">
                <a:solidFill>
                  <a:srgbClr val="536777"/>
                </a:solidFill>
                <a:latin typeface="Calibri"/>
                <a:ea typeface="Calibri"/>
                <a:cs typeface="Calibri"/>
              </a:defRPr>
            </a:pPr>
            <a:r>
              <a:rPr sz="900" u="sng">
                <a:solidFill>
                  <a:srgbClr val="536777"/>
                </a:solidFill>
                <a:latin typeface="Calibri"/>
                <a:ea typeface="Calibri"/>
                <a:cs typeface="Calibri"/>
                <a:hlinkClick r:id="rId3"/>
              </a:rPr>
              <a:t>Банк России, свойства цифрового рубля</a:t>
            </a:r>
            <a:r>
              <a:rPr sz="900">
                <a:solidFill>
                  <a:srgbClr val="536777"/>
                </a:solidFill>
                <a:latin typeface="Calibri"/>
                <a:ea typeface="Calibri"/>
                <a:cs typeface="Calibri"/>
              </a:rPr>
              <a:t>   </a:t>
            </a:r>
            <a:r>
              <a:rPr sz="900" u="sng">
                <a:solidFill>
                  <a:srgbClr val="536777"/>
                </a:solidFill>
                <a:latin typeface="Calibri"/>
                <a:ea typeface="Calibri"/>
                <a:cs typeface="Calibri"/>
                <a:hlinkClick r:id="rId4"/>
              </a:rPr>
              <a:t>Банк России, права по ЦФА</a:t>
            </a:r>
          </a:p>
        </p:txBody>
      </p:sp>
      <p:sp>
        <p:nvSpPr>
          <p:cNvPr id="12" name="illustrative">
            <a:extLst>
              <a:ext uri="{FF2B5EF4-FFF2-40B4-BE49-F238E27FC236}">
                <a16:creationId xmlns:a16="http://schemas.microsoft.com/office/drawing/2014/main" id="{EAE36CD0-2283-4B83-B6EB-CB549B957576}"/>
              </a:ext>
            </a:extLst>
          </p:cNvPr>
          <p:cNvSpPr>
            <a:spLocks noGrp="1"/>
          </p:cNvSpPr>
          <p:nvPr/>
        </p:nvSpPr>
        <p:spPr>
          <a:xfrm>
            <a:off x="609600" y="1714500"/>
            <a:ext cx="10972800" cy="304800"/>
          </a:xfrm>
          <a:prstGeom prst="rect">
            <a:avLst/>
          </a:prstGeom>
          <a:noFill/>
          <a:ln w="0">
            <a:noFill/>
          </a:ln>
        </p:spPr>
        <p:txBody>
          <a:bodyPr wrap="square" lIns="0" tIns="0" rIns="0" bIns="0" anchor="t">
            <a:noAutofit/>
          </a:bodyPr>
          <a:lstStyle/>
          <a:p>
            <a:pPr algn="l">
              <a:defRPr sz="1575" b="1">
                <a:solidFill>
                  <a:srgbClr val="075BCB"/>
                </a:solidFill>
                <a:latin typeface="Calibri"/>
                <a:ea typeface="Calibri"/>
                <a:cs typeface="Calibri"/>
              </a:defRPr>
            </a:pPr>
            <a:r>
              <a:rPr sz="1575" b="1">
                <a:solidFill>
                  <a:srgbClr val="075BCB"/>
                </a:solidFill>
                <a:latin typeface="Calibri"/>
                <a:ea typeface="Calibri"/>
                <a:cs typeface="Calibri"/>
              </a:rPr>
              <a:t>Учебный пример. Выплата по условному долговому ЦФА через год составляет 110 000 ₽.</a:t>
            </a:r>
          </a:p>
        </p:txBody>
      </p:sp>
      <p:sp>
        <p:nvSpPr>
          <p:cNvPr id="13" name="cash-label">
            <a:extLst>
              <a:ext uri="{FF2B5EF4-FFF2-40B4-BE49-F238E27FC236}">
                <a16:creationId xmlns:a16="http://schemas.microsoft.com/office/drawing/2014/main" id="{FBF1FB5C-8B5D-4C1D-8D9D-AE53EE5A473D}"/>
              </a:ext>
            </a:extLst>
          </p:cNvPr>
          <p:cNvSpPr>
            <a:spLocks noGrp="1"/>
          </p:cNvSpPr>
          <p:nvPr/>
        </p:nvSpPr>
        <p:spPr>
          <a:xfrm>
            <a:off x="742950" y="2209800"/>
            <a:ext cx="4667250" cy="304800"/>
          </a:xfrm>
          <a:prstGeom prst="rect">
            <a:avLst/>
          </a:prstGeom>
          <a:noFill/>
          <a:ln w="0">
            <a:noFill/>
          </a:ln>
        </p:spPr>
        <p:txBody>
          <a:bodyPr wrap="square" lIns="0" tIns="0" rIns="0" bIns="0" anchor="t">
            <a:noAutofit/>
          </a:bodyPr>
          <a:lstStyle/>
          <a:p>
            <a:pPr algn="l">
              <a:defRPr sz="1725" b="1">
                <a:solidFill>
                  <a:srgbClr val="071D33"/>
                </a:solidFill>
                <a:latin typeface="Calibri"/>
                <a:ea typeface="Calibri"/>
                <a:cs typeface="Calibri"/>
              </a:defRPr>
            </a:pPr>
            <a:r>
              <a:rPr sz="1725" b="1">
                <a:solidFill>
                  <a:srgbClr val="071D33"/>
                </a:solidFill>
                <a:latin typeface="Calibri"/>
                <a:ea typeface="Calibri"/>
                <a:cs typeface="Calibri"/>
              </a:rPr>
              <a:t>В цифровом кошельке</a:t>
            </a:r>
          </a:p>
        </p:txBody>
      </p:sp>
      <p:sp>
        <p:nvSpPr>
          <p:cNvPr id="14" name="cash-amount">
            <a:extLst>
              <a:ext uri="{FF2B5EF4-FFF2-40B4-BE49-F238E27FC236}">
                <a16:creationId xmlns:a16="http://schemas.microsoft.com/office/drawing/2014/main" id="{4E02F511-F5EB-4E98-A31F-07103FB36F9C}"/>
              </a:ext>
            </a:extLst>
          </p:cNvPr>
          <p:cNvSpPr>
            <a:spLocks noGrp="1"/>
          </p:cNvSpPr>
          <p:nvPr/>
        </p:nvSpPr>
        <p:spPr>
          <a:xfrm>
            <a:off x="742950" y="2571750"/>
            <a:ext cx="4667250" cy="609600"/>
          </a:xfrm>
          <a:prstGeom prst="rect">
            <a:avLst/>
          </a:prstGeom>
          <a:noFill/>
          <a:ln w="0">
            <a:noFill/>
          </a:ln>
        </p:spPr>
        <p:txBody>
          <a:bodyPr wrap="square" lIns="0" tIns="0" rIns="0" bIns="0" anchor="t">
            <a:noAutofit/>
          </a:bodyPr>
          <a:lstStyle/>
          <a:p>
            <a:pPr algn="l">
              <a:defRPr sz="3450" b="1">
                <a:solidFill>
                  <a:srgbClr val="075BCB"/>
                </a:solidFill>
                <a:latin typeface="Calibri"/>
                <a:ea typeface="Calibri"/>
                <a:cs typeface="Calibri"/>
              </a:defRPr>
            </a:pPr>
            <a:r>
              <a:rPr sz="3450" b="1" dirty="0">
                <a:solidFill>
                  <a:srgbClr val="075BCB"/>
                </a:solidFill>
                <a:latin typeface="Calibri"/>
                <a:ea typeface="Calibri"/>
                <a:cs typeface="Calibri"/>
              </a:rPr>
              <a:t>100 000 ₽</a:t>
            </a:r>
          </a:p>
        </p:txBody>
      </p:sp>
      <p:sp>
        <p:nvSpPr>
          <p:cNvPr id="15" name="cfa-label">
            <a:extLst>
              <a:ext uri="{FF2B5EF4-FFF2-40B4-BE49-F238E27FC236}">
                <a16:creationId xmlns:a16="http://schemas.microsoft.com/office/drawing/2014/main" id="{F7291635-F90A-44F0-9FD2-A5561C656960}"/>
              </a:ext>
            </a:extLst>
          </p:cNvPr>
          <p:cNvSpPr>
            <a:spLocks noGrp="1"/>
          </p:cNvSpPr>
          <p:nvPr/>
        </p:nvSpPr>
        <p:spPr>
          <a:xfrm>
            <a:off x="6305550" y="2209800"/>
            <a:ext cx="4667250" cy="304800"/>
          </a:xfrm>
          <a:prstGeom prst="rect">
            <a:avLst/>
          </a:prstGeom>
          <a:noFill/>
          <a:ln w="0">
            <a:noFill/>
          </a:ln>
        </p:spPr>
        <p:txBody>
          <a:bodyPr wrap="square" lIns="0" tIns="0" rIns="0" bIns="0" anchor="t">
            <a:noAutofit/>
          </a:bodyPr>
          <a:lstStyle/>
          <a:p>
            <a:pPr algn="l">
              <a:defRPr sz="1725" b="1">
                <a:solidFill>
                  <a:srgbClr val="071D33"/>
                </a:solidFill>
                <a:latin typeface="Calibri"/>
                <a:ea typeface="Calibri"/>
                <a:cs typeface="Calibri"/>
              </a:defRPr>
            </a:pPr>
            <a:r>
              <a:rPr sz="1725" b="1">
                <a:solidFill>
                  <a:srgbClr val="071D33"/>
                </a:solidFill>
                <a:latin typeface="Calibri"/>
                <a:ea typeface="Calibri"/>
                <a:cs typeface="Calibri"/>
              </a:rPr>
              <a:t>Вложено в условный ЦФА</a:t>
            </a:r>
          </a:p>
        </p:txBody>
      </p:sp>
      <p:sp>
        <p:nvSpPr>
          <p:cNvPr id="16" name="cfa-amount">
            <a:extLst>
              <a:ext uri="{FF2B5EF4-FFF2-40B4-BE49-F238E27FC236}">
                <a16:creationId xmlns:a16="http://schemas.microsoft.com/office/drawing/2014/main" id="{16F97754-6365-4C57-9B0B-34EA7181AFD9}"/>
              </a:ext>
            </a:extLst>
          </p:cNvPr>
          <p:cNvSpPr>
            <a:spLocks noGrp="1"/>
          </p:cNvSpPr>
          <p:nvPr/>
        </p:nvSpPr>
        <p:spPr>
          <a:xfrm>
            <a:off x="6305550" y="2571750"/>
            <a:ext cx="4667250" cy="609600"/>
          </a:xfrm>
          <a:prstGeom prst="rect">
            <a:avLst/>
          </a:prstGeom>
          <a:noFill/>
          <a:ln w="0">
            <a:noFill/>
          </a:ln>
        </p:spPr>
        <p:txBody>
          <a:bodyPr wrap="square" lIns="0" tIns="0" rIns="0" bIns="0" anchor="t">
            <a:noAutofit/>
          </a:bodyPr>
          <a:lstStyle/>
          <a:p>
            <a:pPr algn="l">
              <a:defRPr sz="3450" b="1">
                <a:solidFill>
                  <a:srgbClr val="075BCB"/>
                </a:solidFill>
                <a:latin typeface="Calibri"/>
                <a:ea typeface="Calibri"/>
                <a:cs typeface="Calibri"/>
              </a:defRPr>
            </a:pPr>
            <a:r>
              <a:rPr sz="3450" b="1">
                <a:solidFill>
                  <a:srgbClr val="075BCB"/>
                </a:solidFill>
                <a:latin typeface="Calibri"/>
                <a:ea typeface="Calibri"/>
                <a:cs typeface="Calibri"/>
              </a:rPr>
              <a:t>100 000 ₽</a:t>
            </a:r>
          </a:p>
        </p:txBody>
      </p:sp>
      <p:graphicFrame>
        <p:nvGraphicFramePr>
          <p:cNvPr id="32" name="Table 31"/>
          <p:cNvGraphicFramePr/>
          <p:nvPr/>
        </p:nvGraphicFramePr>
        <p:xfrm>
          <a:off x="609600" y="3314700"/>
          <a:ext cx="10972800" cy="2305050"/>
        </p:xfrm>
        <a:graphic>
          <a:graphicData uri="http://schemas.openxmlformats.org/drawingml/2006/table">
            <a:tbl>
              <a:tblPr/>
              <a:tblGrid>
                <a:gridCol w="207645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419100">
                <a:tc>
                  <a:txBody>
                    <a:bodyPr/>
                    <a:lstStyle/>
                    <a:p>
                      <a:pPr algn="l"/>
                      <a:r>
                        <a:rPr sz="1388" b="1">
                          <a:solidFill>
                            <a:srgbClr val="FFFFFF"/>
                          </a:solidFill>
                          <a:latin typeface="Calibri"/>
                          <a:ea typeface="Calibri"/>
                          <a:cs typeface="Calibri"/>
                        </a:rPr>
                        <a:t>Содержание</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Цифровой рубль</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Долговой ЦФА</a:t>
                      </a:r>
                    </a:p>
                  </a:txBody>
                  <a:tcPr marL="133350" marR="114300" marT="76200" marB="76200" anchor="ctr">
                    <a:solidFill>
                      <a:srgbClr val="071D33"/>
                    </a:solidFill>
                  </a:tcPr>
                </a:tc>
                <a:extLst>
                  <a:ext uri="{0D108BD9-81ED-4DB2-BD59-A6C34878D82A}">
                    <a16:rowId xmlns:a16="http://schemas.microsoft.com/office/drawing/2014/main" val="10000"/>
                  </a:ext>
                </a:extLst>
              </a:tr>
              <a:tr h="590550">
                <a:tc>
                  <a:txBody>
                    <a:bodyPr/>
                    <a:lstStyle/>
                    <a:p>
                      <a:pPr algn="l"/>
                      <a:r>
                        <a:rPr sz="1500" b="1">
                          <a:solidFill>
                            <a:srgbClr val="075BCB"/>
                          </a:solidFill>
                          <a:latin typeface="Calibri"/>
                          <a:ea typeface="Calibri"/>
                          <a:cs typeface="Calibri"/>
                        </a:rPr>
                        <a:t>Право владельца</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Проводить платежи и переводы</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Потребовать выплату</a:t>
                      </a:r>
                    </a:p>
                    <a:p>
                      <a:pPr algn="l"/>
                      <a:r>
                        <a:rPr sz="1500" b="0">
                          <a:solidFill>
                            <a:srgbClr val="071D33"/>
                          </a:solidFill>
                          <a:latin typeface="Calibri"/>
                          <a:ea typeface="Calibri"/>
                          <a:cs typeface="Calibri"/>
                        </a:rPr>
                        <a:t>по условиям выпуска</a:t>
                      </a:r>
                    </a:p>
                  </a:txBody>
                  <a:tcPr marL="133350" marR="114300" marT="76200" marB="76200" anchor="ctr">
                    <a:solidFill>
                      <a:srgbClr val="FFFFFF"/>
                    </a:solidFill>
                  </a:tcPr>
                </a:tc>
                <a:extLst>
                  <a:ext uri="{0D108BD9-81ED-4DB2-BD59-A6C34878D82A}">
                    <a16:rowId xmlns:a16="http://schemas.microsoft.com/office/drawing/2014/main" val="10001"/>
                  </a:ext>
                </a:extLst>
              </a:tr>
              <a:tr h="666750">
                <a:tc>
                  <a:txBody>
                    <a:bodyPr/>
                    <a:lstStyle/>
                    <a:p>
                      <a:pPr algn="l"/>
                      <a:r>
                        <a:rPr sz="1500" b="1">
                          <a:solidFill>
                            <a:srgbClr val="075BCB"/>
                          </a:solidFill>
                          <a:latin typeface="Calibri"/>
                          <a:ea typeface="Calibri"/>
                          <a:cs typeface="Calibri"/>
                        </a:rPr>
                        <a:t>Через один год</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100 000 ₽ при отсутствии операций.</a:t>
                      </a:r>
                    </a:p>
                    <a:p>
                      <a:pPr algn="l"/>
                      <a:r>
                        <a:rPr sz="1500" b="0">
                          <a:solidFill>
                            <a:srgbClr val="071D33"/>
                          </a:solidFill>
                          <a:latin typeface="Calibri"/>
                          <a:ea typeface="Calibri"/>
                          <a:cs typeface="Calibri"/>
                        </a:rPr>
                        <a:t>Проценты не начисляются</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Предусмотренная выплата 110 000 ₽.</a:t>
                      </a:r>
                    </a:p>
                    <a:p>
                      <a:pPr algn="l"/>
                      <a:r>
                        <a:rPr sz="1500" b="0">
                          <a:solidFill>
                            <a:srgbClr val="071D33"/>
                          </a:solidFill>
                          <a:latin typeface="Calibri"/>
                          <a:ea typeface="Calibri"/>
                          <a:cs typeface="Calibri"/>
                        </a:rPr>
                        <a:t>Условный доход составляет 10%</a:t>
                      </a:r>
                    </a:p>
                  </a:txBody>
                  <a:tcPr marL="133350" marR="114300" marT="76200" marB="76200" anchor="ctr">
                    <a:solidFill>
                      <a:srgbClr val="FFFFFF"/>
                    </a:solidFill>
                  </a:tcPr>
                </a:tc>
                <a:extLst>
                  <a:ext uri="{0D108BD9-81ED-4DB2-BD59-A6C34878D82A}">
                    <a16:rowId xmlns:a16="http://schemas.microsoft.com/office/drawing/2014/main" val="10002"/>
                  </a:ext>
                </a:extLst>
              </a:tr>
              <a:tr h="590550">
                <a:tc>
                  <a:txBody>
                    <a:bodyPr/>
                    <a:lstStyle/>
                    <a:p>
                      <a:pPr algn="l"/>
                      <a:r>
                        <a:rPr sz="1500" b="1">
                          <a:solidFill>
                            <a:srgbClr val="075BCB"/>
                          </a:solidFill>
                          <a:latin typeface="Calibri"/>
                          <a:ea typeface="Calibri"/>
                          <a:cs typeface="Calibri"/>
                        </a:rPr>
                        <a:t>Кто исполняет</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Банк России проводит</a:t>
                      </a:r>
                    </a:p>
                    <a:p>
                      <a:pPr algn="l"/>
                      <a:r>
                        <a:rPr sz="1500" b="0">
                          <a:solidFill>
                            <a:srgbClr val="071D33"/>
                          </a:solidFill>
                          <a:latin typeface="Calibri"/>
                          <a:ea typeface="Calibri"/>
                          <a:cs typeface="Calibri"/>
                        </a:rPr>
                        <a:t>операции платформы</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Эмитент выплачивает деньги</a:t>
                      </a:r>
                    </a:p>
                    <a:p>
                      <a:pPr algn="l"/>
                      <a:r>
                        <a:rPr sz="1500" b="0">
                          <a:solidFill>
                            <a:srgbClr val="071D33"/>
                          </a:solidFill>
                          <a:latin typeface="Calibri"/>
                          <a:ea typeface="Calibri"/>
                          <a:cs typeface="Calibri"/>
                        </a:rPr>
                        <a:t>в соответствии с условиями</a:t>
                      </a:r>
                    </a:p>
                  </a:txBody>
                  <a:tcPr marL="133350" marR="114300" marT="76200" marB="76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15153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ference-left-rule">
            <a:extLst>
              <a:ext uri="{FF2B5EF4-FFF2-40B4-BE49-F238E27FC236}">
                <a16:creationId xmlns:a16="http://schemas.microsoft.com/office/drawing/2014/main" id="{342ABBD6-5BAD-44F3-8952-871F873DFE92}"/>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A2A75267-F610-4CF1-A5DA-4EDF24E191C1}"/>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AB32D88A-AA06-4CC3-BBEA-107ED9A5B971}"/>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buNone/>
              <a:defRPr sz="975" b="1">
                <a:solidFill>
                  <a:srgbClr val="075BCB"/>
                </a:solidFill>
                <a:latin typeface="Calibri"/>
                <a:ea typeface="Calibri"/>
                <a:cs typeface="Calibri"/>
              </a:defRPr>
            </a:pPr>
            <a:r>
              <a:rPr sz="975" b="1">
                <a:solidFill>
                  <a:srgbClr val="075BCB"/>
                </a:solidFill>
                <a:latin typeface="Calibri"/>
                <a:ea typeface="Calibri"/>
                <a:cs typeface="Calibri"/>
              </a:rPr>
              <a:t>ПРИЛОЖЕНИЕ 4. ЦИФРОВОЙ РУБЛЬ И ЦИФРОВЫЕ ПРАВА</a:t>
            </a:r>
          </a:p>
        </p:txBody>
      </p:sp>
      <p:sp>
        <p:nvSpPr>
          <p:cNvPr id="4" name="title">
            <a:extLst>
              <a:ext uri="{FF2B5EF4-FFF2-40B4-BE49-F238E27FC236}">
                <a16:creationId xmlns:a16="http://schemas.microsoft.com/office/drawing/2014/main" id="{AD6AFE8B-934A-4BB1-AFB8-9EE9C6E67FDF}"/>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buNone/>
              <a:defRPr sz="2325" b="1">
                <a:solidFill>
                  <a:srgbClr val="071D33"/>
                </a:solidFill>
                <a:latin typeface="Calibri"/>
                <a:ea typeface="Calibri"/>
                <a:cs typeface="Calibri"/>
              </a:defRPr>
            </a:pPr>
            <a:r>
              <a:rPr sz="2325" b="1">
                <a:solidFill>
                  <a:srgbClr val="071D33"/>
                </a:solidFill>
                <a:latin typeface="Calibri"/>
                <a:ea typeface="Calibri"/>
                <a:cs typeface="Calibri"/>
              </a:rPr>
              <a:t>Токен на золото или недвижимость</a:t>
            </a:r>
          </a:p>
        </p:txBody>
      </p:sp>
      <p:sp>
        <p:nvSpPr>
          <p:cNvPr id="5" name="page-number">
            <a:extLst>
              <a:ext uri="{FF2B5EF4-FFF2-40B4-BE49-F238E27FC236}">
                <a16:creationId xmlns:a16="http://schemas.microsoft.com/office/drawing/2014/main" id="{8DB9058C-8325-4F71-84F4-F1E3D4CD1CBB}"/>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buNone/>
              <a:defRPr sz="975" b="1">
                <a:solidFill>
                  <a:srgbClr val="FFFFFF"/>
                </a:solidFill>
                <a:latin typeface="Calibri"/>
                <a:ea typeface="Calibri"/>
                <a:cs typeface="Calibri"/>
              </a:defRPr>
            </a:pPr>
            <a:r>
              <a:rPr sz="975" b="1">
                <a:solidFill>
                  <a:srgbClr val="FFFFFF"/>
                </a:solidFill>
                <a:latin typeface="Calibri"/>
                <a:ea typeface="Calibri"/>
                <a:cs typeface="Calibri"/>
              </a:rPr>
              <a:t>П4</a:t>
            </a:r>
          </a:p>
        </p:txBody>
      </p:sp>
      <p:sp>
        <p:nvSpPr>
          <p:cNvPr id="6" name="heading-divider">
            <a:extLst>
              <a:ext uri="{FF2B5EF4-FFF2-40B4-BE49-F238E27FC236}">
                <a16:creationId xmlns:a16="http://schemas.microsoft.com/office/drawing/2014/main" id="{32D0CD2E-192E-41FF-82D0-3FE119753291}"/>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ED828C09-105A-4E0A-9A31-B2149FC3DBBB}"/>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47D2002A-9311-4C32-ACBE-5B2CEFD7C0F5}"/>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buNone/>
              <a:defRPr sz="1500" b="1">
                <a:solidFill>
                  <a:srgbClr val="071D33"/>
                </a:solidFill>
                <a:latin typeface="Calibri"/>
                <a:ea typeface="Calibri"/>
                <a:cs typeface="Calibri"/>
              </a:defRPr>
            </a:pPr>
            <a:r>
              <a:rPr sz="1500" b="1">
                <a:solidFill>
                  <a:srgbClr val="071D33"/>
                </a:solidFill>
                <a:latin typeface="Calibri"/>
                <a:ea typeface="Calibri"/>
                <a:cs typeface="Calibri"/>
              </a:rPr>
              <a:t>Право на выплату, требование передачи вещи и право собственности имеют разное содержание.</a:t>
            </a:r>
          </a:p>
        </p:txBody>
      </p:sp>
      <p:sp>
        <p:nvSpPr>
          <p:cNvPr id="9" name="sources">
            <a:extLst>
              <a:ext uri="{FF2B5EF4-FFF2-40B4-BE49-F238E27FC236}">
                <a16:creationId xmlns:a16="http://schemas.microsoft.com/office/drawing/2014/main" id="{4AA3E6D0-3C0C-45EB-8123-3D4C8BF2E160}"/>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defRPr sz="900">
                <a:solidFill>
                  <a:srgbClr val="536777"/>
                </a:solidFill>
                <a:latin typeface="Calibri"/>
                <a:ea typeface="Calibri"/>
                <a:cs typeface="Calibri"/>
              </a:defRPr>
            </a:pPr>
            <a:r>
              <a:rPr sz="900" u="sng" dirty="0">
                <a:solidFill>
                  <a:srgbClr val="536777"/>
                </a:solidFill>
                <a:latin typeface="Calibri"/>
                <a:ea typeface="Calibri"/>
                <a:cs typeface="Calibri"/>
                <a:hlinkClick r:id="rId3"/>
              </a:rPr>
              <a:t>Банк России, доклад о токенизации, 2024</a:t>
            </a:r>
            <a:r>
              <a:rPr sz="900" dirty="0">
                <a:solidFill>
                  <a:srgbClr val="536777"/>
                </a:solidFill>
                <a:latin typeface="Calibri"/>
                <a:ea typeface="Calibri"/>
                <a:cs typeface="Calibri"/>
              </a:rPr>
              <a:t>   </a:t>
            </a:r>
            <a:r>
              <a:rPr sz="900" u="sng" dirty="0">
                <a:solidFill>
                  <a:srgbClr val="536777"/>
                </a:solidFill>
                <a:latin typeface="Calibri"/>
                <a:ea typeface="Calibri"/>
                <a:cs typeface="Calibri"/>
                <a:hlinkClick r:id="rId4"/>
              </a:rPr>
              <a:t>Банк России, цифровые права</a:t>
            </a:r>
          </a:p>
        </p:txBody>
      </p:sp>
      <p:sp>
        <p:nvSpPr>
          <p:cNvPr id="12" name="context">
            <a:extLst>
              <a:ext uri="{FF2B5EF4-FFF2-40B4-BE49-F238E27FC236}">
                <a16:creationId xmlns:a16="http://schemas.microsoft.com/office/drawing/2014/main" id="{435745E9-A2D3-48F6-87CB-04CC78E68E37}"/>
              </a:ext>
            </a:extLst>
          </p:cNvPr>
          <p:cNvSpPr>
            <a:spLocks noGrp="1"/>
          </p:cNvSpPr>
          <p:nvPr/>
        </p:nvSpPr>
        <p:spPr>
          <a:xfrm>
            <a:off x="609600" y="1714500"/>
            <a:ext cx="10972800" cy="304800"/>
          </a:xfrm>
          <a:prstGeom prst="rect">
            <a:avLst/>
          </a:prstGeom>
          <a:noFill/>
          <a:ln w="0">
            <a:noFill/>
          </a:ln>
        </p:spPr>
        <p:txBody>
          <a:bodyPr wrap="square" lIns="0" tIns="0" rIns="0" bIns="0" anchor="t">
            <a:noAutofit/>
          </a:bodyPr>
          <a:lstStyle/>
          <a:p>
            <a:pPr algn="l">
              <a:defRPr sz="1575" b="1">
                <a:solidFill>
                  <a:srgbClr val="075BCB"/>
                </a:solidFill>
                <a:latin typeface="Calibri"/>
                <a:ea typeface="Calibri"/>
                <a:cs typeface="Calibri"/>
              </a:defRPr>
            </a:pPr>
            <a:r>
              <a:rPr sz="1575" b="1">
                <a:solidFill>
                  <a:srgbClr val="075BCB"/>
                </a:solidFill>
                <a:latin typeface="Calibri"/>
                <a:ea typeface="Calibri"/>
                <a:cs typeface="Calibri"/>
              </a:rPr>
              <a:t>В документах выпуска указано, на какую выплату или действие имеет право владелец.</a:t>
            </a:r>
          </a:p>
        </p:txBody>
      </p:sp>
      <p:graphicFrame>
        <p:nvGraphicFramePr>
          <p:cNvPr id="24" name="Table 23"/>
          <p:cNvGraphicFramePr/>
          <p:nvPr/>
        </p:nvGraphicFramePr>
        <p:xfrm>
          <a:off x="609600" y="2190750"/>
          <a:ext cx="10972800" cy="3352800"/>
        </p:xfrm>
        <a:graphic>
          <a:graphicData uri="http://schemas.openxmlformats.org/drawingml/2006/table">
            <a:tbl>
              <a:tblPr/>
              <a:tblGrid>
                <a:gridCol w="2705100">
                  <a:extLst>
                    <a:ext uri="{9D8B030D-6E8A-4147-A177-3AD203B41FA5}">
                      <a16:colId xmlns:a16="http://schemas.microsoft.com/office/drawing/2014/main" val="20000"/>
                    </a:ext>
                  </a:extLst>
                </a:gridCol>
                <a:gridCol w="36957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57200">
                <a:tc>
                  <a:txBody>
                    <a:bodyPr/>
                    <a:lstStyle/>
                    <a:p>
                      <a:pPr algn="l"/>
                      <a:r>
                        <a:rPr sz="1388" b="1">
                          <a:solidFill>
                            <a:srgbClr val="FFFFFF"/>
                          </a:solidFill>
                          <a:latin typeface="Calibri"/>
                          <a:ea typeface="Calibri"/>
                          <a:cs typeface="Calibri"/>
                        </a:rPr>
                        <a:t>Конструкция</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Право обладателя</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Связь с реальным активом</a:t>
                      </a:r>
                    </a:p>
                  </a:txBody>
                  <a:tcPr marL="133350" marR="114300" marT="76200" marB="76200" anchor="ctr">
                    <a:solidFill>
                      <a:srgbClr val="071D33"/>
                    </a:solidFill>
                  </a:tcPr>
                </a:tc>
                <a:extLst>
                  <a:ext uri="{0D108BD9-81ED-4DB2-BD59-A6C34878D82A}">
                    <a16:rowId xmlns:a16="http://schemas.microsoft.com/office/drawing/2014/main" val="10000"/>
                  </a:ext>
                </a:extLst>
              </a:tr>
              <a:tr h="952500">
                <a:tc>
                  <a:txBody>
                    <a:bodyPr/>
                    <a:lstStyle/>
                    <a:p>
                      <a:pPr algn="l"/>
                      <a:r>
                        <a:rPr sz="1500" b="1">
                          <a:solidFill>
                            <a:srgbClr val="075BCB"/>
                          </a:solidFill>
                          <a:latin typeface="Calibri"/>
                          <a:ea typeface="Calibri"/>
                          <a:cs typeface="Calibri"/>
                        </a:rPr>
                        <a:t>ЦФА на цену золота</a:t>
                      </a:r>
                    </a:p>
                    <a:p>
                      <a:pPr algn="l"/>
                      <a:r>
                        <a:rPr sz="1500" b="1">
                          <a:solidFill>
                            <a:srgbClr val="075BCB"/>
                          </a:solidFill>
                          <a:latin typeface="Calibri"/>
                          <a:ea typeface="Calibri"/>
                          <a:cs typeface="Calibri"/>
                        </a:rPr>
                        <a:t>Учебный пример</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Получить денежную выплату</a:t>
                      </a:r>
                    </a:p>
                    <a:p>
                      <a:pPr algn="l"/>
                      <a:r>
                        <a:rPr sz="1500" b="0">
                          <a:solidFill>
                            <a:srgbClr val="071D33"/>
                          </a:solidFill>
                          <a:latin typeface="Calibri"/>
                          <a:ea typeface="Calibri"/>
                          <a:cs typeface="Calibri"/>
                        </a:rPr>
                        <a:t>по заданной формуле</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Цена золота влияет на выплату.</a:t>
                      </a:r>
                    </a:p>
                    <a:p>
                      <a:pPr algn="l"/>
                      <a:r>
                        <a:rPr sz="1500" b="0">
                          <a:solidFill>
                            <a:srgbClr val="071D33"/>
                          </a:solidFill>
                          <a:latin typeface="Calibri"/>
                          <a:ea typeface="Calibri"/>
                          <a:cs typeface="Calibri"/>
                        </a:rPr>
                        <a:t>Передача слитка таким правом</a:t>
                      </a:r>
                    </a:p>
                    <a:p>
                      <a:pPr algn="l"/>
                      <a:r>
                        <a:rPr sz="1500" b="0">
                          <a:solidFill>
                            <a:srgbClr val="071D33"/>
                          </a:solidFill>
                          <a:latin typeface="Calibri"/>
                          <a:ea typeface="Calibri"/>
                          <a:cs typeface="Calibri"/>
                        </a:rPr>
                        <a:t>не предусмотрена</a:t>
                      </a:r>
                    </a:p>
                  </a:txBody>
                  <a:tcPr marL="133350" marR="114300" marT="76200" marB="76200" anchor="ctr">
                    <a:solidFill>
                      <a:srgbClr val="FFFFFF"/>
                    </a:solidFill>
                  </a:tcPr>
                </a:tc>
                <a:extLst>
                  <a:ext uri="{0D108BD9-81ED-4DB2-BD59-A6C34878D82A}">
                    <a16:rowId xmlns:a16="http://schemas.microsoft.com/office/drawing/2014/main" val="10001"/>
                  </a:ext>
                </a:extLst>
              </a:tr>
              <a:tr h="1028700">
                <a:tc>
                  <a:txBody>
                    <a:bodyPr/>
                    <a:lstStyle/>
                    <a:p>
                      <a:pPr algn="l"/>
                      <a:r>
                        <a:rPr sz="1500" b="1">
                          <a:solidFill>
                            <a:srgbClr val="075BCB"/>
                          </a:solidFill>
                          <a:latin typeface="Calibri"/>
                          <a:ea typeface="Calibri"/>
                          <a:cs typeface="Calibri"/>
                        </a:rPr>
                        <a:t>«Цифровой</a:t>
                      </a:r>
                    </a:p>
                    <a:p>
                      <a:pPr algn="l"/>
                      <a:r>
                        <a:rPr sz="1500" b="1">
                          <a:solidFill>
                            <a:srgbClr val="075BCB"/>
                          </a:solidFill>
                          <a:latin typeface="Calibri"/>
                          <a:ea typeface="Calibri"/>
                          <a:cs typeface="Calibri"/>
                        </a:rPr>
                        <a:t>квадратный метр»</a:t>
                      </a:r>
                    </a:p>
                    <a:p>
                      <a:pPr algn="l"/>
                      <a:r>
                        <a:rPr sz="1500" b="1">
                          <a:solidFill>
                            <a:srgbClr val="075BCB"/>
                          </a:solidFill>
                          <a:latin typeface="Calibri"/>
                          <a:ea typeface="Calibri"/>
                          <a:cs typeface="Calibri"/>
                        </a:rPr>
                        <a:t>Пример из доклада ЦБ</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Денежное требование,</a:t>
                      </a:r>
                    </a:p>
                    <a:p>
                      <a:pPr algn="l"/>
                      <a:r>
                        <a:rPr sz="1500" b="0">
                          <a:solidFill>
                            <a:srgbClr val="071D33"/>
                          </a:solidFill>
                          <a:latin typeface="Calibri"/>
                          <a:ea typeface="Calibri"/>
                          <a:cs typeface="Calibri"/>
                        </a:rPr>
                        <a:t>привязанное к индексу</a:t>
                      </a:r>
                    </a:p>
                    <a:p>
                      <a:pPr algn="l"/>
                      <a:r>
                        <a:rPr sz="1500" b="0">
                          <a:solidFill>
                            <a:srgbClr val="071D33"/>
                          </a:solidFill>
                          <a:latin typeface="Calibri"/>
                          <a:ea typeface="Calibri"/>
                          <a:cs typeface="Calibri"/>
                        </a:rPr>
                        <a:t>рынка недвижимости</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Инвестор получает выплату.</a:t>
                      </a:r>
                    </a:p>
                    <a:p>
                      <a:pPr algn="l"/>
                      <a:r>
                        <a:rPr sz="1500" b="0">
                          <a:solidFill>
                            <a:srgbClr val="071D33"/>
                          </a:solidFill>
                          <a:latin typeface="Calibri"/>
                          <a:ea typeface="Calibri"/>
                          <a:cs typeface="Calibri"/>
                        </a:rPr>
                        <a:t>Такое ЦФА не даёт</a:t>
                      </a:r>
                    </a:p>
                    <a:p>
                      <a:pPr algn="l"/>
                      <a:r>
                        <a:rPr sz="1500" b="0">
                          <a:solidFill>
                            <a:srgbClr val="071D33"/>
                          </a:solidFill>
                          <a:latin typeface="Calibri"/>
                          <a:ea typeface="Calibri"/>
                          <a:cs typeface="Calibri"/>
                        </a:rPr>
                        <a:t>собственность на квартиру</a:t>
                      </a:r>
                    </a:p>
                  </a:txBody>
                  <a:tcPr marL="133350" marR="114300" marT="76200" marB="76200" anchor="ctr">
                    <a:solidFill>
                      <a:srgbClr val="FFFFFF"/>
                    </a:solidFill>
                  </a:tcPr>
                </a:tc>
                <a:extLst>
                  <a:ext uri="{0D108BD9-81ED-4DB2-BD59-A6C34878D82A}">
                    <a16:rowId xmlns:a16="http://schemas.microsoft.com/office/drawing/2014/main" val="10002"/>
                  </a:ext>
                </a:extLst>
              </a:tr>
              <a:tr h="914400">
                <a:tc>
                  <a:txBody>
                    <a:bodyPr/>
                    <a:lstStyle/>
                    <a:p>
                      <a:pPr algn="l"/>
                      <a:r>
                        <a:rPr sz="1500" b="1">
                          <a:solidFill>
                            <a:srgbClr val="075BCB"/>
                          </a:solidFill>
                          <a:latin typeface="Calibri"/>
                          <a:ea typeface="Calibri"/>
                          <a:cs typeface="Calibri"/>
                        </a:rPr>
                        <a:t>Право на получение</a:t>
                      </a:r>
                    </a:p>
                    <a:p>
                      <a:pPr algn="l"/>
                      <a:r>
                        <a:rPr sz="1500" b="1">
                          <a:solidFill>
                            <a:srgbClr val="075BCB"/>
                          </a:solidFill>
                          <a:latin typeface="Calibri"/>
                          <a:ea typeface="Calibri"/>
                          <a:cs typeface="Calibri"/>
                        </a:rPr>
                        <a:t>товара</a:t>
                      </a:r>
                    </a:p>
                    <a:p>
                      <a:pPr algn="l"/>
                      <a:r>
                        <a:rPr sz="1500" b="1">
                          <a:solidFill>
                            <a:srgbClr val="075BCB"/>
                          </a:solidFill>
                          <a:latin typeface="Calibri"/>
                          <a:ea typeface="Calibri"/>
                          <a:cs typeface="Calibri"/>
                        </a:rPr>
                        <a:t>Учебный пример</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Потребовать передачи вещи</a:t>
                      </a:r>
                    </a:p>
                    <a:p>
                      <a:pPr algn="l"/>
                      <a:r>
                        <a:rPr sz="1500" b="0">
                          <a:solidFill>
                            <a:srgbClr val="071D33"/>
                          </a:solidFill>
                          <a:latin typeface="Calibri"/>
                          <a:ea typeface="Calibri"/>
                          <a:cs typeface="Calibri"/>
                        </a:rPr>
                        <a:t>у обязанного лица</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Переход собственности регулируют</a:t>
                      </a:r>
                    </a:p>
                    <a:p>
                      <a:pPr algn="l"/>
                      <a:r>
                        <a:rPr sz="1500" b="0">
                          <a:solidFill>
                            <a:srgbClr val="071D33"/>
                          </a:solidFill>
                          <a:latin typeface="Calibri"/>
                          <a:ea typeface="Calibri"/>
                          <a:cs typeface="Calibri"/>
                        </a:rPr>
                        <a:t>закон и документы сделки</a:t>
                      </a:r>
                    </a:p>
                  </a:txBody>
                  <a:tcPr marL="133350" marR="114300" marT="76200" marB="76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7722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ference-left-rule">
            <a:extLst>
              <a:ext uri="{FF2B5EF4-FFF2-40B4-BE49-F238E27FC236}">
                <a16:creationId xmlns:a16="http://schemas.microsoft.com/office/drawing/2014/main" id="{342ABBD6-5BAD-44F3-8952-871F873DFE92}"/>
              </a:ext>
            </a:extLst>
          </p:cNvPr>
          <p:cNvSpPr>
            <a:spLocks noGrp="1"/>
          </p:cNvSpPr>
          <p:nvPr/>
        </p:nvSpPr>
        <p:spPr>
          <a:xfrm>
            <a:off x="0" y="0"/>
            <a:ext cx="85725" cy="6858000"/>
          </a:xfrm>
          <a:prstGeom prst="rect">
            <a:avLst/>
          </a:prstGeom>
          <a:solidFill>
            <a:srgbClr val="075BCB"/>
          </a:solidFill>
          <a:ln w="0">
            <a:noFill/>
          </a:ln>
        </p:spPr>
      </p:sp>
      <p:sp>
        <p:nvSpPr>
          <p:cNvPr id="2" name="reference-kicker-rule">
            <a:extLst>
              <a:ext uri="{FF2B5EF4-FFF2-40B4-BE49-F238E27FC236}">
                <a16:creationId xmlns:a16="http://schemas.microsoft.com/office/drawing/2014/main" id="{A2A75267-F610-4CF1-A5DA-4EDF24E191C1}"/>
              </a:ext>
            </a:extLst>
          </p:cNvPr>
          <p:cNvSpPr>
            <a:spLocks noGrp="1"/>
          </p:cNvSpPr>
          <p:nvPr/>
        </p:nvSpPr>
        <p:spPr>
          <a:xfrm>
            <a:off x="609600" y="323850"/>
            <a:ext cx="304800" cy="0"/>
          </a:xfrm>
          <a:prstGeom prst="line">
            <a:avLst/>
          </a:prstGeom>
          <a:noFill/>
          <a:ln w="28575">
            <a:solidFill>
              <a:srgbClr val="075BCB"/>
            </a:solidFill>
            <a:prstDash val="solid"/>
          </a:ln>
        </p:spPr>
      </p:sp>
      <p:sp>
        <p:nvSpPr>
          <p:cNvPr id="3" name="kicker">
            <a:extLst>
              <a:ext uri="{FF2B5EF4-FFF2-40B4-BE49-F238E27FC236}">
                <a16:creationId xmlns:a16="http://schemas.microsoft.com/office/drawing/2014/main" id="{AB32D88A-AA06-4CC3-BBEA-107ED9A5B971}"/>
              </a:ext>
            </a:extLst>
          </p:cNvPr>
          <p:cNvSpPr>
            <a:spLocks noGrp="1"/>
          </p:cNvSpPr>
          <p:nvPr/>
        </p:nvSpPr>
        <p:spPr>
          <a:xfrm>
            <a:off x="1066800" y="228600"/>
            <a:ext cx="9048750" cy="238125"/>
          </a:xfrm>
          <a:prstGeom prst="rect">
            <a:avLst/>
          </a:prstGeom>
          <a:noFill/>
          <a:ln w="0">
            <a:noFill/>
          </a:ln>
        </p:spPr>
        <p:txBody>
          <a:bodyPr wrap="square" lIns="0" tIns="0" rIns="0" bIns="0" anchor="t">
            <a:noAutofit/>
          </a:bodyPr>
          <a:lstStyle/>
          <a:p>
            <a:pPr algn="l">
              <a:buNone/>
              <a:defRPr sz="975" b="1">
                <a:solidFill>
                  <a:srgbClr val="075BCB"/>
                </a:solidFill>
                <a:latin typeface="Calibri"/>
                <a:ea typeface="Calibri"/>
                <a:cs typeface="Calibri"/>
              </a:defRPr>
            </a:pPr>
            <a:r>
              <a:rPr sz="975" b="1">
                <a:solidFill>
                  <a:srgbClr val="075BCB"/>
                </a:solidFill>
                <a:latin typeface="Calibri"/>
                <a:ea typeface="Calibri"/>
                <a:cs typeface="Calibri"/>
              </a:rPr>
              <a:t>ПРИЛОЖЕНИЕ 5. ЦИФРОВОЙ РУБЛЬ И ЦИФРОВЫЕ ПРАВА</a:t>
            </a:r>
          </a:p>
        </p:txBody>
      </p:sp>
      <p:sp>
        <p:nvSpPr>
          <p:cNvPr id="4" name="title">
            <a:extLst>
              <a:ext uri="{FF2B5EF4-FFF2-40B4-BE49-F238E27FC236}">
                <a16:creationId xmlns:a16="http://schemas.microsoft.com/office/drawing/2014/main" id="{AD6AFE8B-934A-4BB1-AFB8-9EE9C6E67FDF}"/>
              </a:ext>
            </a:extLst>
          </p:cNvPr>
          <p:cNvSpPr>
            <a:spLocks noGrp="1"/>
          </p:cNvSpPr>
          <p:nvPr/>
        </p:nvSpPr>
        <p:spPr>
          <a:xfrm>
            <a:off x="609600" y="542925"/>
            <a:ext cx="10458450" cy="895350"/>
          </a:xfrm>
          <a:prstGeom prst="rect">
            <a:avLst/>
          </a:prstGeom>
          <a:noFill/>
          <a:ln w="0">
            <a:noFill/>
          </a:ln>
        </p:spPr>
        <p:txBody>
          <a:bodyPr wrap="square" lIns="0" tIns="0" rIns="0" bIns="0" anchor="t">
            <a:noAutofit/>
          </a:bodyPr>
          <a:lstStyle/>
          <a:p>
            <a:pPr algn="l">
              <a:buNone/>
              <a:defRPr sz="2325" b="1">
                <a:solidFill>
                  <a:srgbClr val="071D33"/>
                </a:solidFill>
                <a:latin typeface="Calibri"/>
                <a:ea typeface="Calibri"/>
                <a:cs typeface="Calibri"/>
              </a:defRPr>
            </a:pPr>
            <a:r>
              <a:rPr sz="2325" b="1">
                <a:solidFill>
                  <a:srgbClr val="071D33"/>
                </a:solidFill>
                <a:latin typeface="Calibri"/>
                <a:ea typeface="Calibri"/>
                <a:cs typeface="Calibri"/>
              </a:rPr>
              <a:t>Распределённый реестр и управление системой</a:t>
            </a:r>
          </a:p>
        </p:txBody>
      </p:sp>
      <p:sp>
        <p:nvSpPr>
          <p:cNvPr id="5" name="page-number">
            <a:extLst>
              <a:ext uri="{FF2B5EF4-FFF2-40B4-BE49-F238E27FC236}">
                <a16:creationId xmlns:a16="http://schemas.microsoft.com/office/drawing/2014/main" id="{8DB9058C-8325-4F71-84F4-F1E3D4CD1CBB}"/>
              </a:ext>
            </a:extLst>
          </p:cNvPr>
          <p:cNvSpPr>
            <a:spLocks noGrp="1"/>
          </p:cNvSpPr>
          <p:nvPr/>
        </p:nvSpPr>
        <p:spPr>
          <a:xfrm>
            <a:off x="11125200" y="247650"/>
            <a:ext cx="457200" cy="238125"/>
          </a:xfrm>
          <a:prstGeom prst="roundRect">
            <a:avLst>
              <a:gd name="adj" fmla="val 48000"/>
            </a:avLst>
          </a:prstGeom>
          <a:solidFill>
            <a:srgbClr val="071D33"/>
          </a:solidFill>
          <a:ln w="0">
            <a:noFill/>
          </a:ln>
        </p:spPr>
        <p:txBody>
          <a:bodyPr lIns="0" tIns="0" rIns="0" bIns="0" anchor="ctr"/>
          <a:lstStyle/>
          <a:p>
            <a:pPr algn="ctr">
              <a:buNone/>
              <a:defRPr sz="975" b="1">
                <a:solidFill>
                  <a:srgbClr val="FFFFFF"/>
                </a:solidFill>
                <a:latin typeface="Calibri"/>
                <a:ea typeface="Calibri"/>
                <a:cs typeface="Calibri"/>
              </a:defRPr>
            </a:pPr>
            <a:r>
              <a:rPr sz="975" b="1">
                <a:solidFill>
                  <a:srgbClr val="FFFFFF"/>
                </a:solidFill>
                <a:latin typeface="Calibri"/>
                <a:ea typeface="Calibri"/>
                <a:cs typeface="Calibri"/>
              </a:rPr>
              <a:t>П5</a:t>
            </a:r>
          </a:p>
        </p:txBody>
      </p:sp>
      <p:sp>
        <p:nvSpPr>
          <p:cNvPr id="6" name="heading-divider">
            <a:extLst>
              <a:ext uri="{FF2B5EF4-FFF2-40B4-BE49-F238E27FC236}">
                <a16:creationId xmlns:a16="http://schemas.microsoft.com/office/drawing/2014/main" id="{32D0CD2E-192E-41FF-82D0-3FE119753291}"/>
              </a:ext>
            </a:extLst>
          </p:cNvPr>
          <p:cNvSpPr>
            <a:spLocks noGrp="1"/>
          </p:cNvSpPr>
          <p:nvPr/>
        </p:nvSpPr>
        <p:spPr>
          <a:xfrm>
            <a:off x="609600" y="1504950"/>
            <a:ext cx="10972800" cy="0"/>
          </a:xfrm>
          <a:prstGeom prst="line">
            <a:avLst/>
          </a:prstGeom>
          <a:noFill/>
          <a:ln w="9525">
            <a:solidFill>
              <a:srgbClr val="E2E8ED"/>
            </a:solidFill>
            <a:prstDash val="solid"/>
          </a:ln>
        </p:spPr>
      </p:sp>
      <p:sp>
        <p:nvSpPr>
          <p:cNvPr id="7" name="conclusion-rule">
            <a:extLst>
              <a:ext uri="{FF2B5EF4-FFF2-40B4-BE49-F238E27FC236}">
                <a16:creationId xmlns:a16="http://schemas.microsoft.com/office/drawing/2014/main" id="{ED828C09-105A-4E0A-9A31-B2149FC3DBBB}"/>
              </a:ext>
            </a:extLst>
          </p:cNvPr>
          <p:cNvSpPr>
            <a:spLocks noGrp="1"/>
          </p:cNvSpPr>
          <p:nvPr/>
        </p:nvSpPr>
        <p:spPr>
          <a:xfrm>
            <a:off x="609600" y="5857875"/>
            <a:ext cx="10972800" cy="0"/>
          </a:xfrm>
          <a:prstGeom prst="line">
            <a:avLst/>
          </a:prstGeom>
          <a:noFill/>
          <a:ln w="9525">
            <a:solidFill>
              <a:srgbClr val="E2E8ED"/>
            </a:solidFill>
            <a:prstDash val="solid"/>
          </a:ln>
        </p:spPr>
      </p:sp>
      <p:sp>
        <p:nvSpPr>
          <p:cNvPr id="8" name="conclusion">
            <a:extLst>
              <a:ext uri="{FF2B5EF4-FFF2-40B4-BE49-F238E27FC236}">
                <a16:creationId xmlns:a16="http://schemas.microsoft.com/office/drawing/2014/main" id="{47D2002A-9311-4C32-ACBE-5B2CEFD7C0F5}"/>
              </a:ext>
            </a:extLst>
          </p:cNvPr>
          <p:cNvSpPr>
            <a:spLocks noGrp="1"/>
          </p:cNvSpPr>
          <p:nvPr/>
        </p:nvSpPr>
        <p:spPr>
          <a:xfrm>
            <a:off x="609600" y="6000750"/>
            <a:ext cx="10972800" cy="495300"/>
          </a:xfrm>
          <a:prstGeom prst="rect">
            <a:avLst/>
          </a:prstGeom>
          <a:noFill/>
          <a:ln w="0">
            <a:noFill/>
          </a:ln>
        </p:spPr>
        <p:txBody>
          <a:bodyPr wrap="square" lIns="0" tIns="0" rIns="0" bIns="0" anchor="t">
            <a:noAutofit/>
          </a:bodyPr>
          <a:lstStyle/>
          <a:p>
            <a:pPr algn="l">
              <a:buNone/>
              <a:defRPr sz="1500" b="1">
                <a:solidFill>
                  <a:srgbClr val="071D33"/>
                </a:solidFill>
                <a:latin typeface="Calibri"/>
                <a:ea typeface="Calibri"/>
                <a:cs typeface="Calibri"/>
              </a:defRPr>
            </a:pPr>
            <a:r>
              <a:rPr sz="1500" b="1">
                <a:solidFill>
                  <a:srgbClr val="071D33"/>
                </a:solidFill>
                <a:latin typeface="Calibri"/>
                <a:ea typeface="Calibri"/>
                <a:cs typeface="Calibri"/>
              </a:rPr>
              <a:t>Распределённость данных совместима с централизованным управлением платформой.</a:t>
            </a:r>
          </a:p>
        </p:txBody>
      </p:sp>
      <p:sp>
        <p:nvSpPr>
          <p:cNvPr id="9" name="sources">
            <a:extLst>
              <a:ext uri="{FF2B5EF4-FFF2-40B4-BE49-F238E27FC236}">
                <a16:creationId xmlns:a16="http://schemas.microsoft.com/office/drawing/2014/main" id="{4AA3E6D0-3C0C-45EB-8123-3D4C8BF2E160}"/>
              </a:ext>
            </a:extLst>
          </p:cNvPr>
          <p:cNvSpPr>
            <a:spLocks noGrp="1"/>
          </p:cNvSpPr>
          <p:nvPr/>
        </p:nvSpPr>
        <p:spPr>
          <a:xfrm>
            <a:off x="609600" y="6543675"/>
            <a:ext cx="10972800" cy="190500"/>
          </a:xfrm>
          <a:prstGeom prst="rect">
            <a:avLst/>
          </a:prstGeom>
          <a:noFill/>
          <a:ln w="0">
            <a:noFill/>
          </a:ln>
        </p:spPr>
        <p:txBody>
          <a:bodyPr wrap="square" lIns="0" tIns="0" rIns="0" bIns="0" anchor="t">
            <a:noAutofit/>
          </a:bodyPr>
          <a:lstStyle/>
          <a:p>
            <a:pPr>
              <a:defRPr sz="900">
                <a:solidFill>
                  <a:srgbClr val="536777"/>
                </a:solidFill>
                <a:latin typeface="Calibri"/>
                <a:ea typeface="Calibri"/>
                <a:cs typeface="Calibri"/>
              </a:defRPr>
            </a:pPr>
            <a:r>
              <a:rPr sz="900" u="sng">
                <a:solidFill>
                  <a:srgbClr val="536777"/>
                </a:solidFill>
                <a:latin typeface="Calibri"/>
                <a:ea typeface="Calibri"/>
                <a:cs typeface="Calibri"/>
                <a:hlinkClick r:id="rId3"/>
              </a:rPr>
              <a:t>Банк России, альбом 2026.09</a:t>
            </a:r>
            <a:r>
              <a:rPr sz="900">
                <a:solidFill>
                  <a:srgbClr val="536777"/>
                </a:solidFill>
                <a:latin typeface="Calibri"/>
                <a:ea typeface="Calibri"/>
                <a:cs typeface="Calibri"/>
              </a:rPr>
              <a:t>   </a:t>
            </a:r>
            <a:r>
              <a:rPr sz="900" u="sng">
                <a:solidFill>
                  <a:srgbClr val="536777"/>
                </a:solidFill>
                <a:latin typeface="Calibri"/>
                <a:ea typeface="Calibri"/>
                <a:cs typeface="Calibri"/>
                <a:hlinkClick r:id="rId4"/>
              </a:rPr>
              <a:t>Федеральный закон № 259-ФЗ, статья 1</a:t>
            </a:r>
          </a:p>
        </p:txBody>
      </p:sp>
      <p:sp>
        <p:nvSpPr>
          <p:cNvPr id="12" name="dlt-definition">
            <a:extLst>
              <a:ext uri="{FF2B5EF4-FFF2-40B4-BE49-F238E27FC236}">
                <a16:creationId xmlns:a16="http://schemas.microsoft.com/office/drawing/2014/main" id="{890853A3-A066-4BED-83A5-3A5588EE7A6D}"/>
              </a:ext>
            </a:extLst>
          </p:cNvPr>
          <p:cNvSpPr>
            <a:spLocks noGrp="1"/>
          </p:cNvSpPr>
          <p:nvPr/>
        </p:nvSpPr>
        <p:spPr>
          <a:xfrm>
            <a:off x="609600" y="1714500"/>
            <a:ext cx="10972800" cy="457200"/>
          </a:xfrm>
          <a:prstGeom prst="rect">
            <a:avLst/>
          </a:prstGeom>
          <a:noFill/>
          <a:ln w="0">
            <a:noFill/>
          </a:ln>
        </p:spPr>
        <p:txBody>
          <a:bodyPr wrap="square" lIns="0" tIns="0" rIns="0" bIns="0" anchor="t">
            <a:noAutofit/>
          </a:bodyPr>
          <a:lstStyle/>
          <a:p>
            <a:pPr algn="l">
              <a:defRPr sz="1575" b="1">
                <a:solidFill>
                  <a:srgbClr val="075BCB"/>
                </a:solidFill>
                <a:latin typeface="Calibri"/>
                <a:ea typeface="Calibri"/>
                <a:cs typeface="Calibri"/>
              </a:defRPr>
            </a:pPr>
            <a:r>
              <a:rPr sz="1575" b="1">
                <a:solidFill>
                  <a:srgbClr val="075BCB"/>
                </a:solidFill>
                <a:latin typeface="Calibri"/>
                <a:ea typeface="Calibri"/>
                <a:cs typeface="Calibri"/>
              </a:rPr>
              <a:t>DLT хранит согласованные копии данных на нескольких узлах. Блокчейн является одним из вариантов DLT.</a:t>
            </a:r>
          </a:p>
        </p:txBody>
      </p:sp>
      <p:graphicFrame>
        <p:nvGraphicFramePr>
          <p:cNvPr id="24" name="Table 23"/>
          <p:cNvGraphicFramePr/>
          <p:nvPr/>
        </p:nvGraphicFramePr>
        <p:xfrm>
          <a:off x="609600" y="2286000"/>
          <a:ext cx="10972800" cy="3143250"/>
        </p:xfrm>
        <a:graphic>
          <a:graphicData uri="http://schemas.openxmlformats.org/drawingml/2006/table">
            <a:tbl>
              <a:tblPr/>
              <a:tblGrid>
                <a:gridCol w="207645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438150">
                <a:tc>
                  <a:txBody>
                    <a:bodyPr/>
                    <a:lstStyle/>
                    <a:p>
                      <a:pPr algn="l"/>
                      <a:r>
                        <a:rPr sz="1388" b="1">
                          <a:solidFill>
                            <a:srgbClr val="FFFFFF"/>
                          </a:solidFill>
                          <a:latin typeface="Calibri"/>
                          <a:ea typeface="Calibri"/>
                          <a:cs typeface="Calibri"/>
                        </a:rPr>
                        <a:t>Аспект</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Цифровой рубль</a:t>
                      </a:r>
                    </a:p>
                  </a:txBody>
                  <a:tcPr marL="133350" marR="114300" marT="76200" marB="76200" anchor="ctr">
                    <a:solidFill>
                      <a:srgbClr val="071D33"/>
                    </a:solidFill>
                  </a:tcPr>
                </a:tc>
                <a:tc>
                  <a:txBody>
                    <a:bodyPr/>
                    <a:lstStyle/>
                    <a:p>
                      <a:pPr algn="l"/>
                      <a:r>
                        <a:rPr sz="1388" b="1">
                          <a:solidFill>
                            <a:srgbClr val="FFFFFF"/>
                          </a:solidFill>
                          <a:latin typeface="Calibri"/>
                          <a:ea typeface="Calibri"/>
                          <a:cs typeface="Calibri"/>
                        </a:rPr>
                        <a:t>ЦФА</a:t>
                      </a:r>
                    </a:p>
                  </a:txBody>
                  <a:tcPr marL="133350" marR="114300" marT="76200" marB="76200" anchor="ctr">
                    <a:solidFill>
                      <a:srgbClr val="071D33"/>
                    </a:solidFill>
                  </a:tcPr>
                </a:tc>
                <a:extLst>
                  <a:ext uri="{0D108BD9-81ED-4DB2-BD59-A6C34878D82A}">
                    <a16:rowId xmlns:a16="http://schemas.microsoft.com/office/drawing/2014/main" val="10000"/>
                  </a:ext>
                </a:extLst>
              </a:tr>
              <a:tr h="723900">
                <a:tc>
                  <a:txBody>
                    <a:bodyPr/>
                    <a:lstStyle/>
                    <a:p>
                      <a:pPr algn="l"/>
                      <a:r>
                        <a:rPr sz="1500" b="1">
                          <a:solidFill>
                            <a:srgbClr val="075BCB"/>
                          </a:solidFill>
                          <a:latin typeface="Calibri"/>
                          <a:ea typeface="Calibri"/>
                          <a:cs typeface="Calibri"/>
                        </a:rPr>
                        <a:t>Техническая основа</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Распределённый реестр.</a:t>
                      </a:r>
                    </a:p>
                    <a:p>
                      <a:pPr algn="l"/>
                      <a:r>
                        <a:rPr sz="1500" b="0">
                          <a:solidFill>
                            <a:srgbClr val="071D33"/>
                          </a:solidFill>
                          <a:latin typeface="Calibri"/>
                          <a:ea typeface="Calibri"/>
                          <a:cs typeface="Calibri"/>
                        </a:rPr>
                        <a:t>Подтверждён альбомом 2026.09</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Распределённый реестр</a:t>
                      </a:r>
                    </a:p>
                    <a:p>
                      <a:pPr algn="l"/>
                      <a:r>
                        <a:rPr sz="1500" b="0">
                          <a:solidFill>
                            <a:srgbClr val="071D33"/>
                          </a:solidFill>
                          <a:latin typeface="Calibri"/>
                          <a:ea typeface="Calibri"/>
                          <a:cs typeface="Calibri"/>
                        </a:rPr>
                        <a:t>или иная информационная система</a:t>
                      </a:r>
                    </a:p>
                  </a:txBody>
                  <a:tcPr marL="133350" marR="114300" marT="76200" marB="76200" anchor="ctr">
                    <a:solidFill>
                      <a:srgbClr val="FFFFFF"/>
                    </a:solidFill>
                  </a:tcPr>
                </a:tc>
                <a:extLst>
                  <a:ext uri="{0D108BD9-81ED-4DB2-BD59-A6C34878D82A}">
                    <a16:rowId xmlns:a16="http://schemas.microsoft.com/office/drawing/2014/main" val="10001"/>
                  </a:ext>
                </a:extLst>
              </a:tr>
              <a:tr h="647700">
                <a:tc>
                  <a:txBody>
                    <a:bodyPr/>
                    <a:lstStyle/>
                    <a:p>
                      <a:pPr algn="l"/>
                      <a:r>
                        <a:rPr sz="1500" b="1">
                          <a:solidFill>
                            <a:srgbClr val="075BCB"/>
                          </a:solidFill>
                          <a:latin typeface="Calibri"/>
                          <a:ea typeface="Calibri"/>
                          <a:cs typeface="Calibri"/>
                        </a:rPr>
                        <a:t>Оператор</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Банк России</a:t>
                      </a:r>
                    </a:p>
                  </a:txBody>
                  <a:tcPr marL="133350" marR="114300" marT="76200" marB="76200" anchor="ctr">
                    <a:solidFill>
                      <a:srgbClr val="FFFFFF"/>
                    </a:solidFill>
                  </a:tcPr>
                </a:tc>
                <a:tc>
                  <a:txBody>
                    <a:bodyPr/>
                    <a:lstStyle/>
                    <a:p>
                      <a:pPr algn="l"/>
                      <a:r>
                        <a:rPr sz="1500" b="0" dirty="0">
                          <a:solidFill>
                            <a:srgbClr val="071D33"/>
                          </a:solidFill>
                          <a:latin typeface="Calibri"/>
                          <a:ea typeface="Calibri"/>
                          <a:cs typeface="Calibri"/>
                        </a:rPr>
                        <a:t>Оператор </a:t>
                      </a:r>
                      <a:r>
                        <a:rPr sz="1500" b="0" dirty="0" err="1">
                          <a:solidFill>
                            <a:srgbClr val="071D33"/>
                          </a:solidFill>
                          <a:latin typeface="Calibri"/>
                          <a:ea typeface="Calibri"/>
                          <a:cs typeface="Calibri"/>
                        </a:rPr>
                        <a:t>соответствующей</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системы</a:t>
                      </a:r>
                      <a:endParaRPr sz="1500" b="0" dirty="0">
                        <a:solidFill>
                          <a:srgbClr val="071D33"/>
                        </a:solidFill>
                        <a:latin typeface="Calibri"/>
                        <a:ea typeface="Calibri"/>
                        <a:cs typeface="Calibri"/>
                      </a:endParaRPr>
                    </a:p>
                    <a:p>
                      <a:pPr algn="l"/>
                      <a:r>
                        <a:rPr sz="1500" b="0" dirty="0" err="1">
                          <a:solidFill>
                            <a:srgbClr val="071D33"/>
                          </a:solidFill>
                          <a:latin typeface="Calibri"/>
                          <a:ea typeface="Calibri"/>
                          <a:cs typeface="Calibri"/>
                        </a:rPr>
                        <a:t>из</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реестра</a:t>
                      </a:r>
                      <a:r>
                        <a:rPr sz="1500" b="0" dirty="0">
                          <a:solidFill>
                            <a:srgbClr val="071D33"/>
                          </a:solidFill>
                          <a:latin typeface="Calibri"/>
                          <a:ea typeface="Calibri"/>
                          <a:cs typeface="Calibri"/>
                        </a:rPr>
                        <a:t> Банка </a:t>
                      </a:r>
                      <a:r>
                        <a:rPr sz="1500" b="0" dirty="0" err="1">
                          <a:solidFill>
                            <a:srgbClr val="071D33"/>
                          </a:solidFill>
                          <a:latin typeface="Calibri"/>
                          <a:ea typeface="Calibri"/>
                          <a:cs typeface="Calibri"/>
                        </a:rPr>
                        <a:t>России</a:t>
                      </a:r>
                      <a:endParaRPr sz="1500" b="0" dirty="0">
                        <a:solidFill>
                          <a:srgbClr val="071D33"/>
                        </a:solidFill>
                        <a:latin typeface="Calibri"/>
                        <a:ea typeface="Calibri"/>
                        <a:cs typeface="Calibri"/>
                      </a:endParaRPr>
                    </a:p>
                  </a:txBody>
                  <a:tcPr marL="133350" marR="114300" marT="76200" marB="76200" anchor="ctr">
                    <a:solidFill>
                      <a:srgbClr val="FFFFFF"/>
                    </a:solidFill>
                  </a:tcPr>
                </a:tc>
                <a:extLst>
                  <a:ext uri="{0D108BD9-81ED-4DB2-BD59-A6C34878D82A}">
                    <a16:rowId xmlns:a16="http://schemas.microsoft.com/office/drawing/2014/main" val="10002"/>
                  </a:ext>
                </a:extLst>
              </a:tr>
              <a:tr h="647700">
                <a:tc>
                  <a:txBody>
                    <a:bodyPr/>
                    <a:lstStyle/>
                    <a:p>
                      <a:pPr algn="l"/>
                      <a:r>
                        <a:rPr sz="1500" b="1">
                          <a:solidFill>
                            <a:srgbClr val="075BCB"/>
                          </a:solidFill>
                          <a:latin typeface="Calibri"/>
                          <a:ea typeface="Calibri"/>
                          <a:cs typeface="Calibri"/>
                        </a:rPr>
                        <a:t>Что фиксирует</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Счета и денежные операции</a:t>
                      </a:r>
                    </a:p>
                  </a:txBody>
                  <a:tcPr marL="133350" marR="114300" marT="76200" marB="76200" anchor="ctr">
                    <a:solidFill>
                      <a:srgbClr val="FFFFFF"/>
                    </a:solidFill>
                  </a:tcPr>
                </a:tc>
                <a:tc>
                  <a:txBody>
                    <a:bodyPr/>
                    <a:lstStyle/>
                    <a:p>
                      <a:pPr algn="l"/>
                      <a:r>
                        <a:rPr sz="1500" b="0" dirty="0">
                          <a:solidFill>
                            <a:srgbClr val="071D33"/>
                          </a:solidFill>
                          <a:latin typeface="Calibri"/>
                          <a:ea typeface="Calibri"/>
                          <a:cs typeface="Calibri"/>
                        </a:rPr>
                        <a:t>Обладателей </a:t>
                      </a:r>
                      <a:r>
                        <a:rPr sz="1500" b="0" dirty="0" err="1">
                          <a:solidFill>
                            <a:srgbClr val="071D33"/>
                          </a:solidFill>
                          <a:latin typeface="Calibri"/>
                          <a:ea typeface="Calibri"/>
                          <a:cs typeface="Calibri"/>
                        </a:rPr>
                        <a:t>цифровых</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прав</a:t>
                      </a:r>
                      <a:endParaRPr sz="1500" b="0" dirty="0">
                        <a:solidFill>
                          <a:srgbClr val="071D33"/>
                        </a:solidFill>
                        <a:latin typeface="Calibri"/>
                        <a:ea typeface="Calibri"/>
                        <a:cs typeface="Calibri"/>
                      </a:endParaRPr>
                    </a:p>
                    <a:p>
                      <a:pPr algn="l"/>
                      <a:r>
                        <a:rPr sz="1500" b="0" dirty="0" err="1">
                          <a:solidFill>
                            <a:srgbClr val="071D33"/>
                          </a:solidFill>
                          <a:latin typeface="Calibri"/>
                          <a:ea typeface="Calibri"/>
                          <a:cs typeface="Calibri"/>
                        </a:rPr>
                        <a:t>и</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переход</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этих</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прав</a:t>
                      </a:r>
                      <a:endParaRPr sz="1500" b="0" dirty="0">
                        <a:solidFill>
                          <a:srgbClr val="071D33"/>
                        </a:solidFill>
                        <a:latin typeface="Calibri"/>
                        <a:ea typeface="Calibri"/>
                        <a:cs typeface="Calibri"/>
                      </a:endParaRPr>
                    </a:p>
                  </a:txBody>
                  <a:tcPr marL="133350" marR="114300" marT="76200" marB="76200" anchor="ctr">
                    <a:solidFill>
                      <a:srgbClr val="FFFFFF"/>
                    </a:solidFill>
                  </a:tcPr>
                </a:tc>
                <a:extLst>
                  <a:ext uri="{0D108BD9-81ED-4DB2-BD59-A6C34878D82A}">
                    <a16:rowId xmlns:a16="http://schemas.microsoft.com/office/drawing/2014/main" val="10003"/>
                  </a:ext>
                </a:extLst>
              </a:tr>
              <a:tr h="685800">
                <a:tc>
                  <a:txBody>
                    <a:bodyPr/>
                    <a:lstStyle/>
                    <a:p>
                      <a:pPr algn="l"/>
                      <a:r>
                        <a:rPr sz="1500" b="1">
                          <a:solidFill>
                            <a:srgbClr val="075BCB"/>
                          </a:solidFill>
                          <a:latin typeface="Calibri"/>
                          <a:ea typeface="Calibri"/>
                          <a:cs typeface="Calibri"/>
                        </a:rPr>
                        <a:t>Исполнение</a:t>
                      </a:r>
                    </a:p>
                  </a:txBody>
                  <a:tcPr marL="133350" marR="114300" marT="76200" marB="76200" anchor="ctr">
                    <a:solidFill>
                      <a:srgbClr val="FFFFFF"/>
                    </a:solidFill>
                  </a:tcPr>
                </a:tc>
                <a:tc>
                  <a:txBody>
                    <a:bodyPr/>
                    <a:lstStyle/>
                    <a:p>
                      <a:pPr algn="l"/>
                      <a:r>
                        <a:rPr sz="1500" b="0">
                          <a:solidFill>
                            <a:srgbClr val="071D33"/>
                          </a:solidFill>
                          <a:latin typeface="Calibri"/>
                          <a:ea typeface="Calibri"/>
                          <a:cs typeface="Calibri"/>
                        </a:rPr>
                        <a:t>Платформа проводит</a:t>
                      </a:r>
                    </a:p>
                    <a:p>
                      <a:pPr algn="l"/>
                      <a:r>
                        <a:rPr sz="1500" b="0">
                          <a:solidFill>
                            <a:srgbClr val="071D33"/>
                          </a:solidFill>
                          <a:latin typeface="Calibri"/>
                          <a:ea typeface="Calibri"/>
                          <a:cs typeface="Calibri"/>
                        </a:rPr>
                        <a:t>денежные операции</a:t>
                      </a:r>
                    </a:p>
                  </a:txBody>
                  <a:tcPr marL="133350" marR="114300" marT="76200" marB="76200" anchor="ctr">
                    <a:solidFill>
                      <a:srgbClr val="FFFFFF"/>
                    </a:solidFill>
                  </a:tcPr>
                </a:tc>
                <a:tc>
                  <a:txBody>
                    <a:bodyPr/>
                    <a:lstStyle/>
                    <a:p>
                      <a:pPr algn="l"/>
                      <a:r>
                        <a:rPr sz="1500" b="0" dirty="0">
                          <a:solidFill>
                            <a:srgbClr val="071D33"/>
                          </a:solidFill>
                          <a:latin typeface="Calibri"/>
                          <a:ea typeface="Calibri"/>
                          <a:cs typeface="Calibri"/>
                        </a:rPr>
                        <a:t>Система </a:t>
                      </a:r>
                      <a:r>
                        <a:rPr sz="1500" b="0" dirty="0" err="1">
                          <a:solidFill>
                            <a:srgbClr val="071D33"/>
                          </a:solidFill>
                          <a:latin typeface="Calibri"/>
                          <a:ea typeface="Calibri"/>
                          <a:cs typeface="Calibri"/>
                        </a:rPr>
                        <a:t>учитывает</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права</a:t>
                      </a:r>
                      <a:r>
                        <a:rPr sz="1500" b="0" dirty="0">
                          <a:solidFill>
                            <a:srgbClr val="071D33"/>
                          </a:solidFill>
                          <a:latin typeface="Calibri"/>
                          <a:ea typeface="Calibri"/>
                          <a:cs typeface="Calibri"/>
                        </a:rPr>
                        <a:t>.</a:t>
                      </a:r>
                    </a:p>
                    <a:p>
                      <a:pPr algn="l"/>
                      <a:r>
                        <a:rPr sz="1500" b="0" dirty="0" err="1">
                          <a:solidFill>
                            <a:srgbClr val="071D33"/>
                          </a:solidFill>
                          <a:latin typeface="Calibri"/>
                          <a:ea typeface="Calibri"/>
                          <a:cs typeface="Calibri"/>
                        </a:rPr>
                        <a:t>Обязанное</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лицо</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исполняет</a:t>
                      </a:r>
                      <a:r>
                        <a:rPr sz="1500" b="0" dirty="0">
                          <a:solidFill>
                            <a:srgbClr val="071D33"/>
                          </a:solidFill>
                          <a:latin typeface="Calibri"/>
                          <a:ea typeface="Calibri"/>
                          <a:cs typeface="Calibri"/>
                        </a:rPr>
                        <a:t> </a:t>
                      </a:r>
                      <a:r>
                        <a:rPr sz="1500" b="0" dirty="0" err="1">
                          <a:solidFill>
                            <a:srgbClr val="071D33"/>
                          </a:solidFill>
                          <a:latin typeface="Calibri"/>
                          <a:ea typeface="Calibri"/>
                          <a:cs typeface="Calibri"/>
                        </a:rPr>
                        <a:t>обязательство</a:t>
                      </a:r>
                      <a:endParaRPr sz="1500" b="0" dirty="0">
                        <a:solidFill>
                          <a:srgbClr val="071D33"/>
                        </a:solidFill>
                        <a:latin typeface="Calibri"/>
                        <a:ea typeface="Calibri"/>
                        <a:cs typeface="Calibri"/>
                      </a:endParaRPr>
                    </a:p>
                  </a:txBody>
                  <a:tcPr marL="13335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1393754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1007</TotalTime>
  <Words>4665</Words>
  <Application>Microsoft Macintosh PowerPoint</Application>
  <DocSecurity>0</DocSecurity>
  <PresentationFormat>Widescreen</PresentationFormat>
  <Paragraphs>686</Paragraphs>
  <Slides>22</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Denis Ermilov</cp:lastModifiedBy>
  <cp:revision>2</cp:revision>
  <dcterms:created xsi:type="dcterms:W3CDTF">2026-09-05T08:24:38Z</dcterms:created>
  <dcterms:modified xsi:type="dcterms:W3CDTF">2026-10-06T11:32:22Z</dcterms:modified>
</cp:coreProperties>
</file>